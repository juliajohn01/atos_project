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799" r:id="rId1"/>
  </p:sldMasterIdLst>
  <p:notesMasterIdLst>
    <p:notesMasterId r:id="rId35"/>
  </p:notesMasterIdLst>
  <p:handoutMasterIdLst>
    <p:handoutMasterId r:id="rId36"/>
  </p:handoutMasterIdLst>
  <p:sldIdLst>
    <p:sldId id="305" r:id="rId2"/>
    <p:sldId id="371" r:id="rId3"/>
    <p:sldId id="358" r:id="rId4"/>
    <p:sldId id="373" r:id="rId5"/>
    <p:sldId id="372" r:id="rId6"/>
    <p:sldId id="379" r:id="rId7"/>
    <p:sldId id="394" r:id="rId8"/>
    <p:sldId id="395" r:id="rId9"/>
    <p:sldId id="396" r:id="rId10"/>
    <p:sldId id="385" r:id="rId11"/>
    <p:sldId id="301" r:id="rId12"/>
    <p:sldId id="311" r:id="rId13"/>
    <p:sldId id="386" r:id="rId14"/>
    <p:sldId id="387" r:id="rId15"/>
    <p:sldId id="278" r:id="rId16"/>
    <p:sldId id="313" r:id="rId17"/>
    <p:sldId id="393" r:id="rId18"/>
    <p:sldId id="320" r:id="rId19"/>
    <p:sldId id="283" r:id="rId20"/>
    <p:sldId id="300" r:id="rId21"/>
    <p:sldId id="265" r:id="rId22"/>
    <p:sldId id="266" r:id="rId23"/>
    <p:sldId id="375" r:id="rId24"/>
    <p:sldId id="321" r:id="rId25"/>
    <p:sldId id="322" r:id="rId26"/>
    <p:sldId id="388" r:id="rId27"/>
    <p:sldId id="325" r:id="rId28"/>
    <p:sldId id="384" r:id="rId29"/>
    <p:sldId id="327" r:id="rId30"/>
    <p:sldId id="330" r:id="rId31"/>
    <p:sldId id="346" r:id="rId32"/>
    <p:sldId id="383" r:id="rId33"/>
    <p:sldId id="382" r:id="rId34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>
          <p15:clr>
            <a:srgbClr val="A4A3A4"/>
          </p15:clr>
        </p15:guide>
        <p15:guide id="2" pos="51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  <a:srgbClr val="303B2C"/>
    <a:srgbClr val="3B486D"/>
    <a:srgbClr val="436EBB"/>
    <a:srgbClr val="FFFFFF"/>
    <a:srgbClr val="CCCC00"/>
    <a:srgbClr val="336699"/>
    <a:srgbClr val="4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18" autoAdjust="0"/>
    <p:restoredTop sz="99465" autoAdjust="0"/>
  </p:normalViewPr>
  <p:slideViewPr>
    <p:cSldViewPr>
      <p:cViewPr varScale="1">
        <p:scale>
          <a:sx n="107" d="100"/>
          <a:sy n="107" d="100"/>
        </p:scale>
        <p:origin x="1278" y="84"/>
      </p:cViewPr>
      <p:guideLst>
        <p:guide orient="horz" pos="1296"/>
        <p:guide pos="51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1188" y="-84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90513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5655" tIns="46988" rIns="95655" bIns="4698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5837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6825" y="727075"/>
            <a:ext cx="4781550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2283500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6388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 b="0"/>
          </a:p>
        </p:txBody>
      </p:sp>
      <p:pic>
        <p:nvPicPr>
          <p:cNvPr id="5" name="Picture 4" descr="Stevenson cover.T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931429" cy="56315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Rectangle 5"/>
          <p:cNvSpPr/>
          <p:nvPr/>
        </p:nvSpPr>
        <p:spPr>
          <a:xfrm>
            <a:off x="0" y="5638800"/>
            <a:ext cx="9144000" cy="22860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en-US" b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5943600" y="2743200"/>
            <a:ext cx="3124200" cy="2057400"/>
          </a:xfrm>
        </p:spPr>
        <p:txBody>
          <a:bodyPr>
            <a:noAutofit/>
          </a:bodyPr>
          <a:lstStyle>
            <a:lvl1pPr marL="0" indent="0" algn="ctr">
              <a:buNone/>
              <a:defRPr sz="2400" b="0" spc="100" baseline="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5943600" y="609600"/>
            <a:ext cx="3124200" cy="1905000"/>
          </a:xfrm>
          <a:noFill/>
          <a:ln w="6350" cap="rnd">
            <a:noFill/>
          </a:ln>
        </p:spPr>
        <p:txBody>
          <a:bodyPr>
            <a:noAutofit/>
          </a:bodyPr>
          <a:lstStyle>
            <a:lvl1pPr algn="ctr">
              <a:defRPr lang="en-US" sz="3200" b="1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chemeClr val="tx2">
                    <a:lumMod val="20000"/>
                    <a:lumOff val="80000"/>
                  </a:schemeClr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14"/>
          <p:cNvSpPr>
            <a:spLocks noGrp="1"/>
          </p:cNvSpPr>
          <p:nvPr>
            <p:ph type="dt" sz="half" idx="10"/>
          </p:nvPr>
        </p:nvSpPr>
        <p:spPr>
          <a:xfrm>
            <a:off x="3733800" y="6203950"/>
            <a:ext cx="4648200" cy="384175"/>
          </a:xfrm>
        </p:spPr>
        <p:txBody>
          <a:bodyPr/>
          <a:lstStyle>
            <a:lvl1pPr>
              <a:defRPr i="1"/>
            </a:lvl1pPr>
          </a:lstStyle>
          <a:p>
            <a:pPr>
              <a:defRPr/>
            </a:pPr>
            <a:fld id="{634B9AC5-559F-4D50-AE62-D4D02A1D1900}" type="datetime1">
              <a:rPr lang="en-US"/>
              <a:pPr>
                <a:defRPr/>
              </a:pPr>
              <a:t>9/24/2022</a:t>
            </a:fld>
            <a:endParaRPr lang="en-US"/>
          </a:p>
        </p:txBody>
      </p:sp>
      <p:sp>
        <p:nvSpPr>
          <p:cNvPr id="8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8C6BDF-2675-42C9-BD6F-E87BC32EB1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Footer Placeholder 16"/>
          <p:cNvSpPr>
            <a:spLocks noGrp="1"/>
          </p:cNvSpPr>
          <p:nvPr>
            <p:ph type="ftr" sz="quarter" idx="12"/>
          </p:nvPr>
        </p:nvSpPr>
        <p:spPr>
          <a:xfrm>
            <a:off x="762000" y="6203950"/>
            <a:ext cx="1981200" cy="384175"/>
          </a:xfrm>
        </p:spPr>
        <p:txBody>
          <a:bodyPr/>
          <a:lstStyle>
            <a:lvl1pPr>
              <a:defRPr i="1"/>
            </a:lvl1pPr>
          </a:lstStyle>
          <a:p>
            <a:pPr>
              <a:defRPr/>
            </a:pPr>
            <a:r>
              <a:rPr lang="en-US"/>
              <a:t>Instructor Slides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tevenson cover - leaf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086600" y="152400"/>
            <a:ext cx="1961707" cy="1371600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304800" y="1524000"/>
            <a:ext cx="8229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439684-AE19-4D45-8056-B55C8B7B3A3B}" type="datetime1">
              <a:rPr lang="en-US"/>
              <a:pPr>
                <a:defRPr/>
              </a:pPr>
              <a:t>9/24/2022</a:t>
            </a:fld>
            <a:endParaRPr lang="en-US"/>
          </a:p>
        </p:txBody>
      </p:sp>
      <p:sp>
        <p:nvSpPr>
          <p:cNvPr id="6" name="Slide Number Placeholder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BED8FCE6-E8A4-46E6-BADB-7561077708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Footer Placeholder 15"/>
          <p:cNvSpPr>
            <a:spLocks noGrp="1"/>
          </p:cNvSpPr>
          <p:nvPr>
            <p:ph type="ftr" sz="quarter" idx="12"/>
          </p:nvPr>
        </p:nvSpPr>
        <p:spPr>
          <a:xfrm>
            <a:off x="304800" y="6248400"/>
            <a:ext cx="3581400" cy="384175"/>
          </a:xfrm>
        </p:spPr>
        <p:txBody>
          <a:bodyPr/>
          <a:lstStyle>
            <a:lvl1pPr algn="l">
              <a:defRPr i="1"/>
            </a:lvl1pPr>
          </a:lstStyle>
          <a:p>
            <a:pPr>
              <a:defRPr/>
            </a:pPr>
            <a:r>
              <a:rPr lang="en-US"/>
              <a:t>Instructor Slides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tevenson cover - falls 2.jpg"/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21649" y="3594100"/>
            <a:ext cx="8936305" cy="3187700"/>
          </a:xfrm>
          <a:prstGeom prst="rect">
            <a:avLst/>
          </a:prstGeom>
          <a:effectLst>
            <a:softEdge rad="317500"/>
          </a:effectLst>
        </p:spPr>
      </p:pic>
      <p:pic>
        <p:nvPicPr>
          <p:cNvPr id="5" name="Picture 4" descr="Stevenson cover - leaf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086600" y="152400"/>
            <a:ext cx="1961707" cy="1371600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" name="Content Placeholder 8"/>
          <p:cNvSpPr>
            <a:spLocks noGrp="1"/>
          </p:cNvSpPr>
          <p:nvPr>
            <p:ph idx="1"/>
          </p:nvPr>
        </p:nvSpPr>
        <p:spPr>
          <a:xfrm>
            <a:off x="304800" y="1524000"/>
            <a:ext cx="8229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A03E27-0486-40B2-8DFE-31ABC5C27698}" type="datetime1">
              <a:rPr lang="en-US"/>
              <a:pPr>
                <a:defRPr/>
              </a:pPr>
              <a:t>9/24/2022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248400"/>
            <a:ext cx="3581400" cy="384175"/>
          </a:xfrm>
        </p:spPr>
        <p:txBody>
          <a:bodyPr/>
          <a:lstStyle>
            <a:lvl1pPr algn="l">
              <a:defRPr i="1"/>
            </a:lvl1pPr>
          </a:lstStyle>
          <a:p>
            <a:pPr>
              <a:defRPr/>
            </a:pPr>
            <a:r>
              <a:rPr lang="en-US"/>
              <a:t>Instructor Slides</a:t>
            </a:r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838222-0DFE-46BD-8319-855BC77C68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685800" y="4916488"/>
            <a:ext cx="7924800" cy="4762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Stevenson cover - falls 2.jpg"/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21649" y="165100"/>
            <a:ext cx="8936305" cy="3187700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3600" b="1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913436-C5CC-4BA5-8F7B-D93B456F79A5}" type="datetime1">
              <a:rPr lang="en-US"/>
              <a:pPr>
                <a:defRPr/>
              </a:pPr>
              <a:t>9/24/2022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172200"/>
            <a:ext cx="3581400" cy="384175"/>
          </a:xfrm>
        </p:spPr>
        <p:txBody>
          <a:bodyPr/>
          <a:lstStyle>
            <a:lvl1pPr algn="l">
              <a:defRPr i="1"/>
            </a:lvl1pPr>
          </a:lstStyle>
          <a:p>
            <a:pPr>
              <a:defRPr/>
            </a:pPr>
            <a:r>
              <a:rPr lang="en-US"/>
              <a:t>Instructor Slides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79326A-3B64-4EFC-85D4-FFA95125F3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tevenson cover - falls 2.jpg"/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21649" y="3657600"/>
            <a:ext cx="8936305" cy="3187700"/>
          </a:xfrm>
          <a:prstGeom prst="rect">
            <a:avLst/>
          </a:prstGeom>
          <a:effectLst>
            <a:softEdge rad="635000"/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D46462-991A-4213-BD99-0D03570C84DA}" type="datetime1">
              <a:rPr lang="en-US"/>
              <a:pPr>
                <a:defRPr/>
              </a:pPr>
              <a:t>9/24/2022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i="1"/>
            </a:lvl1pPr>
          </a:lstStyle>
          <a:p>
            <a:pPr>
              <a:defRPr/>
            </a:pPr>
            <a:r>
              <a:rPr lang="en-US"/>
              <a:t>Instructor Slides</a:t>
            </a:r>
            <a:endParaRPr lang="en-US" dirty="0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350EF6-CBAD-4A6A-9197-F0F1B55CE3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tevenson cover - falls 2.jpg"/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3670300"/>
            <a:ext cx="8936305" cy="3187700"/>
          </a:xfrm>
          <a:prstGeom prst="rect">
            <a:avLst/>
          </a:prstGeom>
          <a:effectLst>
            <a:softEdge rad="635000"/>
          </a:effectLst>
        </p:spPr>
      </p:pic>
      <p:cxnSp>
        <p:nvCxnSpPr>
          <p:cNvPr id="8" name="Straight Connector 7"/>
          <p:cNvCxnSpPr/>
          <p:nvPr/>
        </p:nvCxnSpPr>
        <p:spPr>
          <a:xfrm>
            <a:off x="563563" y="2179638"/>
            <a:ext cx="3748087" cy="1587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754563" y="2179638"/>
            <a:ext cx="3749675" cy="1587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Slide Number Placeholder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91882B-6FAB-47FC-B00F-5124D0DCFF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i="1"/>
            </a:lvl1pPr>
          </a:lstStyle>
          <a:p>
            <a:pPr>
              <a:defRPr/>
            </a:pPr>
            <a:r>
              <a:rPr lang="en-US"/>
              <a:t>Instructor Slides</a:t>
            </a:r>
          </a:p>
        </p:txBody>
      </p:sp>
      <p:sp>
        <p:nvSpPr>
          <p:cNvPr id="13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8F1F51-A55D-4B7D-B360-B83600AB9EDE}" type="datetime1">
              <a:rPr lang="en-US"/>
              <a:pPr>
                <a:defRPr/>
              </a:pPr>
              <a:t>9/24/2022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tevenson cover - falls.jpg"/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-1239"/>
            <a:ext cx="4876800" cy="6859239"/>
          </a:xfrm>
          <a:prstGeom prst="rect">
            <a:avLst/>
          </a:prstGeom>
          <a:effectLst>
            <a:softEdge rad="635000"/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4CB4F7-2BB9-456A-85C8-9A28081B1CA1}" type="datetime1">
              <a:rPr lang="en-US"/>
              <a:pPr>
                <a:defRPr/>
              </a:pPr>
              <a:t>9/24/2022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81000" y="6203950"/>
            <a:ext cx="3581400" cy="384175"/>
          </a:xfrm>
        </p:spPr>
        <p:txBody>
          <a:bodyPr/>
          <a:lstStyle>
            <a:lvl1pPr algn="l">
              <a:defRPr i="1"/>
            </a:lvl1pPr>
          </a:lstStyle>
          <a:p>
            <a:pPr>
              <a:defRPr/>
            </a:pPr>
            <a:r>
              <a:rPr lang="en-US"/>
              <a:t>Instructor Slides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65A501-DE02-435C-B986-6E4721952A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tevenson cover - falls.jpg"/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267200" y="-1239"/>
            <a:ext cx="4876800" cy="6859239"/>
          </a:xfrm>
          <a:prstGeom prst="rect">
            <a:avLst/>
          </a:prstGeom>
          <a:effectLst>
            <a:softEdge rad="635000"/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A005D8-E90F-4322-ACCF-621991246795}" type="datetime1">
              <a:rPr lang="en-US"/>
              <a:pPr>
                <a:defRPr/>
              </a:pPr>
              <a:t>9/24/2022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203950"/>
            <a:ext cx="3581400" cy="384175"/>
          </a:xfrm>
        </p:spPr>
        <p:txBody>
          <a:bodyPr/>
          <a:lstStyle>
            <a:lvl1pPr algn="l">
              <a:defRPr i="1"/>
            </a:lvl1pPr>
          </a:lstStyle>
          <a:p>
            <a:pPr>
              <a:defRPr/>
            </a:pPr>
            <a:r>
              <a:rPr lang="en-US"/>
              <a:t>Instructor Slides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52F9CC-B3CC-4C93-B1B5-7E703E54AD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tevenson cover - leaf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086600" y="152400"/>
            <a:ext cx="1961707" cy="1371600"/>
          </a:xfrm>
          <a:prstGeom prst="rect">
            <a:avLst/>
          </a:prstGeom>
          <a:effectLst>
            <a:softEdge rad="317500"/>
          </a:effectLst>
        </p:spPr>
      </p:pic>
      <p:pic>
        <p:nvPicPr>
          <p:cNvPr id="4" name="Picture 3" descr="Stevenson cover - falls.jpg"/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-1239"/>
            <a:ext cx="4876800" cy="6859239"/>
          </a:xfrm>
          <a:prstGeom prst="rect">
            <a:avLst/>
          </a:prstGeom>
          <a:effectLst>
            <a:softEdge rad="635000"/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4E9DD5-09EE-4CF5-940F-C5FF6D2AE323}" type="datetime1">
              <a:rPr lang="en-US"/>
              <a:pPr>
                <a:defRPr/>
              </a:pPr>
              <a:t>9/24/2022</a:t>
            </a:fld>
            <a:endParaRPr lang="en-US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81000" y="6203950"/>
            <a:ext cx="3581400" cy="384175"/>
          </a:xfrm>
        </p:spPr>
        <p:txBody>
          <a:bodyPr/>
          <a:lstStyle>
            <a:lvl1pPr algn="l">
              <a:defRPr i="1"/>
            </a:lvl1pPr>
          </a:lstStyle>
          <a:p>
            <a:pPr>
              <a:defRPr/>
            </a:pPr>
            <a:r>
              <a:rPr lang="en-US"/>
              <a:t>Instructor Slides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0675FD-581E-4DA0-AD11-5BB750976D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tevenson cover - falls.jpg"/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191000" y="-1239"/>
            <a:ext cx="4876800" cy="6859239"/>
          </a:xfrm>
          <a:prstGeom prst="rect">
            <a:avLst/>
          </a:prstGeom>
          <a:effectLst>
            <a:softEdge rad="635000"/>
          </a:effectLst>
        </p:spPr>
      </p:pic>
      <p:pic>
        <p:nvPicPr>
          <p:cNvPr id="4" name="Picture 3" descr="Stevenson cover - leaf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086600" y="152400"/>
            <a:ext cx="1961707" cy="1371600"/>
          </a:xfrm>
          <a:prstGeom prst="rect">
            <a:avLst/>
          </a:prstGeom>
          <a:effectLst>
            <a:softEdge rad="317500"/>
          </a:effectLst>
        </p:spPr>
      </p:pic>
      <p:pic>
        <p:nvPicPr>
          <p:cNvPr id="5" name="Picture 4" descr="Stevenson cover - falls.jpg"/>
          <p:cNvPicPr>
            <a:picLocks noChangeAspect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191000" y="-1239"/>
            <a:ext cx="4876800" cy="6859239"/>
          </a:xfrm>
          <a:prstGeom prst="rect">
            <a:avLst/>
          </a:prstGeom>
          <a:effectLst>
            <a:softEdge rad="635000"/>
          </a:effectLst>
        </p:spPr>
      </p:pic>
      <p:pic>
        <p:nvPicPr>
          <p:cNvPr id="6" name="Picture 5" descr="Stevenson cover - leaf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086600" y="152400"/>
            <a:ext cx="1961707" cy="1371600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7C6FF5-ACEF-450A-9EE5-A3F96D9C7B35}" type="datetime1">
              <a:rPr lang="en-US"/>
              <a:pPr>
                <a:defRPr/>
              </a:pPr>
              <a:t>9/24/2022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203950"/>
            <a:ext cx="3581400" cy="384175"/>
          </a:xfrm>
        </p:spPr>
        <p:txBody>
          <a:bodyPr/>
          <a:lstStyle>
            <a:lvl1pPr algn="l">
              <a:defRPr i="1"/>
            </a:lvl1pPr>
          </a:lstStyle>
          <a:p>
            <a:pPr>
              <a:defRPr/>
            </a:pPr>
            <a:r>
              <a:rPr lang="en-US"/>
              <a:t>Instructor Slides</a:t>
            </a:r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8A24EC-88C5-4FB3-983F-E249C3332F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3A4E58-5BB8-4649-B7D4-7A7BFBDB612C}" type="datetime1">
              <a:rPr lang="en-US"/>
              <a:pPr>
                <a:defRPr/>
              </a:pPr>
              <a:t>9/24/2022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81000" y="6203950"/>
            <a:ext cx="3581400" cy="384175"/>
          </a:xfrm>
        </p:spPr>
        <p:txBody>
          <a:bodyPr/>
          <a:lstStyle>
            <a:lvl1pPr algn="l">
              <a:defRPr i="1"/>
            </a:lvl1pPr>
          </a:lstStyle>
          <a:p>
            <a:pPr>
              <a:defRPr/>
            </a:pPr>
            <a:r>
              <a:rPr lang="en-US"/>
              <a:t>Instructor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C42E60-4808-4728-AE1E-B3C9DF3E83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BA97C2-EB0E-4C60-B409-5191E28FA445}" type="datetime1">
              <a:rPr lang="en-US"/>
              <a:pPr>
                <a:defRPr/>
              </a:pPr>
              <a:t>9/24/2022</a:t>
            </a:fld>
            <a:endParaRPr lang="en-US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611DA9-660C-4BC2-829E-60E4D2194B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Instructor Slides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C686E9-1D44-41FA-B2C2-09FA41DE6FCF}" type="datetime1">
              <a:rPr lang="en-US"/>
              <a:pPr>
                <a:defRPr/>
              </a:pPr>
              <a:t>9/24/2022</a:t>
            </a:fld>
            <a:endParaRPr lang="en-US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94C1B9-A62C-452A-BD6B-1DABC7B0F1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533400" y="6203950"/>
            <a:ext cx="3581400" cy="384175"/>
          </a:xfrm>
        </p:spPr>
        <p:txBody>
          <a:bodyPr/>
          <a:lstStyle>
            <a:lvl1pPr algn="l">
              <a:defRPr i="1"/>
            </a:lvl1pPr>
          </a:lstStyle>
          <a:p>
            <a:pPr>
              <a:defRPr/>
            </a:pPr>
            <a:r>
              <a:rPr lang="en-US"/>
              <a:t>Instructor Slides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96B47E-D5ED-4AFB-9CEA-6FD98B0C9ECB}" type="datetime1">
              <a:rPr lang="en-US"/>
              <a:pPr>
                <a:defRPr/>
              </a:pPr>
              <a:t>9/24/2022</a:t>
            </a:fld>
            <a:endParaRPr 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Instructor Slides</a:t>
            </a:r>
          </a:p>
        </p:txBody>
      </p:sp>
      <p:sp>
        <p:nvSpPr>
          <p:cNvPr id="6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B55F88-0022-40F9-AC00-294EF4486D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48C1F3-B89D-42C2-81EE-F1086079F913}" type="datetime1">
              <a:rPr lang="en-US"/>
              <a:pPr>
                <a:defRPr/>
              </a:pPr>
              <a:t>9/24/2022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6203950"/>
            <a:ext cx="3581400" cy="384175"/>
          </a:xfrm>
        </p:spPr>
        <p:txBody>
          <a:bodyPr/>
          <a:lstStyle>
            <a:lvl1pPr algn="l">
              <a:defRPr i="1"/>
            </a:lvl1pPr>
          </a:lstStyle>
          <a:p>
            <a:pPr>
              <a:defRPr/>
            </a:pPr>
            <a:r>
              <a:rPr lang="en-US"/>
              <a:t>Instructor Slides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05524C-9AEE-4B26-BB5C-C9B443ABE8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tevenson cover - falls.jpg"/>
          <p:cNvPicPr>
            <a:picLocks noChangeAspect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191000" y="-1239"/>
            <a:ext cx="4876800" cy="6859239"/>
          </a:xfrm>
          <a:prstGeom prst="rect">
            <a:avLst/>
          </a:prstGeom>
          <a:effectLst>
            <a:softEdge rad="635000"/>
          </a:effectLst>
        </p:spPr>
      </p:pic>
      <p:pic>
        <p:nvPicPr>
          <p:cNvPr id="4" name="Picture 3" descr="Stevenson cover - leaf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086600" y="152400"/>
            <a:ext cx="1961707" cy="1371600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2F3D6B-15CE-4096-A0C0-B6902C30467C}" type="datetime1">
              <a:rPr lang="en-US"/>
              <a:pPr>
                <a:defRPr/>
              </a:pPr>
              <a:t>9/24/2022</a:t>
            </a:fld>
            <a:endParaRPr lang="en-US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Instructor Slides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6D7FCE-FF66-4B63-A83C-E2F711D545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457200" y="1447800"/>
            <a:ext cx="8229600" cy="4678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950"/>
            <a:ext cx="2590800" cy="38417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 b="0">
                <a:solidFill>
                  <a:schemeClr val="tx2"/>
                </a:solidFill>
                <a:latin typeface="Arial" charset="0"/>
              </a:defRPr>
            </a:lvl1pPr>
          </a:lstStyle>
          <a:p>
            <a:pPr>
              <a:defRPr/>
            </a:pPr>
            <a:fld id="{FE72E72E-8DFA-4D42-AF2D-5744BF251E67}" type="datetime1">
              <a:rPr lang="en-US"/>
              <a:pPr>
                <a:defRPr/>
              </a:pPr>
              <a:t>9/24/2022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57200" y="6203950"/>
            <a:ext cx="3581400" cy="38417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 b="0" i="1">
                <a:solidFill>
                  <a:schemeClr val="tx2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Instructor Slides</a:t>
            </a: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725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="0" baseline="0">
                <a:solidFill>
                  <a:schemeClr val="tx2"/>
                </a:solidFill>
                <a:latin typeface="Arial" charset="0"/>
              </a:defRPr>
            </a:lvl1pPr>
          </a:lstStyle>
          <a:p>
            <a:pPr>
              <a:defRPr/>
            </a:pPr>
            <a:fld id="{1A08F1E3-10FC-4900-99E2-CA0AD6E845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  <p:sldLayoutId id="2147483865" r:id="rId4"/>
    <p:sldLayoutId id="2147483866" r:id="rId5"/>
    <p:sldLayoutId id="2147483867" r:id="rId6"/>
    <p:sldLayoutId id="2147483868" r:id="rId7"/>
    <p:sldLayoutId id="2147483869" r:id="rId8"/>
    <p:sldLayoutId id="2147483870" r:id="rId9"/>
    <p:sldLayoutId id="2147483871" r:id="rId10"/>
    <p:sldLayoutId id="2147483872" r:id="rId11"/>
    <p:sldLayoutId id="2147483873" r:id="rId12"/>
    <p:sldLayoutId id="2147483874" r:id="rId13"/>
    <p:sldLayoutId id="2147483861" r:id="rId14"/>
    <p:sldLayoutId id="2147483875" r:id="rId15"/>
    <p:sldLayoutId id="2147483876" r:id="rId16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en-US" sz="3200" b="1" kern="1200" spc="-10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0D0D0D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D0D0D"/>
          </a:solidFill>
          <a:latin typeface="Constantia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D0D0D"/>
          </a:solidFill>
          <a:latin typeface="Constantia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D0D0D"/>
          </a:solidFill>
          <a:latin typeface="Constantia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D0D0D"/>
          </a:solidFill>
          <a:latin typeface="Constantia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rgbClr val="0D0D0D"/>
          </a:solidFill>
          <a:latin typeface="Constantia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rgbClr val="0D0D0D"/>
          </a:solidFill>
          <a:latin typeface="Constantia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rgbClr val="0D0D0D"/>
          </a:solidFill>
          <a:latin typeface="Constantia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rgbClr val="0D0D0D"/>
          </a:solidFill>
          <a:latin typeface="Constantia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tx2"/>
        </a:buClr>
        <a:buSzPct val="85000"/>
        <a:buFont typeface="Wingdings 2" pitchFamily="18" charset="2"/>
        <a:buChar char=""/>
        <a:defRPr sz="2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ts val="300"/>
        </a:spcBef>
        <a:spcAft>
          <a:spcPct val="0"/>
        </a:spcAft>
        <a:buClr>
          <a:schemeClr val="tx2"/>
        </a:buClr>
        <a:buSzPct val="85000"/>
        <a:buFont typeface="Wingdings 2" pitchFamily="18" charset="2"/>
        <a:buChar char="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4888" indent="-228600" algn="l" rtl="0" eaLnBrk="0" fontAlgn="base" hangingPunct="0">
        <a:spcBef>
          <a:spcPts val="300"/>
        </a:spcBef>
        <a:spcAft>
          <a:spcPct val="0"/>
        </a:spcAft>
        <a:buClr>
          <a:schemeClr val="tx2"/>
        </a:buClr>
        <a:buSzPct val="85000"/>
        <a:buFont typeface="Wingdings 2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79525" indent="-228600" algn="l" rtl="0" eaLnBrk="0" fontAlgn="base" hangingPunct="0">
        <a:spcBef>
          <a:spcPts val="300"/>
        </a:spcBef>
        <a:spcAft>
          <a:spcPct val="0"/>
        </a:spcAft>
        <a:buClr>
          <a:schemeClr val="tx2"/>
        </a:buClr>
        <a:buSzPct val="85000"/>
        <a:buFont typeface="Wingdings 2" pitchFamily="18" charset="2"/>
        <a:buChar char="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163" indent="-228600" algn="l" rtl="0" eaLnBrk="0" fontAlgn="base" hangingPunct="0">
        <a:spcBef>
          <a:spcPts val="338"/>
        </a:spcBef>
        <a:spcAft>
          <a:spcPct val="0"/>
        </a:spcAft>
        <a:buClr>
          <a:schemeClr val="tx2"/>
        </a:buClr>
        <a:buSzPct val="85000"/>
        <a:buFont typeface="Wingdings 2" pitchFamily="18" charset="2"/>
        <a:buChar char="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7.png"/><Relationship Id="rId4" Type="http://schemas.openxmlformats.org/officeDocument/2006/relationships/image" Target="../media/image15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b="1" dirty="0" smtClean="0"/>
              <a:t>Introduction to Operations Management</a:t>
            </a: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smtClean="0">
                <a:solidFill>
                  <a:srgbClr val="C04F46"/>
                </a:solidFill>
              </a:rPr>
              <a:t>Chapter 1</a:t>
            </a:r>
            <a:endParaRPr smtClean="0">
              <a:solidFill>
                <a:srgbClr val="FFFF66"/>
              </a:solidFill>
            </a:endParaRPr>
          </a:p>
        </p:txBody>
      </p:sp>
      <p:sp>
        <p:nvSpPr>
          <p:cNvPr id="198673" name="Text Box 2065"/>
          <p:cNvSpPr txBox="1">
            <a:spLocks noChangeArrowheads="1"/>
          </p:cNvSpPr>
          <p:nvPr/>
        </p:nvSpPr>
        <p:spPr bwMode="auto">
          <a:xfrm>
            <a:off x="15875" y="6537325"/>
            <a:ext cx="18129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1000" i="1" dirty="0">
                <a:latin typeface="Times New Roman" pitchFamily="18" charset="0"/>
                <a:ea typeface="MS PGothic" pitchFamily="34" charset="-128"/>
              </a:rPr>
              <a:t>McGraw-Hill/Irwin</a:t>
            </a:r>
            <a:endParaRPr lang="en-US" sz="1000" i="1" dirty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ea typeface="MS PGothic" pitchFamily="34" charset="-128"/>
            </a:endParaRPr>
          </a:p>
        </p:txBody>
      </p:sp>
      <p:sp>
        <p:nvSpPr>
          <p:cNvPr id="198674" name="Text Box 2066"/>
          <p:cNvSpPr txBox="1">
            <a:spLocks noChangeArrowheads="1"/>
          </p:cNvSpPr>
          <p:nvPr/>
        </p:nvSpPr>
        <p:spPr bwMode="auto">
          <a:xfrm>
            <a:off x="3336925" y="6613525"/>
            <a:ext cx="5730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000" i="1" dirty="0">
                <a:latin typeface="Times New Roman" pitchFamily="18" charset="0"/>
                <a:ea typeface="MS PGothic" pitchFamily="34" charset="-128"/>
              </a:rPr>
              <a:t>        Copyright © 2012 by The McGraw-Hill Companies, Inc. All rights reserved.</a:t>
            </a:r>
            <a:endParaRPr lang="en-US" sz="1000" i="1" dirty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ea typeface="MS PGothic" pitchFamily="34" charset="-128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54" y="6212542"/>
            <a:ext cx="1981200" cy="6435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8229600" cy="762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Chapter 1: Learning Objectives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4294967295"/>
          </p:nvPr>
        </p:nvSpPr>
        <p:spPr>
          <a:xfrm>
            <a:off x="76200" y="762000"/>
            <a:ext cx="8915400" cy="5562600"/>
          </a:xfrm>
        </p:spPr>
        <p:txBody>
          <a:bodyPr>
            <a:noAutofit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800" dirty="0" smtClean="0"/>
              <a:t>You should be able to:</a:t>
            </a:r>
          </a:p>
          <a:p>
            <a:pPr marL="708660" lvl="1" indent="-34290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800" dirty="0" smtClean="0"/>
              <a:t>Define the term </a:t>
            </a:r>
            <a:r>
              <a:rPr lang="en-US" sz="2800" i="1" dirty="0" smtClean="0"/>
              <a:t>operations management</a:t>
            </a:r>
          </a:p>
          <a:p>
            <a:pPr marL="708660" lvl="1" indent="-34290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800" dirty="0" smtClean="0"/>
              <a:t>Identify the three major functional areas of organizations and describe how they interrelate</a:t>
            </a:r>
          </a:p>
          <a:p>
            <a:pPr marL="708660" lvl="1" indent="-34290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800" dirty="0" smtClean="0"/>
              <a:t>Identify similarities and differences between production and service operations</a:t>
            </a:r>
          </a:p>
          <a:p>
            <a:pPr marL="708660" lvl="1" indent="-34290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800" dirty="0" smtClean="0"/>
              <a:t>Describe the operations function and the nature of the operations manager’s job</a:t>
            </a:r>
          </a:p>
          <a:p>
            <a:pPr marL="708660" lvl="1" indent="-34290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800" dirty="0" smtClean="0"/>
              <a:t>Summarize the two major aspects of process management</a:t>
            </a:r>
          </a:p>
          <a:p>
            <a:pPr marL="708660" lvl="1" indent="-34290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800" dirty="0" smtClean="0"/>
              <a:t>Explain the key aspects of operations management decision making</a:t>
            </a:r>
          </a:p>
        </p:txBody>
      </p:sp>
      <p:sp>
        <p:nvSpPr>
          <p:cNvPr id="18437" name="Slide Number Placeholder 4"/>
          <p:cNvSpPr>
            <a:spLocks noGrp="1"/>
          </p:cNvSpPr>
          <p:nvPr>
            <p:ph type="sldNum" sz="quarter" idx="12"/>
          </p:nvPr>
        </p:nvSpPr>
        <p:spPr bwMode="auto">
          <a:xfrm>
            <a:off x="8522748" y="6607884"/>
            <a:ext cx="609600" cy="228600"/>
          </a:xfrm>
          <a:noFill/>
          <a:ln>
            <a:miter lim="800000"/>
            <a:headEnd/>
            <a:tailEnd/>
          </a:ln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dirty="0" smtClean="0">
                <a:latin typeface="Arial" pitchFamily="34" charset="0"/>
              </a:rPr>
              <a:t>1-</a:t>
            </a:r>
            <a:fld id="{B6F74783-5DB7-4793-80ED-9D4B14F2EEAD}" type="slidenum">
              <a:rPr lang="en-US" smtClean="0">
                <a:latin typeface="Arial" pitchFamily="34" charset="0"/>
              </a:rPr>
              <a:pPr/>
              <a:t>2</a:t>
            </a:fld>
            <a:endParaRPr lang="en-US" dirty="0" smtClean="0">
              <a:latin typeface="Arial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2" y="6209450"/>
            <a:ext cx="1981200" cy="6435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6172200" cy="6858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Operations Management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304800" y="762000"/>
            <a:ext cx="8229600" cy="5638800"/>
          </a:xfrm>
        </p:spPr>
        <p:txBody>
          <a:bodyPr/>
          <a:lstStyle/>
          <a:p>
            <a:pPr eaLnBrk="1" hangingPunct="1"/>
            <a:r>
              <a:rPr lang="en-US" sz="2800" dirty="0" smtClean="0"/>
              <a:t>What is operations?</a:t>
            </a:r>
          </a:p>
          <a:p>
            <a:pPr lvl="1" eaLnBrk="1" hangingPunct="1"/>
            <a:r>
              <a:rPr lang="en-US" dirty="0" smtClean="0"/>
              <a:t>The part of a business organization that is responsible for producing goods or services</a:t>
            </a:r>
          </a:p>
          <a:p>
            <a:pPr eaLnBrk="1" hangingPunct="1"/>
            <a:r>
              <a:rPr lang="en-US" sz="2800" dirty="0" smtClean="0"/>
              <a:t>How can we define operations management?</a:t>
            </a:r>
          </a:p>
          <a:p>
            <a:pPr lvl="1" eaLnBrk="1" hangingPunct="1"/>
            <a:r>
              <a:rPr lang="en-US" dirty="0" smtClean="0"/>
              <a:t>The management of systems or processes that create goods and/or provide services</a:t>
            </a:r>
          </a:p>
          <a:p>
            <a:pPr eaLnBrk="1" hangingPunct="1"/>
            <a:r>
              <a:rPr lang="en-US" sz="2800" dirty="0" smtClean="0"/>
              <a:t>The operations function consists of all the activities directly related to producing goods or providing services</a:t>
            </a:r>
          </a:p>
          <a:p>
            <a:pPr eaLnBrk="1" hangingPunct="1"/>
            <a:endParaRPr lang="en-US" sz="800" dirty="0" smtClean="0"/>
          </a:p>
          <a:p>
            <a:pPr eaLnBrk="1" hangingPunct="1"/>
            <a:r>
              <a:rPr lang="en-US" sz="2800" dirty="0" smtClean="0"/>
              <a:t>Operations Management affects:</a:t>
            </a:r>
          </a:p>
          <a:p>
            <a:pPr lvl="1" eaLnBrk="1" hangingPunct="1"/>
            <a:r>
              <a:rPr lang="en-US" dirty="0" smtClean="0"/>
              <a:t>Companies’ ability to compete</a:t>
            </a:r>
          </a:p>
          <a:p>
            <a:pPr lvl="1" eaLnBrk="1" hangingPunct="1"/>
            <a:r>
              <a:rPr lang="en-US" dirty="0" smtClean="0"/>
              <a:t>Nation’s ability to </a:t>
            </a:r>
            <a:r>
              <a:rPr lang="en-US" dirty="0" smtClean="0"/>
              <a:t>compete globally</a:t>
            </a:r>
            <a:endParaRPr lang="en-US" dirty="0" smtClean="0"/>
          </a:p>
        </p:txBody>
      </p:sp>
      <p:sp>
        <p:nvSpPr>
          <p:cNvPr id="19461" name="Slide Number Placeholder 4"/>
          <p:cNvSpPr txBox="1">
            <a:spLocks noGrp="1"/>
          </p:cNvSpPr>
          <p:nvPr/>
        </p:nvSpPr>
        <p:spPr bwMode="auto">
          <a:xfrm>
            <a:off x="8523642" y="6607884"/>
            <a:ext cx="609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/>
            <a:r>
              <a:rPr lang="en-US" sz="1600" b="0" dirty="0">
                <a:solidFill>
                  <a:schemeClr val="tx2"/>
                </a:solidFill>
              </a:rPr>
              <a:t>1-</a:t>
            </a:r>
            <a:fld id="{3D904420-44E2-4025-B818-B0AAB6FB4D48}" type="slidenum">
              <a:rPr lang="en-US" sz="1600" b="0">
                <a:solidFill>
                  <a:schemeClr val="tx2"/>
                </a:solidFill>
              </a:rPr>
              <a:pPr algn="ctr"/>
              <a:t>3</a:t>
            </a:fld>
            <a:endParaRPr lang="en-US" sz="1600" b="0" dirty="0">
              <a:solidFill>
                <a:schemeClr val="tx2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4425"/>
            <a:ext cx="1981200" cy="6435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7032625" y="5951538"/>
            <a:ext cx="1893888" cy="4460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 b="0"/>
          </a:p>
        </p:txBody>
      </p:sp>
      <p:sp>
        <p:nvSpPr>
          <p:cNvPr id="20484" name="Text Box 20"/>
          <p:cNvSpPr txBox="1">
            <a:spLocks noChangeArrowheads="1"/>
          </p:cNvSpPr>
          <p:nvPr/>
        </p:nvSpPr>
        <p:spPr bwMode="auto">
          <a:xfrm>
            <a:off x="370242" y="1143000"/>
            <a:ext cx="7483475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 dirty="0">
                <a:solidFill>
                  <a:srgbClr val="303B2C"/>
                </a:solidFill>
              </a:rPr>
              <a:t>Goods</a:t>
            </a:r>
            <a:r>
              <a:rPr lang="en-US" sz="2400" b="0" dirty="0">
                <a:solidFill>
                  <a:srgbClr val="303B2C"/>
                </a:solidFill>
              </a:rPr>
              <a:t> are physical items that include raw materials, parts, subassemblies, and final products.</a:t>
            </a:r>
          </a:p>
          <a:p>
            <a:pPr lvl="1" eaLnBrk="0" hangingPunct="0">
              <a:buFontTx/>
              <a:buChar char="•"/>
            </a:pPr>
            <a:r>
              <a:rPr lang="en-US" sz="2400" b="0" dirty="0">
                <a:solidFill>
                  <a:srgbClr val="303B2C"/>
                </a:solidFill>
              </a:rPr>
              <a:t>Automobile</a:t>
            </a:r>
          </a:p>
          <a:p>
            <a:pPr lvl="1" eaLnBrk="0" hangingPunct="0">
              <a:buFontTx/>
              <a:buChar char="•"/>
            </a:pPr>
            <a:r>
              <a:rPr lang="en-US" sz="2400" b="0" dirty="0">
                <a:solidFill>
                  <a:srgbClr val="303B2C"/>
                </a:solidFill>
              </a:rPr>
              <a:t>Computer</a:t>
            </a:r>
          </a:p>
          <a:p>
            <a:pPr lvl="1" eaLnBrk="0" hangingPunct="0">
              <a:buFontTx/>
              <a:buChar char="•"/>
            </a:pPr>
            <a:r>
              <a:rPr lang="en-US" sz="2400" b="0" dirty="0">
                <a:solidFill>
                  <a:srgbClr val="303B2C"/>
                </a:solidFill>
              </a:rPr>
              <a:t>Oven</a:t>
            </a:r>
          </a:p>
          <a:p>
            <a:pPr lvl="1" eaLnBrk="0" hangingPunct="0">
              <a:buFontTx/>
              <a:buChar char="•"/>
            </a:pPr>
            <a:r>
              <a:rPr lang="en-US" sz="2400" b="0" dirty="0">
                <a:solidFill>
                  <a:srgbClr val="303B2C"/>
                </a:solidFill>
              </a:rPr>
              <a:t>Shampoo</a:t>
            </a:r>
          </a:p>
        </p:txBody>
      </p:sp>
      <p:sp>
        <p:nvSpPr>
          <p:cNvPr id="20485" name="Text Box 21"/>
          <p:cNvSpPr txBox="1">
            <a:spLocks noChangeArrowheads="1"/>
          </p:cNvSpPr>
          <p:nvPr/>
        </p:nvSpPr>
        <p:spPr bwMode="auto">
          <a:xfrm>
            <a:off x="365125" y="3670300"/>
            <a:ext cx="7483475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 dirty="0">
                <a:solidFill>
                  <a:srgbClr val="303B2C"/>
                </a:solidFill>
              </a:rPr>
              <a:t>Services</a:t>
            </a:r>
            <a:r>
              <a:rPr lang="en-US" sz="2400" b="0" dirty="0">
                <a:solidFill>
                  <a:srgbClr val="303B2C"/>
                </a:solidFill>
              </a:rPr>
              <a:t> are activities that provide some combination of time, location, form or psychological value.</a:t>
            </a:r>
          </a:p>
          <a:p>
            <a:pPr lvl="1" eaLnBrk="0" hangingPunct="0">
              <a:buFontTx/>
              <a:buChar char="•"/>
            </a:pPr>
            <a:r>
              <a:rPr lang="en-US" sz="2400" b="0" dirty="0">
                <a:solidFill>
                  <a:srgbClr val="303B2C"/>
                </a:solidFill>
              </a:rPr>
              <a:t>Air travel</a:t>
            </a:r>
          </a:p>
          <a:p>
            <a:pPr lvl="1" eaLnBrk="0" hangingPunct="0">
              <a:buFontTx/>
              <a:buChar char="•"/>
            </a:pPr>
            <a:r>
              <a:rPr lang="en-US" sz="2400" b="0" dirty="0">
                <a:solidFill>
                  <a:srgbClr val="303B2C"/>
                </a:solidFill>
              </a:rPr>
              <a:t>Education</a:t>
            </a:r>
          </a:p>
          <a:p>
            <a:pPr lvl="1" eaLnBrk="0" hangingPunct="0">
              <a:buFontTx/>
              <a:buChar char="•"/>
            </a:pPr>
            <a:r>
              <a:rPr lang="en-US" sz="2400" b="0" dirty="0">
                <a:solidFill>
                  <a:srgbClr val="303B2C"/>
                </a:solidFill>
              </a:rPr>
              <a:t>Haircut</a:t>
            </a:r>
          </a:p>
          <a:p>
            <a:pPr lvl="1" eaLnBrk="0" hangingPunct="0">
              <a:buFontTx/>
              <a:buChar char="•"/>
            </a:pPr>
            <a:r>
              <a:rPr lang="en-US" sz="2400" b="0" dirty="0">
                <a:solidFill>
                  <a:srgbClr val="303B2C"/>
                </a:solidFill>
              </a:rPr>
              <a:t>Legal counsel</a:t>
            </a:r>
          </a:p>
        </p:txBody>
      </p:sp>
      <p:sp>
        <p:nvSpPr>
          <p:cNvPr id="9222" name="Rectangle 24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29600" cy="6096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Good or Service?</a:t>
            </a:r>
          </a:p>
        </p:txBody>
      </p:sp>
      <p:sp>
        <p:nvSpPr>
          <p:cNvPr id="20488" name="Slide Number Placeholder 4"/>
          <p:cNvSpPr txBox="1">
            <a:spLocks noGrp="1"/>
          </p:cNvSpPr>
          <p:nvPr/>
        </p:nvSpPr>
        <p:spPr bwMode="auto">
          <a:xfrm>
            <a:off x="8523642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/>
            <a:r>
              <a:rPr lang="en-US" sz="1600" b="0">
                <a:solidFill>
                  <a:schemeClr val="tx2"/>
                </a:solidFill>
              </a:rPr>
              <a:t>1-</a:t>
            </a:r>
            <a:fld id="{DA26270A-1D3F-43CD-98C0-2BD392147D63}" type="slidenum">
              <a:rPr lang="en-US" sz="1600" b="0">
                <a:solidFill>
                  <a:schemeClr val="tx2"/>
                </a:solidFill>
              </a:rPr>
              <a:pPr algn="ctr"/>
              <a:t>4</a:t>
            </a:fld>
            <a:endParaRPr lang="en-US" sz="1600" b="0">
              <a:solidFill>
                <a:schemeClr val="tx2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14425"/>
            <a:ext cx="1981200" cy="643575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" grpId="0"/>
      <p:bldP spid="2048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29600" cy="6096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Supply Chain</a:t>
            </a:r>
          </a:p>
        </p:txBody>
      </p:sp>
      <p:grpSp>
        <p:nvGrpSpPr>
          <p:cNvPr id="21507" name="Group 17"/>
          <p:cNvGrpSpPr>
            <a:grpSpLocks/>
          </p:cNvGrpSpPr>
          <p:nvPr/>
        </p:nvGrpSpPr>
        <p:grpSpPr bwMode="auto">
          <a:xfrm>
            <a:off x="304800" y="3124200"/>
            <a:ext cx="8534400" cy="838200"/>
            <a:chOff x="240" y="2352"/>
            <a:chExt cx="5376" cy="528"/>
          </a:xfrm>
        </p:grpSpPr>
        <p:sp>
          <p:nvSpPr>
            <p:cNvPr id="8197" name="Rectangle 4"/>
            <p:cNvSpPr>
              <a:spLocks noChangeArrowheads="1"/>
            </p:cNvSpPr>
            <p:nvPr/>
          </p:nvSpPr>
          <p:spPr bwMode="auto">
            <a:xfrm>
              <a:off x="240" y="2352"/>
              <a:ext cx="912" cy="528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algn="ctr">
              <a:noFill/>
              <a:miter lim="800000"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b="0" dirty="0">
                  <a:solidFill>
                    <a:schemeClr val="bg1"/>
                  </a:solidFill>
                  <a:latin typeface="Arial" charset="0"/>
                </a:rPr>
                <a:t>Suppliers’</a:t>
              </a:r>
            </a:p>
            <a:p>
              <a:pPr algn="ctr" eaLnBrk="0" hangingPunct="0">
                <a:defRPr/>
              </a:pPr>
              <a:r>
                <a:rPr lang="en-US" b="0" dirty="0">
                  <a:solidFill>
                    <a:schemeClr val="bg1"/>
                  </a:solidFill>
                  <a:latin typeface="Arial" charset="0"/>
                </a:rPr>
                <a:t>suppliers</a:t>
              </a:r>
            </a:p>
          </p:txBody>
        </p:sp>
        <p:sp>
          <p:nvSpPr>
            <p:cNvPr id="8198" name="Rectangle 9"/>
            <p:cNvSpPr>
              <a:spLocks noChangeArrowheads="1"/>
            </p:cNvSpPr>
            <p:nvPr/>
          </p:nvSpPr>
          <p:spPr bwMode="auto">
            <a:xfrm>
              <a:off x="1392" y="2352"/>
              <a:ext cx="912" cy="528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algn="ctr">
              <a:noFill/>
              <a:miter lim="800000"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b="0" dirty="0">
                  <a:solidFill>
                    <a:schemeClr val="bg1"/>
                  </a:solidFill>
                  <a:latin typeface="Arial" charset="0"/>
                </a:rPr>
                <a:t>Direct</a:t>
              </a:r>
            </a:p>
            <a:p>
              <a:pPr algn="ctr" eaLnBrk="0" hangingPunct="0">
                <a:defRPr/>
              </a:pPr>
              <a:r>
                <a:rPr lang="en-US" b="0" dirty="0">
                  <a:solidFill>
                    <a:schemeClr val="bg1"/>
                  </a:solidFill>
                  <a:latin typeface="Arial" charset="0"/>
                </a:rPr>
                <a:t>suppliers</a:t>
              </a:r>
            </a:p>
          </p:txBody>
        </p:sp>
        <p:sp>
          <p:nvSpPr>
            <p:cNvPr id="8199" name="Rectangle 10"/>
            <p:cNvSpPr>
              <a:spLocks noChangeArrowheads="1"/>
            </p:cNvSpPr>
            <p:nvPr/>
          </p:nvSpPr>
          <p:spPr bwMode="auto">
            <a:xfrm>
              <a:off x="2544" y="2352"/>
              <a:ext cx="864" cy="528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algn="ctr">
              <a:noFill/>
              <a:miter lim="800000"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b="0" dirty="0">
                  <a:solidFill>
                    <a:schemeClr val="bg1"/>
                  </a:solidFill>
                  <a:latin typeface="Arial" charset="0"/>
                </a:rPr>
                <a:t>Producer</a:t>
              </a:r>
            </a:p>
          </p:txBody>
        </p:sp>
        <p:sp>
          <p:nvSpPr>
            <p:cNvPr id="8200" name="Rectangle 11"/>
            <p:cNvSpPr>
              <a:spLocks noChangeArrowheads="1"/>
            </p:cNvSpPr>
            <p:nvPr/>
          </p:nvSpPr>
          <p:spPr bwMode="auto">
            <a:xfrm>
              <a:off x="3648" y="2352"/>
              <a:ext cx="864" cy="528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algn="ctr">
              <a:noFill/>
              <a:miter lim="800000"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b="0" dirty="0">
                  <a:solidFill>
                    <a:schemeClr val="bg1"/>
                  </a:solidFill>
                  <a:latin typeface="Arial" charset="0"/>
                </a:rPr>
                <a:t>Distributor</a:t>
              </a:r>
            </a:p>
          </p:txBody>
        </p:sp>
        <p:sp>
          <p:nvSpPr>
            <p:cNvPr id="8201" name="Rectangle 12"/>
            <p:cNvSpPr>
              <a:spLocks noChangeArrowheads="1"/>
            </p:cNvSpPr>
            <p:nvPr/>
          </p:nvSpPr>
          <p:spPr bwMode="auto">
            <a:xfrm>
              <a:off x="4752" y="2352"/>
              <a:ext cx="864" cy="528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algn="ctr">
              <a:noFill/>
              <a:miter lim="800000"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b="0" dirty="0">
                  <a:solidFill>
                    <a:schemeClr val="bg1"/>
                  </a:solidFill>
                  <a:latin typeface="Arial" charset="0"/>
                </a:rPr>
                <a:t>Final</a:t>
              </a:r>
            </a:p>
            <a:p>
              <a:pPr algn="ctr" eaLnBrk="0" hangingPunct="0">
                <a:defRPr/>
              </a:pPr>
              <a:r>
                <a:rPr lang="en-US" b="0" dirty="0">
                  <a:solidFill>
                    <a:schemeClr val="bg1"/>
                  </a:solidFill>
                  <a:latin typeface="Arial" charset="0"/>
                </a:rPr>
                <a:t>Customers</a:t>
              </a:r>
            </a:p>
          </p:txBody>
        </p:sp>
        <p:sp>
          <p:nvSpPr>
            <p:cNvPr id="21526" name="Line 13"/>
            <p:cNvSpPr>
              <a:spLocks noChangeShapeType="1"/>
            </p:cNvSpPr>
            <p:nvPr/>
          </p:nvSpPr>
          <p:spPr bwMode="auto">
            <a:xfrm>
              <a:off x="1152" y="2640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527" name="Line 14"/>
            <p:cNvSpPr>
              <a:spLocks noChangeShapeType="1"/>
            </p:cNvSpPr>
            <p:nvPr/>
          </p:nvSpPr>
          <p:spPr bwMode="auto">
            <a:xfrm>
              <a:off x="2304" y="2640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528" name="Line 15"/>
            <p:cNvSpPr>
              <a:spLocks noChangeShapeType="1"/>
            </p:cNvSpPr>
            <p:nvPr/>
          </p:nvSpPr>
          <p:spPr bwMode="auto">
            <a:xfrm>
              <a:off x="3408" y="2640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529" name="Line 16"/>
            <p:cNvSpPr>
              <a:spLocks noChangeShapeType="1"/>
            </p:cNvSpPr>
            <p:nvPr/>
          </p:nvSpPr>
          <p:spPr bwMode="auto">
            <a:xfrm>
              <a:off x="4512" y="2640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1508" name="Text Box 18"/>
          <p:cNvSpPr txBox="1">
            <a:spLocks noChangeArrowheads="1"/>
          </p:cNvSpPr>
          <p:nvPr/>
        </p:nvSpPr>
        <p:spPr bwMode="auto">
          <a:xfrm>
            <a:off x="381000" y="1143000"/>
            <a:ext cx="8153400" cy="1373188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800" dirty="0">
                <a:solidFill>
                  <a:srgbClr val="303B2C"/>
                </a:solidFill>
              </a:rPr>
              <a:t>Supply </a:t>
            </a:r>
            <a:r>
              <a:rPr lang="en-US" sz="2800" dirty="0" smtClean="0">
                <a:solidFill>
                  <a:srgbClr val="303B2C"/>
                </a:solidFill>
              </a:rPr>
              <a:t>Chain</a:t>
            </a:r>
            <a:r>
              <a:rPr lang="en-US" sz="2800" b="0" dirty="0" smtClean="0">
                <a:solidFill>
                  <a:srgbClr val="303B2C"/>
                </a:solidFill>
              </a:rPr>
              <a:t>: A </a:t>
            </a:r>
            <a:r>
              <a:rPr lang="en-US" sz="2800" b="0" dirty="0">
                <a:solidFill>
                  <a:srgbClr val="303B2C"/>
                </a:solidFill>
              </a:rPr>
              <a:t>sequence of activities and organizations involved in producing and delivering a good or service</a:t>
            </a:r>
          </a:p>
        </p:txBody>
      </p:sp>
      <p:sp>
        <p:nvSpPr>
          <p:cNvPr id="21510" name="Slide Number Placeholder 4"/>
          <p:cNvSpPr txBox="1">
            <a:spLocks noGrp="1"/>
          </p:cNvSpPr>
          <p:nvPr/>
        </p:nvSpPr>
        <p:spPr bwMode="auto">
          <a:xfrm>
            <a:off x="8523642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/>
            <a:r>
              <a:rPr lang="en-US" sz="1600" b="0" dirty="0">
                <a:solidFill>
                  <a:schemeClr val="tx2"/>
                </a:solidFill>
              </a:rPr>
              <a:t>1-</a:t>
            </a:r>
            <a:fld id="{824BD1E3-B48B-443F-B073-CB2A975AB178}" type="slidenum">
              <a:rPr lang="en-US" sz="1600" b="0">
                <a:solidFill>
                  <a:schemeClr val="tx2"/>
                </a:solidFill>
              </a:rPr>
              <a:pPr algn="ctr"/>
              <a:t>5</a:t>
            </a:fld>
            <a:endParaRPr lang="en-US" sz="1600" b="0" dirty="0">
              <a:solidFill>
                <a:schemeClr val="tx2"/>
              </a:solidFill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14425"/>
            <a:ext cx="1981200" cy="6435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6096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Supply Chain for Bread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22531" name="Content Placeholder 3" descr="ste25251_0103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078796" y="809625"/>
            <a:ext cx="5922204" cy="5819775"/>
          </a:xfrm>
        </p:spPr>
      </p:pic>
      <p:sp>
        <p:nvSpPr>
          <p:cNvPr id="22533" name="Slide Number Placeholder 4"/>
          <p:cNvSpPr txBox="1">
            <a:spLocks noGrp="1"/>
          </p:cNvSpPr>
          <p:nvPr/>
        </p:nvSpPr>
        <p:spPr bwMode="auto">
          <a:xfrm>
            <a:off x="8534400" y="6553200"/>
            <a:ext cx="609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/>
            <a:r>
              <a:rPr lang="en-US" sz="1600" b="0" dirty="0">
                <a:solidFill>
                  <a:schemeClr val="tx2"/>
                </a:solidFill>
              </a:rPr>
              <a:t>1-</a:t>
            </a:r>
            <a:fld id="{B2352A2F-6624-499F-91C8-63C3A1D0F50C}" type="slidenum">
              <a:rPr lang="en-US" sz="1600" b="0">
                <a:solidFill>
                  <a:schemeClr val="tx2"/>
                </a:solidFill>
              </a:rPr>
              <a:pPr algn="ctr"/>
              <a:t>6</a:t>
            </a:fld>
            <a:endParaRPr lang="en-US" sz="1600" b="0" dirty="0">
              <a:solidFill>
                <a:schemeClr val="tx2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14425"/>
            <a:ext cx="1981200" cy="6435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762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sz="2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The Need for Supply Chain Management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b="0" dirty="0" smtClean="0"/>
              <a:t>In the past, organizations did little to manage the supply chain beyond their own operations and immediate suppliers which led to numerous problems:</a:t>
            </a:r>
          </a:p>
          <a:p>
            <a:pPr lvl="1" eaLnBrk="1" hangingPunct="1"/>
            <a:r>
              <a:rPr lang="en-US" altLang="en-US" dirty="0" smtClean="0"/>
              <a:t>Oscillating inventory levels</a:t>
            </a:r>
          </a:p>
          <a:p>
            <a:pPr lvl="1" eaLnBrk="1" hangingPunct="1"/>
            <a:r>
              <a:rPr lang="en-US" altLang="en-US" dirty="0" smtClean="0"/>
              <a:t>Inventory </a:t>
            </a:r>
            <a:r>
              <a:rPr lang="en-US" altLang="en-US" dirty="0" err="1" smtClean="0"/>
              <a:t>stockouts</a:t>
            </a:r>
            <a:endParaRPr lang="en-US" altLang="en-US" dirty="0" smtClean="0"/>
          </a:p>
          <a:p>
            <a:pPr lvl="1" eaLnBrk="1" hangingPunct="1"/>
            <a:r>
              <a:rPr lang="en-US" altLang="en-US" dirty="0" smtClean="0"/>
              <a:t>Late deliveries</a:t>
            </a:r>
          </a:p>
          <a:p>
            <a:pPr lvl="1" eaLnBrk="1" hangingPunct="1"/>
            <a:r>
              <a:rPr lang="en-US" altLang="en-US" dirty="0" smtClean="0"/>
              <a:t>Quality problems</a:t>
            </a:r>
          </a:p>
        </p:txBody>
      </p:sp>
      <p:sp>
        <p:nvSpPr>
          <p:cNvPr id="55301" name="Slide Number Placeholder 4"/>
          <p:cNvSpPr txBox="1">
            <a:spLocks noGrp="1"/>
          </p:cNvSpPr>
          <p:nvPr/>
        </p:nvSpPr>
        <p:spPr bwMode="auto">
          <a:xfrm>
            <a:off x="8410575" y="6181725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b="0">
                <a:solidFill>
                  <a:schemeClr val="tx2"/>
                </a:solidFill>
              </a:rPr>
              <a:t>1-</a:t>
            </a:r>
            <a:fld id="{B75A1F21-7C1E-4B05-9AAE-657A5CC8B8CF}" type="slidenum">
              <a:rPr lang="en-US" altLang="en-US" sz="1600" b="0">
                <a:solidFill>
                  <a:schemeClr val="tx2"/>
                </a:solidFill>
              </a:rPr>
              <a:pPr algn="ctr" eaLnBrk="1" hangingPunct="1"/>
              <a:t>7</a:t>
            </a:fld>
            <a:endParaRPr lang="en-US" altLang="en-US" sz="1600" b="0">
              <a:solidFill>
                <a:schemeClr val="tx2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4425"/>
            <a:ext cx="1981200" cy="64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695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Supply Chain Issues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63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eaLnBrk="1" hangingPunct="1">
              <a:buFont typeface="Constantia" panose="02030602050306030303" pitchFamily="18" charset="0"/>
              <a:buAutoNum type="arabicPeriod"/>
            </a:pPr>
            <a:r>
              <a:rPr lang="en-US" altLang="en-US" b="0" dirty="0" smtClean="0"/>
              <a:t>The need to improve operations</a:t>
            </a:r>
          </a:p>
          <a:p>
            <a:pPr marL="514350" indent="-514350" eaLnBrk="1" hangingPunct="1">
              <a:buFont typeface="Constantia" panose="02030602050306030303" pitchFamily="18" charset="0"/>
              <a:buAutoNum type="arabicPeriod"/>
            </a:pPr>
            <a:r>
              <a:rPr lang="en-US" altLang="en-US" b="0" dirty="0" smtClean="0"/>
              <a:t>Increasing levels of outsourcing</a:t>
            </a:r>
          </a:p>
          <a:p>
            <a:pPr marL="514350" indent="-514350" eaLnBrk="1" hangingPunct="1">
              <a:buFont typeface="Constantia" panose="02030602050306030303" pitchFamily="18" charset="0"/>
              <a:buAutoNum type="arabicPeriod"/>
            </a:pPr>
            <a:r>
              <a:rPr lang="en-US" altLang="en-US" b="0" dirty="0" smtClean="0"/>
              <a:t>Increasing transportation costs</a:t>
            </a:r>
          </a:p>
          <a:p>
            <a:pPr marL="514350" indent="-514350" eaLnBrk="1" hangingPunct="1">
              <a:buFont typeface="Constantia" panose="02030602050306030303" pitchFamily="18" charset="0"/>
              <a:buAutoNum type="arabicPeriod"/>
            </a:pPr>
            <a:r>
              <a:rPr lang="en-US" altLang="en-US" b="0" dirty="0" smtClean="0"/>
              <a:t>Competitive pressures</a:t>
            </a:r>
          </a:p>
          <a:p>
            <a:pPr marL="514350" indent="-514350" eaLnBrk="1" hangingPunct="1">
              <a:buFont typeface="Constantia" panose="02030602050306030303" pitchFamily="18" charset="0"/>
              <a:buAutoNum type="arabicPeriod"/>
            </a:pPr>
            <a:r>
              <a:rPr lang="en-US" altLang="en-US" b="0" dirty="0" smtClean="0"/>
              <a:t>Increasing globalization</a:t>
            </a:r>
          </a:p>
          <a:p>
            <a:pPr marL="514350" indent="-514350" eaLnBrk="1" hangingPunct="1">
              <a:buFont typeface="Constantia" panose="02030602050306030303" pitchFamily="18" charset="0"/>
              <a:buAutoNum type="arabicPeriod"/>
            </a:pPr>
            <a:r>
              <a:rPr lang="en-US" altLang="en-US" b="0" dirty="0" smtClean="0"/>
              <a:t>Increasing importance of e-business</a:t>
            </a:r>
          </a:p>
          <a:p>
            <a:pPr marL="514350" indent="-514350" eaLnBrk="1" hangingPunct="1">
              <a:buFont typeface="Constantia" panose="02030602050306030303" pitchFamily="18" charset="0"/>
              <a:buAutoNum type="arabicPeriod"/>
            </a:pPr>
            <a:r>
              <a:rPr lang="en-US" altLang="en-US" b="0" dirty="0" smtClean="0"/>
              <a:t>The complexity of supply chains</a:t>
            </a:r>
          </a:p>
          <a:p>
            <a:pPr marL="514350" indent="-514350" eaLnBrk="1" hangingPunct="1">
              <a:buFont typeface="Constantia" panose="02030602050306030303" pitchFamily="18" charset="0"/>
              <a:buAutoNum type="arabicPeriod"/>
            </a:pPr>
            <a:r>
              <a:rPr lang="en-US" altLang="en-US" b="0" dirty="0" smtClean="0"/>
              <a:t>The need to manage inventories</a:t>
            </a:r>
          </a:p>
          <a:p>
            <a:pPr marL="514350" indent="-514350" eaLnBrk="1" hangingPunct="1">
              <a:buFont typeface="Wingdings 2" panose="05020102010507070707" pitchFamily="18" charset="2"/>
              <a:buNone/>
            </a:pPr>
            <a:endParaRPr lang="en-US" altLang="en-US" dirty="0" smtClean="0"/>
          </a:p>
        </p:txBody>
      </p:sp>
      <p:sp>
        <p:nvSpPr>
          <p:cNvPr id="56325" name="Slide Number Placeholder 4"/>
          <p:cNvSpPr txBox="1">
            <a:spLocks noGrp="1"/>
          </p:cNvSpPr>
          <p:nvPr/>
        </p:nvSpPr>
        <p:spPr bwMode="auto">
          <a:xfrm>
            <a:off x="8410575" y="6181725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b="0">
                <a:solidFill>
                  <a:schemeClr val="tx2"/>
                </a:solidFill>
              </a:rPr>
              <a:t>1-</a:t>
            </a:r>
            <a:fld id="{11CD828A-0C74-4153-AC80-EFA4ED901D26}" type="slidenum">
              <a:rPr lang="en-US" altLang="en-US" sz="1600" b="0">
                <a:solidFill>
                  <a:schemeClr val="tx2"/>
                </a:solidFill>
              </a:rPr>
              <a:pPr algn="ctr" eaLnBrk="1" hangingPunct="1"/>
              <a:t>8</a:t>
            </a:fld>
            <a:endParaRPr lang="en-US" altLang="en-US" sz="1600" b="0">
              <a:solidFill>
                <a:schemeClr val="tx2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4425"/>
            <a:ext cx="1981200" cy="64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626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9144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sz="300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Elements of Supply Chain Management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295400"/>
            <a:ext cx="82296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 smtClean="0"/>
              <a:t>Customers</a:t>
            </a:r>
            <a:r>
              <a:rPr lang="en-US" altLang="en-US" sz="2000" b="0" dirty="0" smtClean="0"/>
              <a:t> – what products/services do customers want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 smtClean="0"/>
              <a:t>Forecasting</a:t>
            </a:r>
            <a:r>
              <a:rPr lang="en-US" altLang="en-US" sz="2000" b="0" dirty="0" smtClean="0"/>
              <a:t> – predicting timing and volume of customer demand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 smtClean="0"/>
              <a:t>Design</a:t>
            </a:r>
            <a:r>
              <a:rPr lang="en-US" altLang="en-US" sz="2000" b="0" dirty="0" smtClean="0"/>
              <a:t> – incorporating customer wants, manufacturability, and time to market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 smtClean="0"/>
              <a:t>Capacity planning </a:t>
            </a:r>
            <a:r>
              <a:rPr lang="en-US" altLang="en-US" sz="2000" b="0" dirty="0" smtClean="0"/>
              <a:t>– matching supply and demand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 smtClean="0"/>
              <a:t>Processing</a:t>
            </a:r>
            <a:r>
              <a:rPr lang="en-US" altLang="en-US" sz="2000" b="0" dirty="0" smtClean="0"/>
              <a:t> – controlling quality, scheduling work</a:t>
            </a:r>
          </a:p>
          <a:p>
            <a:pPr eaLnBrk="1" hangingPunct="1"/>
            <a:r>
              <a:rPr lang="en-US" altLang="en-US" sz="2000" dirty="0" smtClean="0"/>
              <a:t>Inventory </a:t>
            </a:r>
            <a:r>
              <a:rPr lang="en-US" altLang="en-US" sz="2000" b="0" dirty="0" smtClean="0"/>
              <a:t>– meeting demand requirements while managing costs</a:t>
            </a:r>
          </a:p>
          <a:p>
            <a:pPr eaLnBrk="1" hangingPunct="1"/>
            <a:r>
              <a:rPr lang="en-US" altLang="en-US" sz="2000" dirty="0" smtClean="0"/>
              <a:t>Purchasing </a:t>
            </a:r>
            <a:r>
              <a:rPr lang="en-US" altLang="en-US" sz="2000" b="0" dirty="0" smtClean="0"/>
              <a:t>– evaluating potential suppliers, supporting the needs of operations on purchased goods and services</a:t>
            </a:r>
          </a:p>
          <a:p>
            <a:pPr eaLnBrk="1" hangingPunct="1"/>
            <a:r>
              <a:rPr lang="en-US" altLang="en-US" sz="2000" dirty="0" smtClean="0"/>
              <a:t>Suppliers</a:t>
            </a:r>
            <a:r>
              <a:rPr lang="en-US" altLang="en-US" sz="2000" b="0" dirty="0" smtClean="0"/>
              <a:t> – monitoring supplier quality, on-time delivery, and flexibility; maintaining supplier relations</a:t>
            </a:r>
          </a:p>
          <a:p>
            <a:pPr eaLnBrk="1" hangingPunct="1"/>
            <a:r>
              <a:rPr lang="en-US" altLang="en-US" sz="2000" dirty="0" smtClean="0"/>
              <a:t>Location</a:t>
            </a:r>
            <a:r>
              <a:rPr lang="en-US" altLang="en-US" sz="2000" b="0" dirty="0" smtClean="0"/>
              <a:t> – determining the location of facilities</a:t>
            </a:r>
          </a:p>
          <a:p>
            <a:pPr eaLnBrk="1" hangingPunct="1"/>
            <a:r>
              <a:rPr lang="en-US" altLang="en-US" sz="2000" dirty="0" smtClean="0"/>
              <a:t>Logistics</a:t>
            </a:r>
            <a:r>
              <a:rPr lang="en-US" altLang="en-US" sz="2000" b="0" dirty="0" smtClean="0"/>
              <a:t> – deciding how to best move information and materials</a:t>
            </a:r>
          </a:p>
        </p:txBody>
      </p:sp>
      <p:sp>
        <p:nvSpPr>
          <p:cNvPr id="57349" name="Slide Number Placeholder 4"/>
          <p:cNvSpPr txBox="1">
            <a:spLocks noGrp="1"/>
          </p:cNvSpPr>
          <p:nvPr/>
        </p:nvSpPr>
        <p:spPr bwMode="auto">
          <a:xfrm>
            <a:off x="8410575" y="6181725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b="0">
                <a:solidFill>
                  <a:schemeClr val="tx2"/>
                </a:solidFill>
              </a:rPr>
              <a:t>1-</a:t>
            </a:r>
            <a:fld id="{0D5F7CE1-87ED-4BB3-978F-2EA3F1E57DC8}" type="slidenum">
              <a:rPr lang="en-US" altLang="en-US" sz="1600" b="0">
                <a:solidFill>
                  <a:schemeClr val="tx2"/>
                </a:solidFill>
              </a:rPr>
              <a:pPr algn="ctr" eaLnBrk="1" hangingPunct="1"/>
              <a:t>9</a:t>
            </a:fld>
            <a:endParaRPr lang="en-US" altLang="en-US" sz="1600" b="0">
              <a:solidFill>
                <a:schemeClr val="tx2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4425"/>
            <a:ext cx="1981200" cy="64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996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229600" cy="1219200"/>
          </a:xfrm>
        </p:spPr>
        <p:txBody>
          <a:bodyPr/>
          <a:lstStyle/>
          <a:p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Basic Functions of the Business Organization</a:t>
            </a:r>
            <a:endParaRPr lang="ar-EG" dirty="0"/>
          </a:p>
        </p:txBody>
      </p:sp>
      <p:grpSp>
        <p:nvGrpSpPr>
          <p:cNvPr id="6" name="Group 5"/>
          <p:cNvGrpSpPr/>
          <p:nvPr/>
        </p:nvGrpSpPr>
        <p:grpSpPr>
          <a:xfrm>
            <a:off x="1600200" y="1371600"/>
            <a:ext cx="6705600" cy="4800600"/>
            <a:chOff x="1524000" y="1409700"/>
            <a:chExt cx="6324600" cy="4343400"/>
          </a:xfrm>
        </p:grpSpPr>
        <p:sp>
          <p:nvSpPr>
            <p:cNvPr id="7" name="Freeform 5"/>
            <p:cNvSpPr>
              <a:spLocks/>
            </p:cNvSpPr>
            <p:nvPr/>
          </p:nvSpPr>
          <p:spPr bwMode="auto">
            <a:xfrm>
              <a:off x="3303588" y="1409700"/>
              <a:ext cx="2619375" cy="1447800"/>
            </a:xfrm>
            <a:custGeom>
              <a:avLst/>
              <a:gdLst/>
              <a:ahLst/>
              <a:cxnLst>
                <a:cxn ang="0">
                  <a:pos x="211" y="0"/>
                </a:cxn>
                <a:cxn ang="0">
                  <a:pos x="202" y="33"/>
                </a:cxn>
                <a:cxn ang="0">
                  <a:pos x="219" y="67"/>
                </a:cxn>
                <a:cxn ang="0">
                  <a:pos x="237" y="96"/>
                </a:cxn>
                <a:cxn ang="0">
                  <a:pos x="248" y="130"/>
                </a:cxn>
                <a:cxn ang="0">
                  <a:pos x="245" y="158"/>
                </a:cxn>
                <a:cxn ang="0">
                  <a:pos x="232" y="185"/>
                </a:cxn>
                <a:cxn ang="0">
                  <a:pos x="201" y="200"/>
                </a:cxn>
                <a:cxn ang="0">
                  <a:pos x="163" y="189"/>
                </a:cxn>
                <a:cxn ang="0">
                  <a:pos x="127" y="168"/>
                </a:cxn>
                <a:cxn ang="0">
                  <a:pos x="98" y="151"/>
                </a:cxn>
                <a:cxn ang="0">
                  <a:pos x="64" y="149"/>
                </a:cxn>
                <a:cxn ang="0">
                  <a:pos x="33" y="166"/>
                </a:cxn>
                <a:cxn ang="0">
                  <a:pos x="7" y="202"/>
                </a:cxn>
                <a:cxn ang="0">
                  <a:pos x="1" y="243"/>
                </a:cxn>
                <a:cxn ang="0">
                  <a:pos x="11" y="283"/>
                </a:cxn>
                <a:cxn ang="0">
                  <a:pos x="36" y="315"/>
                </a:cxn>
                <a:cxn ang="0">
                  <a:pos x="79" y="338"/>
                </a:cxn>
                <a:cxn ang="0">
                  <a:pos x="141" y="343"/>
                </a:cxn>
                <a:cxn ang="0">
                  <a:pos x="191" y="344"/>
                </a:cxn>
                <a:cxn ang="0">
                  <a:pos x="218" y="374"/>
                </a:cxn>
                <a:cxn ang="0">
                  <a:pos x="214" y="411"/>
                </a:cxn>
                <a:cxn ang="0">
                  <a:pos x="193" y="455"/>
                </a:cxn>
                <a:cxn ang="0">
                  <a:pos x="186" y="492"/>
                </a:cxn>
                <a:cxn ang="0">
                  <a:pos x="241" y="499"/>
                </a:cxn>
                <a:cxn ang="0">
                  <a:pos x="306" y="506"/>
                </a:cxn>
                <a:cxn ang="0">
                  <a:pos x="397" y="506"/>
                </a:cxn>
                <a:cxn ang="0">
                  <a:pos x="449" y="497"/>
                </a:cxn>
                <a:cxn ang="0">
                  <a:pos x="478" y="477"/>
                </a:cxn>
                <a:cxn ang="0">
                  <a:pos x="478" y="443"/>
                </a:cxn>
                <a:cxn ang="0">
                  <a:pos x="468" y="404"/>
                </a:cxn>
                <a:cxn ang="0">
                  <a:pos x="496" y="375"/>
                </a:cxn>
                <a:cxn ang="0">
                  <a:pos x="545" y="361"/>
                </a:cxn>
                <a:cxn ang="0">
                  <a:pos x="602" y="356"/>
                </a:cxn>
                <a:cxn ang="0">
                  <a:pos x="651" y="366"/>
                </a:cxn>
                <a:cxn ang="0">
                  <a:pos x="689" y="391"/>
                </a:cxn>
                <a:cxn ang="0">
                  <a:pos x="693" y="423"/>
                </a:cxn>
                <a:cxn ang="0">
                  <a:pos x="673" y="462"/>
                </a:cxn>
                <a:cxn ang="0">
                  <a:pos x="673" y="500"/>
                </a:cxn>
                <a:cxn ang="0">
                  <a:pos x="706" y="519"/>
                </a:cxn>
                <a:cxn ang="0">
                  <a:pos x="760" y="527"/>
                </a:cxn>
                <a:cxn ang="0">
                  <a:pos x="830" y="522"/>
                </a:cxn>
                <a:cxn ang="0">
                  <a:pos x="906" y="510"/>
                </a:cxn>
                <a:cxn ang="0">
                  <a:pos x="1014" y="488"/>
                </a:cxn>
                <a:cxn ang="0">
                  <a:pos x="996" y="452"/>
                </a:cxn>
                <a:cxn ang="0">
                  <a:pos x="984" y="405"/>
                </a:cxn>
                <a:cxn ang="0">
                  <a:pos x="995" y="353"/>
                </a:cxn>
                <a:cxn ang="0">
                  <a:pos x="1030" y="306"/>
                </a:cxn>
                <a:cxn ang="0">
                  <a:pos x="1077" y="280"/>
                </a:cxn>
                <a:cxn ang="0">
                  <a:pos x="1129" y="257"/>
                </a:cxn>
                <a:cxn ang="0">
                  <a:pos x="1165" y="232"/>
                </a:cxn>
                <a:cxn ang="0">
                  <a:pos x="1187" y="194"/>
                </a:cxn>
                <a:cxn ang="0">
                  <a:pos x="1179" y="147"/>
                </a:cxn>
                <a:cxn ang="0">
                  <a:pos x="1141" y="121"/>
                </a:cxn>
                <a:cxn ang="0">
                  <a:pos x="1099" y="135"/>
                </a:cxn>
                <a:cxn ang="0">
                  <a:pos x="1068" y="169"/>
                </a:cxn>
                <a:cxn ang="0">
                  <a:pos x="1025" y="179"/>
                </a:cxn>
                <a:cxn ang="0">
                  <a:pos x="989" y="158"/>
                </a:cxn>
                <a:cxn ang="0">
                  <a:pos x="972" y="120"/>
                </a:cxn>
                <a:cxn ang="0">
                  <a:pos x="975" y="74"/>
                </a:cxn>
                <a:cxn ang="0">
                  <a:pos x="990" y="26"/>
                </a:cxn>
              </a:cxnLst>
              <a:rect l="0" t="0" r="r" b="b"/>
              <a:pathLst>
                <a:path w="1189" h="527">
                  <a:moveTo>
                    <a:pt x="996" y="14"/>
                  </a:moveTo>
                  <a:lnTo>
                    <a:pt x="1006" y="0"/>
                  </a:lnTo>
                  <a:lnTo>
                    <a:pt x="211" y="0"/>
                  </a:lnTo>
                  <a:lnTo>
                    <a:pt x="205" y="8"/>
                  </a:lnTo>
                  <a:lnTo>
                    <a:pt x="202" y="20"/>
                  </a:lnTo>
                  <a:lnTo>
                    <a:pt x="202" y="33"/>
                  </a:lnTo>
                  <a:lnTo>
                    <a:pt x="205" y="44"/>
                  </a:lnTo>
                  <a:lnTo>
                    <a:pt x="212" y="56"/>
                  </a:lnTo>
                  <a:lnTo>
                    <a:pt x="219" y="67"/>
                  </a:lnTo>
                  <a:lnTo>
                    <a:pt x="225" y="76"/>
                  </a:lnTo>
                  <a:lnTo>
                    <a:pt x="232" y="86"/>
                  </a:lnTo>
                  <a:lnTo>
                    <a:pt x="237" y="96"/>
                  </a:lnTo>
                  <a:lnTo>
                    <a:pt x="243" y="108"/>
                  </a:lnTo>
                  <a:lnTo>
                    <a:pt x="246" y="119"/>
                  </a:lnTo>
                  <a:lnTo>
                    <a:pt x="248" y="130"/>
                  </a:lnTo>
                  <a:lnTo>
                    <a:pt x="248" y="140"/>
                  </a:lnTo>
                  <a:lnTo>
                    <a:pt x="247" y="151"/>
                  </a:lnTo>
                  <a:lnTo>
                    <a:pt x="245" y="158"/>
                  </a:lnTo>
                  <a:lnTo>
                    <a:pt x="242" y="169"/>
                  </a:lnTo>
                  <a:lnTo>
                    <a:pt x="238" y="178"/>
                  </a:lnTo>
                  <a:lnTo>
                    <a:pt x="232" y="185"/>
                  </a:lnTo>
                  <a:lnTo>
                    <a:pt x="225" y="192"/>
                  </a:lnTo>
                  <a:lnTo>
                    <a:pt x="216" y="197"/>
                  </a:lnTo>
                  <a:lnTo>
                    <a:pt x="201" y="200"/>
                  </a:lnTo>
                  <a:lnTo>
                    <a:pt x="189" y="199"/>
                  </a:lnTo>
                  <a:lnTo>
                    <a:pt x="177" y="195"/>
                  </a:lnTo>
                  <a:lnTo>
                    <a:pt x="163" y="189"/>
                  </a:lnTo>
                  <a:lnTo>
                    <a:pt x="148" y="182"/>
                  </a:lnTo>
                  <a:lnTo>
                    <a:pt x="138" y="175"/>
                  </a:lnTo>
                  <a:lnTo>
                    <a:pt x="127" y="168"/>
                  </a:lnTo>
                  <a:lnTo>
                    <a:pt x="117" y="162"/>
                  </a:lnTo>
                  <a:lnTo>
                    <a:pt x="108" y="156"/>
                  </a:lnTo>
                  <a:lnTo>
                    <a:pt x="98" y="151"/>
                  </a:lnTo>
                  <a:lnTo>
                    <a:pt x="87" y="148"/>
                  </a:lnTo>
                  <a:lnTo>
                    <a:pt x="75" y="147"/>
                  </a:lnTo>
                  <a:lnTo>
                    <a:pt x="64" y="149"/>
                  </a:lnTo>
                  <a:lnTo>
                    <a:pt x="52" y="153"/>
                  </a:lnTo>
                  <a:lnTo>
                    <a:pt x="43" y="159"/>
                  </a:lnTo>
                  <a:lnTo>
                    <a:pt x="33" y="166"/>
                  </a:lnTo>
                  <a:lnTo>
                    <a:pt x="23" y="176"/>
                  </a:lnTo>
                  <a:lnTo>
                    <a:pt x="15" y="187"/>
                  </a:lnTo>
                  <a:lnTo>
                    <a:pt x="7" y="202"/>
                  </a:lnTo>
                  <a:lnTo>
                    <a:pt x="3" y="215"/>
                  </a:lnTo>
                  <a:lnTo>
                    <a:pt x="0" y="228"/>
                  </a:lnTo>
                  <a:lnTo>
                    <a:pt x="1" y="243"/>
                  </a:lnTo>
                  <a:lnTo>
                    <a:pt x="2" y="256"/>
                  </a:lnTo>
                  <a:lnTo>
                    <a:pt x="6" y="271"/>
                  </a:lnTo>
                  <a:lnTo>
                    <a:pt x="11" y="283"/>
                  </a:lnTo>
                  <a:lnTo>
                    <a:pt x="18" y="296"/>
                  </a:lnTo>
                  <a:lnTo>
                    <a:pt x="26" y="306"/>
                  </a:lnTo>
                  <a:lnTo>
                    <a:pt x="36" y="315"/>
                  </a:lnTo>
                  <a:lnTo>
                    <a:pt x="47" y="324"/>
                  </a:lnTo>
                  <a:lnTo>
                    <a:pt x="63" y="332"/>
                  </a:lnTo>
                  <a:lnTo>
                    <a:pt x="79" y="338"/>
                  </a:lnTo>
                  <a:lnTo>
                    <a:pt x="97" y="342"/>
                  </a:lnTo>
                  <a:lnTo>
                    <a:pt x="117" y="344"/>
                  </a:lnTo>
                  <a:lnTo>
                    <a:pt x="141" y="343"/>
                  </a:lnTo>
                  <a:lnTo>
                    <a:pt x="158" y="342"/>
                  </a:lnTo>
                  <a:lnTo>
                    <a:pt x="175" y="341"/>
                  </a:lnTo>
                  <a:lnTo>
                    <a:pt x="191" y="344"/>
                  </a:lnTo>
                  <a:lnTo>
                    <a:pt x="202" y="350"/>
                  </a:lnTo>
                  <a:lnTo>
                    <a:pt x="212" y="361"/>
                  </a:lnTo>
                  <a:lnTo>
                    <a:pt x="218" y="374"/>
                  </a:lnTo>
                  <a:lnTo>
                    <a:pt x="219" y="387"/>
                  </a:lnTo>
                  <a:lnTo>
                    <a:pt x="218" y="398"/>
                  </a:lnTo>
                  <a:lnTo>
                    <a:pt x="214" y="411"/>
                  </a:lnTo>
                  <a:lnTo>
                    <a:pt x="207" y="427"/>
                  </a:lnTo>
                  <a:lnTo>
                    <a:pt x="201" y="440"/>
                  </a:lnTo>
                  <a:lnTo>
                    <a:pt x="193" y="455"/>
                  </a:lnTo>
                  <a:lnTo>
                    <a:pt x="185" y="470"/>
                  </a:lnTo>
                  <a:lnTo>
                    <a:pt x="174" y="490"/>
                  </a:lnTo>
                  <a:lnTo>
                    <a:pt x="186" y="492"/>
                  </a:lnTo>
                  <a:lnTo>
                    <a:pt x="203" y="494"/>
                  </a:lnTo>
                  <a:lnTo>
                    <a:pt x="221" y="496"/>
                  </a:lnTo>
                  <a:lnTo>
                    <a:pt x="241" y="499"/>
                  </a:lnTo>
                  <a:lnTo>
                    <a:pt x="261" y="501"/>
                  </a:lnTo>
                  <a:lnTo>
                    <a:pt x="283" y="504"/>
                  </a:lnTo>
                  <a:lnTo>
                    <a:pt x="306" y="506"/>
                  </a:lnTo>
                  <a:lnTo>
                    <a:pt x="331" y="507"/>
                  </a:lnTo>
                  <a:lnTo>
                    <a:pt x="380" y="507"/>
                  </a:lnTo>
                  <a:lnTo>
                    <a:pt x="397" y="506"/>
                  </a:lnTo>
                  <a:lnTo>
                    <a:pt x="414" y="505"/>
                  </a:lnTo>
                  <a:lnTo>
                    <a:pt x="433" y="502"/>
                  </a:lnTo>
                  <a:lnTo>
                    <a:pt x="449" y="497"/>
                  </a:lnTo>
                  <a:lnTo>
                    <a:pt x="461" y="491"/>
                  </a:lnTo>
                  <a:lnTo>
                    <a:pt x="471" y="484"/>
                  </a:lnTo>
                  <a:lnTo>
                    <a:pt x="478" y="477"/>
                  </a:lnTo>
                  <a:lnTo>
                    <a:pt x="481" y="469"/>
                  </a:lnTo>
                  <a:lnTo>
                    <a:pt x="481" y="457"/>
                  </a:lnTo>
                  <a:lnTo>
                    <a:pt x="478" y="443"/>
                  </a:lnTo>
                  <a:lnTo>
                    <a:pt x="473" y="429"/>
                  </a:lnTo>
                  <a:lnTo>
                    <a:pt x="468" y="416"/>
                  </a:lnTo>
                  <a:lnTo>
                    <a:pt x="468" y="404"/>
                  </a:lnTo>
                  <a:lnTo>
                    <a:pt x="474" y="393"/>
                  </a:lnTo>
                  <a:lnTo>
                    <a:pt x="483" y="383"/>
                  </a:lnTo>
                  <a:lnTo>
                    <a:pt x="496" y="375"/>
                  </a:lnTo>
                  <a:lnTo>
                    <a:pt x="511" y="369"/>
                  </a:lnTo>
                  <a:lnTo>
                    <a:pt x="528" y="364"/>
                  </a:lnTo>
                  <a:lnTo>
                    <a:pt x="545" y="361"/>
                  </a:lnTo>
                  <a:lnTo>
                    <a:pt x="566" y="358"/>
                  </a:lnTo>
                  <a:lnTo>
                    <a:pt x="583" y="356"/>
                  </a:lnTo>
                  <a:lnTo>
                    <a:pt x="602" y="356"/>
                  </a:lnTo>
                  <a:lnTo>
                    <a:pt x="618" y="357"/>
                  </a:lnTo>
                  <a:lnTo>
                    <a:pt x="635" y="361"/>
                  </a:lnTo>
                  <a:lnTo>
                    <a:pt x="651" y="366"/>
                  </a:lnTo>
                  <a:lnTo>
                    <a:pt x="666" y="373"/>
                  </a:lnTo>
                  <a:lnTo>
                    <a:pt x="678" y="381"/>
                  </a:lnTo>
                  <a:lnTo>
                    <a:pt x="689" y="391"/>
                  </a:lnTo>
                  <a:lnTo>
                    <a:pt x="694" y="401"/>
                  </a:lnTo>
                  <a:lnTo>
                    <a:pt x="696" y="411"/>
                  </a:lnTo>
                  <a:lnTo>
                    <a:pt x="693" y="423"/>
                  </a:lnTo>
                  <a:lnTo>
                    <a:pt x="688" y="433"/>
                  </a:lnTo>
                  <a:lnTo>
                    <a:pt x="679" y="449"/>
                  </a:lnTo>
                  <a:lnTo>
                    <a:pt x="673" y="462"/>
                  </a:lnTo>
                  <a:lnTo>
                    <a:pt x="668" y="476"/>
                  </a:lnTo>
                  <a:lnTo>
                    <a:pt x="668" y="488"/>
                  </a:lnTo>
                  <a:lnTo>
                    <a:pt x="673" y="500"/>
                  </a:lnTo>
                  <a:lnTo>
                    <a:pt x="683" y="509"/>
                  </a:lnTo>
                  <a:lnTo>
                    <a:pt x="692" y="514"/>
                  </a:lnTo>
                  <a:lnTo>
                    <a:pt x="706" y="519"/>
                  </a:lnTo>
                  <a:lnTo>
                    <a:pt x="723" y="523"/>
                  </a:lnTo>
                  <a:lnTo>
                    <a:pt x="739" y="525"/>
                  </a:lnTo>
                  <a:lnTo>
                    <a:pt x="760" y="527"/>
                  </a:lnTo>
                  <a:lnTo>
                    <a:pt x="783" y="527"/>
                  </a:lnTo>
                  <a:lnTo>
                    <a:pt x="802" y="524"/>
                  </a:lnTo>
                  <a:lnTo>
                    <a:pt x="830" y="522"/>
                  </a:lnTo>
                  <a:lnTo>
                    <a:pt x="858" y="518"/>
                  </a:lnTo>
                  <a:lnTo>
                    <a:pt x="882" y="514"/>
                  </a:lnTo>
                  <a:lnTo>
                    <a:pt x="906" y="510"/>
                  </a:lnTo>
                  <a:lnTo>
                    <a:pt x="934" y="504"/>
                  </a:lnTo>
                  <a:lnTo>
                    <a:pt x="967" y="497"/>
                  </a:lnTo>
                  <a:lnTo>
                    <a:pt x="1014" y="488"/>
                  </a:lnTo>
                  <a:lnTo>
                    <a:pt x="1008" y="477"/>
                  </a:lnTo>
                  <a:lnTo>
                    <a:pt x="1002" y="465"/>
                  </a:lnTo>
                  <a:lnTo>
                    <a:pt x="996" y="452"/>
                  </a:lnTo>
                  <a:lnTo>
                    <a:pt x="991" y="439"/>
                  </a:lnTo>
                  <a:lnTo>
                    <a:pt x="987" y="423"/>
                  </a:lnTo>
                  <a:lnTo>
                    <a:pt x="984" y="405"/>
                  </a:lnTo>
                  <a:lnTo>
                    <a:pt x="985" y="388"/>
                  </a:lnTo>
                  <a:lnTo>
                    <a:pt x="988" y="371"/>
                  </a:lnTo>
                  <a:lnTo>
                    <a:pt x="995" y="353"/>
                  </a:lnTo>
                  <a:lnTo>
                    <a:pt x="1005" y="335"/>
                  </a:lnTo>
                  <a:lnTo>
                    <a:pt x="1016" y="319"/>
                  </a:lnTo>
                  <a:lnTo>
                    <a:pt x="1030" y="306"/>
                  </a:lnTo>
                  <a:lnTo>
                    <a:pt x="1045" y="296"/>
                  </a:lnTo>
                  <a:lnTo>
                    <a:pt x="1061" y="288"/>
                  </a:lnTo>
                  <a:lnTo>
                    <a:pt x="1077" y="280"/>
                  </a:lnTo>
                  <a:lnTo>
                    <a:pt x="1093" y="274"/>
                  </a:lnTo>
                  <a:lnTo>
                    <a:pt x="1109" y="267"/>
                  </a:lnTo>
                  <a:lnTo>
                    <a:pt x="1129" y="257"/>
                  </a:lnTo>
                  <a:lnTo>
                    <a:pt x="1142" y="251"/>
                  </a:lnTo>
                  <a:lnTo>
                    <a:pt x="1154" y="242"/>
                  </a:lnTo>
                  <a:lnTo>
                    <a:pt x="1165" y="232"/>
                  </a:lnTo>
                  <a:lnTo>
                    <a:pt x="1175" y="221"/>
                  </a:lnTo>
                  <a:lnTo>
                    <a:pt x="1182" y="208"/>
                  </a:lnTo>
                  <a:lnTo>
                    <a:pt x="1187" y="194"/>
                  </a:lnTo>
                  <a:lnTo>
                    <a:pt x="1189" y="178"/>
                  </a:lnTo>
                  <a:lnTo>
                    <a:pt x="1186" y="163"/>
                  </a:lnTo>
                  <a:lnTo>
                    <a:pt x="1179" y="147"/>
                  </a:lnTo>
                  <a:lnTo>
                    <a:pt x="1169" y="135"/>
                  </a:lnTo>
                  <a:lnTo>
                    <a:pt x="1156" y="126"/>
                  </a:lnTo>
                  <a:lnTo>
                    <a:pt x="1141" y="121"/>
                  </a:lnTo>
                  <a:lnTo>
                    <a:pt x="1127" y="121"/>
                  </a:lnTo>
                  <a:lnTo>
                    <a:pt x="1113" y="126"/>
                  </a:lnTo>
                  <a:lnTo>
                    <a:pt x="1099" y="135"/>
                  </a:lnTo>
                  <a:lnTo>
                    <a:pt x="1089" y="146"/>
                  </a:lnTo>
                  <a:lnTo>
                    <a:pt x="1078" y="158"/>
                  </a:lnTo>
                  <a:lnTo>
                    <a:pt x="1068" y="169"/>
                  </a:lnTo>
                  <a:lnTo>
                    <a:pt x="1057" y="176"/>
                  </a:lnTo>
                  <a:lnTo>
                    <a:pt x="1043" y="179"/>
                  </a:lnTo>
                  <a:lnTo>
                    <a:pt x="1025" y="179"/>
                  </a:lnTo>
                  <a:lnTo>
                    <a:pt x="1010" y="176"/>
                  </a:lnTo>
                  <a:lnTo>
                    <a:pt x="999" y="167"/>
                  </a:lnTo>
                  <a:lnTo>
                    <a:pt x="989" y="158"/>
                  </a:lnTo>
                  <a:lnTo>
                    <a:pt x="981" y="147"/>
                  </a:lnTo>
                  <a:lnTo>
                    <a:pt x="975" y="133"/>
                  </a:lnTo>
                  <a:lnTo>
                    <a:pt x="972" y="120"/>
                  </a:lnTo>
                  <a:lnTo>
                    <a:pt x="971" y="105"/>
                  </a:lnTo>
                  <a:lnTo>
                    <a:pt x="972" y="89"/>
                  </a:lnTo>
                  <a:lnTo>
                    <a:pt x="975" y="74"/>
                  </a:lnTo>
                  <a:lnTo>
                    <a:pt x="980" y="54"/>
                  </a:lnTo>
                  <a:lnTo>
                    <a:pt x="986" y="37"/>
                  </a:lnTo>
                  <a:lnTo>
                    <a:pt x="990" y="26"/>
                  </a:lnTo>
                  <a:lnTo>
                    <a:pt x="996" y="14"/>
                  </a:lnTo>
                  <a:close/>
                </a:path>
              </a:pathLst>
            </a:custGeom>
            <a:gradFill rotWithShape="0">
              <a:gsLst>
                <a:gs pos="0">
                  <a:srgbClr val="006699"/>
                </a:gs>
                <a:gs pos="100000">
                  <a:srgbClr val="006699">
                    <a:gamma/>
                    <a:shade val="46275"/>
                    <a:invGamma/>
                  </a:srgbClr>
                </a:gs>
              </a:gsLst>
              <a:path path="rect">
                <a:fillToRect l="50000" t="50000" r="50000" b="50000"/>
              </a:path>
            </a:gradFill>
            <a:ln w="12700">
              <a:solidFill>
                <a:schemeClr val="tx2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ar-EG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auto">
            <a:xfrm>
              <a:off x="5437188" y="2665413"/>
              <a:ext cx="2093912" cy="1851025"/>
            </a:xfrm>
            <a:custGeom>
              <a:avLst/>
              <a:gdLst/>
              <a:ahLst/>
              <a:cxnLst>
                <a:cxn ang="0">
                  <a:pos x="79" y="545"/>
                </a:cxn>
                <a:cxn ang="0">
                  <a:pos x="136" y="556"/>
                </a:cxn>
                <a:cxn ang="0">
                  <a:pos x="192" y="555"/>
                </a:cxn>
                <a:cxn ang="0">
                  <a:pos x="248" y="534"/>
                </a:cxn>
                <a:cxn ang="0">
                  <a:pos x="305" y="519"/>
                </a:cxn>
                <a:cxn ang="0">
                  <a:pos x="353" y="540"/>
                </a:cxn>
                <a:cxn ang="0">
                  <a:pos x="345" y="600"/>
                </a:cxn>
                <a:cxn ang="0">
                  <a:pos x="357" y="653"/>
                </a:cxn>
                <a:cxn ang="0">
                  <a:pos x="417" y="671"/>
                </a:cxn>
                <a:cxn ang="0">
                  <a:pos x="495" y="669"/>
                </a:cxn>
                <a:cxn ang="0">
                  <a:pos x="557" y="643"/>
                </a:cxn>
                <a:cxn ang="0">
                  <a:pos x="582" y="587"/>
                </a:cxn>
                <a:cxn ang="0">
                  <a:pos x="600" y="534"/>
                </a:cxn>
                <a:cxn ang="0">
                  <a:pos x="654" y="506"/>
                </a:cxn>
                <a:cxn ang="0">
                  <a:pos x="728" y="500"/>
                </a:cxn>
                <a:cxn ang="0">
                  <a:pos x="798" y="506"/>
                </a:cxn>
                <a:cxn ang="0">
                  <a:pos x="829" y="40"/>
                </a:cxn>
                <a:cxn ang="0">
                  <a:pos x="769" y="12"/>
                </a:cxn>
                <a:cxn ang="0">
                  <a:pos x="688" y="1"/>
                </a:cxn>
                <a:cxn ang="0">
                  <a:pos x="593" y="2"/>
                </a:cxn>
                <a:cxn ang="0">
                  <a:pos x="520" y="14"/>
                </a:cxn>
                <a:cxn ang="0">
                  <a:pos x="487" y="40"/>
                </a:cxn>
                <a:cxn ang="0">
                  <a:pos x="502" y="74"/>
                </a:cxn>
                <a:cxn ang="0">
                  <a:pos x="476" y="116"/>
                </a:cxn>
                <a:cxn ang="0">
                  <a:pos x="427" y="142"/>
                </a:cxn>
                <a:cxn ang="0">
                  <a:pos x="373" y="153"/>
                </a:cxn>
                <a:cxn ang="0">
                  <a:pos x="318" y="145"/>
                </a:cxn>
                <a:cxn ang="0">
                  <a:pos x="284" y="120"/>
                </a:cxn>
                <a:cxn ang="0">
                  <a:pos x="294" y="81"/>
                </a:cxn>
                <a:cxn ang="0">
                  <a:pos x="319" y="43"/>
                </a:cxn>
                <a:cxn ang="0">
                  <a:pos x="302" y="8"/>
                </a:cxn>
                <a:cxn ang="0">
                  <a:pos x="227" y="0"/>
                </a:cxn>
                <a:cxn ang="0">
                  <a:pos x="122" y="14"/>
                </a:cxn>
                <a:cxn ang="0">
                  <a:pos x="46" y="31"/>
                </a:cxn>
                <a:cxn ang="0">
                  <a:pos x="56" y="80"/>
                </a:cxn>
                <a:cxn ang="0">
                  <a:pos x="43" y="126"/>
                </a:cxn>
                <a:cxn ang="0">
                  <a:pos x="18" y="186"/>
                </a:cxn>
                <a:cxn ang="0">
                  <a:pos x="1" y="242"/>
                </a:cxn>
                <a:cxn ang="0">
                  <a:pos x="13" y="292"/>
                </a:cxn>
                <a:cxn ang="0">
                  <a:pos x="64" y="301"/>
                </a:cxn>
                <a:cxn ang="0">
                  <a:pos x="109" y="258"/>
                </a:cxn>
                <a:cxn ang="0">
                  <a:pos x="134" y="211"/>
                </a:cxn>
                <a:cxn ang="0">
                  <a:pos x="183" y="200"/>
                </a:cxn>
                <a:cxn ang="0">
                  <a:pos x="232" y="222"/>
                </a:cxn>
                <a:cxn ang="0">
                  <a:pos x="248" y="274"/>
                </a:cxn>
                <a:cxn ang="0">
                  <a:pos x="219" y="331"/>
                </a:cxn>
                <a:cxn ang="0">
                  <a:pos x="173" y="371"/>
                </a:cxn>
                <a:cxn ang="0">
                  <a:pos x="120" y="384"/>
                </a:cxn>
                <a:cxn ang="0">
                  <a:pos x="70" y="412"/>
                </a:cxn>
                <a:cxn ang="0">
                  <a:pos x="37" y="459"/>
                </a:cxn>
                <a:cxn ang="0">
                  <a:pos x="32" y="514"/>
                </a:cxn>
              </a:cxnLst>
              <a:rect l="0" t="0" r="r" b="b"/>
              <a:pathLst>
                <a:path w="951" h="674">
                  <a:moveTo>
                    <a:pt x="38" y="549"/>
                  </a:moveTo>
                  <a:lnTo>
                    <a:pt x="50" y="546"/>
                  </a:lnTo>
                  <a:lnTo>
                    <a:pt x="66" y="543"/>
                  </a:lnTo>
                  <a:lnTo>
                    <a:pt x="79" y="545"/>
                  </a:lnTo>
                  <a:lnTo>
                    <a:pt x="93" y="547"/>
                  </a:lnTo>
                  <a:lnTo>
                    <a:pt x="106" y="550"/>
                  </a:lnTo>
                  <a:lnTo>
                    <a:pt x="120" y="553"/>
                  </a:lnTo>
                  <a:lnTo>
                    <a:pt x="136" y="556"/>
                  </a:lnTo>
                  <a:lnTo>
                    <a:pt x="148" y="558"/>
                  </a:lnTo>
                  <a:lnTo>
                    <a:pt x="164" y="559"/>
                  </a:lnTo>
                  <a:lnTo>
                    <a:pt x="179" y="558"/>
                  </a:lnTo>
                  <a:lnTo>
                    <a:pt x="192" y="555"/>
                  </a:lnTo>
                  <a:lnTo>
                    <a:pt x="207" y="551"/>
                  </a:lnTo>
                  <a:lnTo>
                    <a:pt x="221" y="546"/>
                  </a:lnTo>
                  <a:lnTo>
                    <a:pt x="234" y="540"/>
                  </a:lnTo>
                  <a:lnTo>
                    <a:pt x="248" y="534"/>
                  </a:lnTo>
                  <a:lnTo>
                    <a:pt x="261" y="528"/>
                  </a:lnTo>
                  <a:lnTo>
                    <a:pt x="277" y="523"/>
                  </a:lnTo>
                  <a:lnTo>
                    <a:pt x="290" y="520"/>
                  </a:lnTo>
                  <a:lnTo>
                    <a:pt x="305" y="519"/>
                  </a:lnTo>
                  <a:lnTo>
                    <a:pt x="319" y="521"/>
                  </a:lnTo>
                  <a:lnTo>
                    <a:pt x="332" y="525"/>
                  </a:lnTo>
                  <a:lnTo>
                    <a:pt x="345" y="533"/>
                  </a:lnTo>
                  <a:lnTo>
                    <a:pt x="353" y="540"/>
                  </a:lnTo>
                  <a:lnTo>
                    <a:pt x="357" y="553"/>
                  </a:lnTo>
                  <a:lnTo>
                    <a:pt x="355" y="567"/>
                  </a:lnTo>
                  <a:lnTo>
                    <a:pt x="351" y="583"/>
                  </a:lnTo>
                  <a:lnTo>
                    <a:pt x="345" y="600"/>
                  </a:lnTo>
                  <a:lnTo>
                    <a:pt x="340" y="614"/>
                  </a:lnTo>
                  <a:lnTo>
                    <a:pt x="341" y="628"/>
                  </a:lnTo>
                  <a:lnTo>
                    <a:pt x="347" y="642"/>
                  </a:lnTo>
                  <a:lnTo>
                    <a:pt x="357" y="653"/>
                  </a:lnTo>
                  <a:lnTo>
                    <a:pt x="367" y="660"/>
                  </a:lnTo>
                  <a:lnTo>
                    <a:pt x="381" y="664"/>
                  </a:lnTo>
                  <a:lnTo>
                    <a:pt x="396" y="668"/>
                  </a:lnTo>
                  <a:lnTo>
                    <a:pt x="417" y="671"/>
                  </a:lnTo>
                  <a:lnTo>
                    <a:pt x="435" y="673"/>
                  </a:lnTo>
                  <a:lnTo>
                    <a:pt x="457" y="674"/>
                  </a:lnTo>
                  <a:lnTo>
                    <a:pt x="477" y="672"/>
                  </a:lnTo>
                  <a:lnTo>
                    <a:pt x="495" y="669"/>
                  </a:lnTo>
                  <a:lnTo>
                    <a:pt x="514" y="664"/>
                  </a:lnTo>
                  <a:lnTo>
                    <a:pt x="531" y="658"/>
                  </a:lnTo>
                  <a:lnTo>
                    <a:pt x="544" y="651"/>
                  </a:lnTo>
                  <a:lnTo>
                    <a:pt x="557" y="643"/>
                  </a:lnTo>
                  <a:lnTo>
                    <a:pt x="567" y="634"/>
                  </a:lnTo>
                  <a:lnTo>
                    <a:pt x="576" y="623"/>
                  </a:lnTo>
                  <a:lnTo>
                    <a:pt x="581" y="609"/>
                  </a:lnTo>
                  <a:lnTo>
                    <a:pt x="582" y="587"/>
                  </a:lnTo>
                  <a:lnTo>
                    <a:pt x="582" y="570"/>
                  </a:lnTo>
                  <a:lnTo>
                    <a:pt x="585" y="555"/>
                  </a:lnTo>
                  <a:lnTo>
                    <a:pt x="591" y="544"/>
                  </a:lnTo>
                  <a:lnTo>
                    <a:pt x="600" y="534"/>
                  </a:lnTo>
                  <a:lnTo>
                    <a:pt x="610" y="525"/>
                  </a:lnTo>
                  <a:lnTo>
                    <a:pt x="623" y="517"/>
                  </a:lnTo>
                  <a:lnTo>
                    <a:pt x="636" y="511"/>
                  </a:lnTo>
                  <a:lnTo>
                    <a:pt x="654" y="506"/>
                  </a:lnTo>
                  <a:lnTo>
                    <a:pt x="671" y="504"/>
                  </a:lnTo>
                  <a:lnTo>
                    <a:pt x="689" y="502"/>
                  </a:lnTo>
                  <a:lnTo>
                    <a:pt x="708" y="501"/>
                  </a:lnTo>
                  <a:lnTo>
                    <a:pt x="728" y="500"/>
                  </a:lnTo>
                  <a:lnTo>
                    <a:pt x="750" y="501"/>
                  </a:lnTo>
                  <a:lnTo>
                    <a:pt x="767" y="502"/>
                  </a:lnTo>
                  <a:lnTo>
                    <a:pt x="782" y="504"/>
                  </a:lnTo>
                  <a:lnTo>
                    <a:pt x="798" y="506"/>
                  </a:lnTo>
                  <a:lnTo>
                    <a:pt x="813" y="508"/>
                  </a:lnTo>
                  <a:lnTo>
                    <a:pt x="829" y="509"/>
                  </a:lnTo>
                  <a:lnTo>
                    <a:pt x="951" y="512"/>
                  </a:lnTo>
                  <a:lnTo>
                    <a:pt x="829" y="40"/>
                  </a:lnTo>
                  <a:lnTo>
                    <a:pt x="812" y="31"/>
                  </a:lnTo>
                  <a:lnTo>
                    <a:pt x="800" y="24"/>
                  </a:lnTo>
                  <a:lnTo>
                    <a:pt x="786" y="18"/>
                  </a:lnTo>
                  <a:lnTo>
                    <a:pt x="769" y="12"/>
                  </a:lnTo>
                  <a:lnTo>
                    <a:pt x="751" y="8"/>
                  </a:lnTo>
                  <a:lnTo>
                    <a:pt x="732" y="5"/>
                  </a:lnTo>
                  <a:lnTo>
                    <a:pt x="709" y="2"/>
                  </a:lnTo>
                  <a:lnTo>
                    <a:pt x="688" y="1"/>
                  </a:lnTo>
                  <a:lnTo>
                    <a:pt x="667" y="0"/>
                  </a:lnTo>
                  <a:lnTo>
                    <a:pt x="643" y="0"/>
                  </a:lnTo>
                  <a:lnTo>
                    <a:pt x="615" y="0"/>
                  </a:lnTo>
                  <a:lnTo>
                    <a:pt x="593" y="2"/>
                  </a:lnTo>
                  <a:lnTo>
                    <a:pt x="571" y="4"/>
                  </a:lnTo>
                  <a:lnTo>
                    <a:pt x="552" y="6"/>
                  </a:lnTo>
                  <a:lnTo>
                    <a:pt x="534" y="10"/>
                  </a:lnTo>
                  <a:lnTo>
                    <a:pt x="520" y="14"/>
                  </a:lnTo>
                  <a:lnTo>
                    <a:pt x="508" y="19"/>
                  </a:lnTo>
                  <a:lnTo>
                    <a:pt x="498" y="25"/>
                  </a:lnTo>
                  <a:lnTo>
                    <a:pt x="491" y="31"/>
                  </a:lnTo>
                  <a:lnTo>
                    <a:pt x="487" y="40"/>
                  </a:lnTo>
                  <a:lnTo>
                    <a:pt x="487" y="49"/>
                  </a:lnTo>
                  <a:lnTo>
                    <a:pt x="492" y="58"/>
                  </a:lnTo>
                  <a:lnTo>
                    <a:pt x="498" y="66"/>
                  </a:lnTo>
                  <a:lnTo>
                    <a:pt x="502" y="74"/>
                  </a:lnTo>
                  <a:lnTo>
                    <a:pt x="502" y="86"/>
                  </a:lnTo>
                  <a:lnTo>
                    <a:pt x="496" y="96"/>
                  </a:lnTo>
                  <a:lnTo>
                    <a:pt x="488" y="106"/>
                  </a:lnTo>
                  <a:lnTo>
                    <a:pt x="476" y="116"/>
                  </a:lnTo>
                  <a:lnTo>
                    <a:pt x="464" y="125"/>
                  </a:lnTo>
                  <a:lnTo>
                    <a:pt x="452" y="131"/>
                  </a:lnTo>
                  <a:lnTo>
                    <a:pt x="440" y="136"/>
                  </a:lnTo>
                  <a:lnTo>
                    <a:pt x="427" y="142"/>
                  </a:lnTo>
                  <a:lnTo>
                    <a:pt x="413" y="146"/>
                  </a:lnTo>
                  <a:lnTo>
                    <a:pt x="399" y="149"/>
                  </a:lnTo>
                  <a:lnTo>
                    <a:pt x="385" y="151"/>
                  </a:lnTo>
                  <a:lnTo>
                    <a:pt x="373" y="153"/>
                  </a:lnTo>
                  <a:lnTo>
                    <a:pt x="357" y="153"/>
                  </a:lnTo>
                  <a:lnTo>
                    <a:pt x="343" y="151"/>
                  </a:lnTo>
                  <a:lnTo>
                    <a:pt x="330" y="149"/>
                  </a:lnTo>
                  <a:lnTo>
                    <a:pt x="318" y="145"/>
                  </a:lnTo>
                  <a:lnTo>
                    <a:pt x="305" y="140"/>
                  </a:lnTo>
                  <a:lnTo>
                    <a:pt x="294" y="134"/>
                  </a:lnTo>
                  <a:lnTo>
                    <a:pt x="287" y="127"/>
                  </a:lnTo>
                  <a:lnTo>
                    <a:pt x="284" y="120"/>
                  </a:lnTo>
                  <a:lnTo>
                    <a:pt x="283" y="113"/>
                  </a:lnTo>
                  <a:lnTo>
                    <a:pt x="284" y="103"/>
                  </a:lnTo>
                  <a:lnTo>
                    <a:pt x="287" y="93"/>
                  </a:lnTo>
                  <a:lnTo>
                    <a:pt x="294" y="81"/>
                  </a:lnTo>
                  <a:lnTo>
                    <a:pt x="303" y="70"/>
                  </a:lnTo>
                  <a:lnTo>
                    <a:pt x="310" y="61"/>
                  </a:lnTo>
                  <a:lnTo>
                    <a:pt x="315" y="54"/>
                  </a:lnTo>
                  <a:lnTo>
                    <a:pt x="319" y="43"/>
                  </a:lnTo>
                  <a:lnTo>
                    <a:pt x="322" y="32"/>
                  </a:lnTo>
                  <a:lnTo>
                    <a:pt x="319" y="23"/>
                  </a:lnTo>
                  <a:lnTo>
                    <a:pt x="313" y="15"/>
                  </a:lnTo>
                  <a:lnTo>
                    <a:pt x="302" y="8"/>
                  </a:lnTo>
                  <a:lnTo>
                    <a:pt x="290" y="5"/>
                  </a:lnTo>
                  <a:lnTo>
                    <a:pt x="278" y="2"/>
                  </a:lnTo>
                  <a:lnTo>
                    <a:pt x="261" y="0"/>
                  </a:lnTo>
                  <a:lnTo>
                    <a:pt x="227" y="0"/>
                  </a:lnTo>
                  <a:lnTo>
                    <a:pt x="202" y="2"/>
                  </a:lnTo>
                  <a:lnTo>
                    <a:pt x="179" y="5"/>
                  </a:lnTo>
                  <a:lnTo>
                    <a:pt x="149" y="9"/>
                  </a:lnTo>
                  <a:lnTo>
                    <a:pt x="122" y="14"/>
                  </a:lnTo>
                  <a:lnTo>
                    <a:pt x="92" y="19"/>
                  </a:lnTo>
                  <a:lnTo>
                    <a:pt x="72" y="23"/>
                  </a:lnTo>
                  <a:lnTo>
                    <a:pt x="55" y="27"/>
                  </a:lnTo>
                  <a:lnTo>
                    <a:pt x="46" y="31"/>
                  </a:lnTo>
                  <a:lnTo>
                    <a:pt x="49" y="40"/>
                  </a:lnTo>
                  <a:lnTo>
                    <a:pt x="53" y="55"/>
                  </a:lnTo>
                  <a:lnTo>
                    <a:pt x="55" y="69"/>
                  </a:lnTo>
                  <a:lnTo>
                    <a:pt x="56" y="80"/>
                  </a:lnTo>
                  <a:lnTo>
                    <a:pt x="54" y="93"/>
                  </a:lnTo>
                  <a:lnTo>
                    <a:pt x="51" y="104"/>
                  </a:lnTo>
                  <a:lnTo>
                    <a:pt x="47" y="116"/>
                  </a:lnTo>
                  <a:lnTo>
                    <a:pt x="43" y="126"/>
                  </a:lnTo>
                  <a:lnTo>
                    <a:pt x="38" y="141"/>
                  </a:lnTo>
                  <a:lnTo>
                    <a:pt x="32" y="156"/>
                  </a:lnTo>
                  <a:lnTo>
                    <a:pt x="26" y="171"/>
                  </a:lnTo>
                  <a:lnTo>
                    <a:pt x="18" y="186"/>
                  </a:lnTo>
                  <a:lnTo>
                    <a:pt x="13" y="200"/>
                  </a:lnTo>
                  <a:lnTo>
                    <a:pt x="9" y="212"/>
                  </a:lnTo>
                  <a:lnTo>
                    <a:pt x="5" y="225"/>
                  </a:lnTo>
                  <a:lnTo>
                    <a:pt x="1" y="242"/>
                  </a:lnTo>
                  <a:lnTo>
                    <a:pt x="0" y="257"/>
                  </a:lnTo>
                  <a:lnTo>
                    <a:pt x="2" y="270"/>
                  </a:lnTo>
                  <a:lnTo>
                    <a:pt x="6" y="283"/>
                  </a:lnTo>
                  <a:lnTo>
                    <a:pt x="13" y="292"/>
                  </a:lnTo>
                  <a:lnTo>
                    <a:pt x="22" y="300"/>
                  </a:lnTo>
                  <a:lnTo>
                    <a:pt x="34" y="304"/>
                  </a:lnTo>
                  <a:lnTo>
                    <a:pt x="47" y="304"/>
                  </a:lnTo>
                  <a:lnTo>
                    <a:pt x="64" y="301"/>
                  </a:lnTo>
                  <a:lnTo>
                    <a:pt x="79" y="294"/>
                  </a:lnTo>
                  <a:lnTo>
                    <a:pt x="92" y="286"/>
                  </a:lnTo>
                  <a:lnTo>
                    <a:pt x="102" y="273"/>
                  </a:lnTo>
                  <a:lnTo>
                    <a:pt x="109" y="258"/>
                  </a:lnTo>
                  <a:lnTo>
                    <a:pt x="111" y="243"/>
                  </a:lnTo>
                  <a:lnTo>
                    <a:pt x="116" y="231"/>
                  </a:lnTo>
                  <a:lnTo>
                    <a:pt x="124" y="220"/>
                  </a:lnTo>
                  <a:lnTo>
                    <a:pt x="134" y="211"/>
                  </a:lnTo>
                  <a:lnTo>
                    <a:pt x="146" y="204"/>
                  </a:lnTo>
                  <a:lnTo>
                    <a:pt x="159" y="201"/>
                  </a:lnTo>
                  <a:lnTo>
                    <a:pt x="170" y="200"/>
                  </a:lnTo>
                  <a:lnTo>
                    <a:pt x="183" y="200"/>
                  </a:lnTo>
                  <a:lnTo>
                    <a:pt x="198" y="202"/>
                  </a:lnTo>
                  <a:lnTo>
                    <a:pt x="210" y="206"/>
                  </a:lnTo>
                  <a:lnTo>
                    <a:pt x="221" y="212"/>
                  </a:lnTo>
                  <a:lnTo>
                    <a:pt x="232" y="222"/>
                  </a:lnTo>
                  <a:lnTo>
                    <a:pt x="240" y="232"/>
                  </a:lnTo>
                  <a:lnTo>
                    <a:pt x="247" y="247"/>
                  </a:lnTo>
                  <a:lnTo>
                    <a:pt x="249" y="261"/>
                  </a:lnTo>
                  <a:lnTo>
                    <a:pt x="248" y="274"/>
                  </a:lnTo>
                  <a:lnTo>
                    <a:pt x="244" y="289"/>
                  </a:lnTo>
                  <a:lnTo>
                    <a:pt x="238" y="304"/>
                  </a:lnTo>
                  <a:lnTo>
                    <a:pt x="230" y="317"/>
                  </a:lnTo>
                  <a:lnTo>
                    <a:pt x="219" y="331"/>
                  </a:lnTo>
                  <a:lnTo>
                    <a:pt x="209" y="342"/>
                  </a:lnTo>
                  <a:lnTo>
                    <a:pt x="196" y="354"/>
                  </a:lnTo>
                  <a:lnTo>
                    <a:pt x="185" y="363"/>
                  </a:lnTo>
                  <a:lnTo>
                    <a:pt x="173" y="371"/>
                  </a:lnTo>
                  <a:lnTo>
                    <a:pt x="162" y="375"/>
                  </a:lnTo>
                  <a:lnTo>
                    <a:pt x="146" y="379"/>
                  </a:lnTo>
                  <a:lnTo>
                    <a:pt x="134" y="381"/>
                  </a:lnTo>
                  <a:lnTo>
                    <a:pt x="120" y="384"/>
                  </a:lnTo>
                  <a:lnTo>
                    <a:pt x="108" y="388"/>
                  </a:lnTo>
                  <a:lnTo>
                    <a:pt x="93" y="395"/>
                  </a:lnTo>
                  <a:lnTo>
                    <a:pt x="80" y="403"/>
                  </a:lnTo>
                  <a:lnTo>
                    <a:pt x="70" y="412"/>
                  </a:lnTo>
                  <a:lnTo>
                    <a:pt x="59" y="423"/>
                  </a:lnTo>
                  <a:lnTo>
                    <a:pt x="51" y="433"/>
                  </a:lnTo>
                  <a:lnTo>
                    <a:pt x="42" y="447"/>
                  </a:lnTo>
                  <a:lnTo>
                    <a:pt x="37" y="459"/>
                  </a:lnTo>
                  <a:lnTo>
                    <a:pt x="32" y="473"/>
                  </a:lnTo>
                  <a:lnTo>
                    <a:pt x="30" y="487"/>
                  </a:lnTo>
                  <a:lnTo>
                    <a:pt x="30" y="499"/>
                  </a:lnTo>
                  <a:lnTo>
                    <a:pt x="32" y="514"/>
                  </a:lnTo>
                  <a:lnTo>
                    <a:pt x="35" y="532"/>
                  </a:lnTo>
                  <a:lnTo>
                    <a:pt x="38" y="549"/>
                  </a:lnTo>
                  <a:close/>
                </a:path>
              </a:pathLst>
            </a:custGeom>
            <a:gradFill rotWithShape="0">
              <a:gsLst>
                <a:gs pos="0">
                  <a:srgbClr val="006699"/>
                </a:gs>
                <a:gs pos="100000">
                  <a:srgbClr val="006699">
                    <a:gamma/>
                    <a:shade val="46275"/>
                    <a:invGamma/>
                  </a:srgbClr>
                </a:gs>
              </a:gsLst>
              <a:path path="rect">
                <a:fillToRect l="50000" t="50000" r="50000" b="50000"/>
              </a:path>
            </a:gradFill>
            <a:ln w="12700">
              <a:solidFill>
                <a:schemeClr val="tx2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ar-EG"/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auto">
            <a:xfrm>
              <a:off x="2008188" y="1409700"/>
              <a:ext cx="1841500" cy="1747838"/>
            </a:xfrm>
            <a:custGeom>
              <a:avLst/>
              <a:gdLst/>
              <a:ahLst/>
              <a:cxnLst>
                <a:cxn ang="0">
                  <a:pos x="799" y="0"/>
                </a:cxn>
                <a:cxn ang="0">
                  <a:pos x="790" y="33"/>
                </a:cxn>
                <a:cxn ang="0">
                  <a:pos x="807" y="67"/>
                </a:cxn>
                <a:cxn ang="0">
                  <a:pos x="825" y="96"/>
                </a:cxn>
                <a:cxn ang="0">
                  <a:pos x="836" y="130"/>
                </a:cxn>
                <a:cxn ang="0">
                  <a:pos x="833" y="158"/>
                </a:cxn>
                <a:cxn ang="0">
                  <a:pos x="820" y="185"/>
                </a:cxn>
                <a:cxn ang="0">
                  <a:pos x="789" y="200"/>
                </a:cxn>
                <a:cxn ang="0">
                  <a:pos x="751" y="189"/>
                </a:cxn>
                <a:cxn ang="0">
                  <a:pos x="715" y="168"/>
                </a:cxn>
                <a:cxn ang="0">
                  <a:pos x="686" y="151"/>
                </a:cxn>
                <a:cxn ang="0">
                  <a:pos x="652" y="149"/>
                </a:cxn>
                <a:cxn ang="0">
                  <a:pos x="621" y="166"/>
                </a:cxn>
                <a:cxn ang="0">
                  <a:pos x="595" y="202"/>
                </a:cxn>
                <a:cxn ang="0">
                  <a:pos x="589" y="243"/>
                </a:cxn>
                <a:cxn ang="0">
                  <a:pos x="599" y="283"/>
                </a:cxn>
                <a:cxn ang="0">
                  <a:pos x="624" y="315"/>
                </a:cxn>
                <a:cxn ang="0">
                  <a:pos x="667" y="338"/>
                </a:cxn>
                <a:cxn ang="0">
                  <a:pos x="729" y="343"/>
                </a:cxn>
                <a:cxn ang="0">
                  <a:pos x="779" y="344"/>
                </a:cxn>
                <a:cxn ang="0">
                  <a:pos x="806" y="374"/>
                </a:cxn>
                <a:cxn ang="0">
                  <a:pos x="802" y="411"/>
                </a:cxn>
                <a:cxn ang="0">
                  <a:pos x="781" y="455"/>
                </a:cxn>
                <a:cxn ang="0">
                  <a:pos x="703" y="486"/>
                </a:cxn>
                <a:cxn ang="0">
                  <a:pos x="630" y="480"/>
                </a:cxn>
                <a:cxn ang="0">
                  <a:pos x="543" y="472"/>
                </a:cxn>
                <a:cxn ang="0">
                  <a:pos x="495" y="480"/>
                </a:cxn>
                <a:cxn ang="0">
                  <a:pos x="476" y="503"/>
                </a:cxn>
                <a:cxn ang="0">
                  <a:pos x="489" y="534"/>
                </a:cxn>
                <a:cxn ang="0">
                  <a:pos x="498" y="569"/>
                </a:cxn>
                <a:cxn ang="0">
                  <a:pos x="480" y="602"/>
                </a:cxn>
                <a:cxn ang="0">
                  <a:pos x="442" y="625"/>
                </a:cxn>
                <a:cxn ang="0">
                  <a:pos x="398" y="634"/>
                </a:cxn>
                <a:cxn ang="0">
                  <a:pos x="358" y="634"/>
                </a:cxn>
                <a:cxn ang="0">
                  <a:pos x="326" y="626"/>
                </a:cxn>
                <a:cxn ang="0">
                  <a:pos x="301" y="605"/>
                </a:cxn>
                <a:cxn ang="0">
                  <a:pos x="278" y="576"/>
                </a:cxn>
                <a:cxn ang="0">
                  <a:pos x="252" y="542"/>
                </a:cxn>
                <a:cxn ang="0">
                  <a:pos x="218" y="516"/>
                </a:cxn>
                <a:cxn ang="0">
                  <a:pos x="173" y="504"/>
                </a:cxn>
                <a:cxn ang="0">
                  <a:pos x="120" y="502"/>
                </a:cxn>
                <a:cxn ang="0">
                  <a:pos x="66" y="509"/>
                </a:cxn>
                <a:cxn ang="0">
                  <a:pos x="0" y="522"/>
                </a:cxn>
              </a:cxnLst>
              <a:rect l="0" t="0" r="r" b="b"/>
              <a:pathLst>
                <a:path w="836" h="636">
                  <a:moveTo>
                    <a:pt x="0" y="522"/>
                  </a:moveTo>
                  <a:lnTo>
                    <a:pt x="110" y="0"/>
                  </a:lnTo>
                  <a:lnTo>
                    <a:pt x="799" y="0"/>
                  </a:lnTo>
                  <a:lnTo>
                    <a:pt x="793" y="8"/>
                  </a:lnTo>
                  <a:lnTo>
                    <a:pt x="790" y="20"/>
                  </a:lnTo>
                  <a:lnTo>
                    <a:pt x="790" y="33"/>
                  </a:lnTo>
                  <a:lnTo>
                    <a:pt x="793" y="44"/>
                  </a:lnTo>
                  <a:lnTo>
                    <a:pt x="800" y="56"/>
                  </a:lnTo>
                  <a:lnTo>
                    <a:pt x="807" y="67"/>
                  </a:lnTo>
                  <a:lnTo>
                    <a:pt x="813" y="76"/>
                  </a:lnTo>
                  <a:lnTo>
                    <a:pt x="820" y="86"/>
                  </a:lnTo>
                  <a:lnTo>
                    <a:pt x="825" y="96"/>
                  </a:lnTo>
                  <a:lnTo>
                    <a:pt x="831" y="108"/>
                  </a:lnTo>
                  <a:lnTo>
                    <a:pt x="834" y="119"/>
                  </a:lnTo>
                  <a:lnTo>
                    <a:pt x="836" y="130"/>
                  </a:lnTo>
                  <a:lnTo>
                    <a:pt x="836" y="140"/>
                  </a:lnTo>
                  <a:lnTo>
                    <a:pt x="835" y="151"/>
                  </a:lnTo>
                  <a:lnTo>
                    <a:pt x="833" y="158"/>
                  </a:lnTo>
                  <a:lnTo>
                    <a:pt x="830" y="169"/>
                  </a:lnTo>
                  <a:lnTo>
                    <a:pt x="826" y="178"/>
                  </a:lnTo>
                  <a:lnTo>
                    <a:pt x="820" y="185"/>
                  </a:lnTo>
                  <a:lnTo>
                    <a:pt x="813" y="192"/>
                  </a:lnTo>
                  <a:lnTo>
                    <a:pt x="804" y="197"/>
                  </a:lnTo>
                  <a:lnTo>
                    <a:pt x="789" y="200"/>
                  </a:lnTo>
                  <a:lnTo>
                    <a:pt x="777" y="199"/>
                  </a:lnTo>
                  <a:lnTo>
                    <a:pt x="765" y="195"/>
                  </a:lnTo>
                  <a:lnTo>
                    <a:pt x="751" y="189"/>
                  </a:lnTo>
                  <a:lnTo>
                    <a:pt x="736" y="182"/>
                  </a:lnTo>
                  <a:lnTo>
                    <a:pt x="726" y="175"/>
                  </a:lnTo>
                  <a:lnTo>
                    <a:pt x="715" y="168"/>
                  </a:lnTo>
                  <a:lnTo>
                    <a:pt x="705" y="162"/>
                  </a:lnTo>
                  <a:lnTo>
                    <a:pt x="696" y="156"/>
                  </a:lnTo>
                  <a:lnTo>
                    <a:pt x="686" y="151"/>
                  </a:lnTo>
                  <a:lnTo>
                    <a:pt x="675" y="148"/>
                  </a:lnTo>
                  <a:lnTo>
                    <a:pt x="663" y="147"/>
                  </a:lnTo>
                  <a:lnTo>
                    <a:pt x="652" y="149"/>
                  </a:lnTo>
                  <a:lnTo>
                    <a:pt x="640" y="153"/>
                  </a:lnTo>
                  <a:lnTo>
                    <a:pt x="631" y="159"/>
                  </a:lnTo>
                  <a:lnTo>
                    <a:pt x="621" y="166"/>
                  </a:lnTo>
                  <a:lnTo>
                    <a:pt x="611" y="176"/>
                  </a:lnTo>
                  <a:lnTo>
                    <a:pt x="603" y="187"/>
                  </a:lnTo>
                  <a:lnTo>
                    <a:pt x="595" y="202"/>
                  </a:lnTo>
                  <a:lnTo>
                    <a:pt x="591" y="215"/>
                  </a:lnTo>
                  <a:lnTo>
                    <a:pt x="588" y="228"/>
                  </a:lnTo>
                  <a:lnTo>
                    <a:pt x="589" y="243"/>
                  </a:lnTo>
                  <a:lnTo>
                    <a:pt x="590" y="256"/>
                  </a:lnTo>
                  <a:lnTo>
                    <a:pt x="594" y="271"/>
                  </a:lnTo>
                  <a:lnTo>
                    <a:pt x="599" y="283"/>
                  </a:lnTo>
                  <a:lnTo>
                    <a:pt x="606" y="296"/>
                  </a:lnTo>
                  <a:lnTo>
                    <a:pt x="614" y="306"/>
                  </a:lnTo>
                  <a:lnTo>
                    <a:pt x="624" y="315"/>
                  </a:lnTo>
                  <a:lnTo>
                    <a:pt x="635" y="324"/>
                  </a:lnTo>
                  <a:lnTo>
                    <a:pt x="651" y="332"/>
                  </a:lnTo>
                  <a:lnTo>
                    <a:pt x="667" y="338"/>
                  </a:lnTo>
                  <a:lnTo>
                    <a:pt x="685" y="342"/>
                  </a:lnTo>
                  <a:lnTo>
                    <a:pt x="705" y="344"/>
                  </a:lnTo>
                  <a:lnTo>
                    <a:pt x="729" y="343"/>
                  </a:lnTo>
                  <a:lnTo>
                    <a:pt x="746" y="342"/>
                  </a:lnTo>
                  <a:lnTo>
                    <a:pt x="763" y="341"/>
                  </a:lnTo>
                  <a:lnTo>
                    <a:pt x="779" y="344"/>
                  </a:lnTo>
                  <a:lnTo>
                    <a:pt x="790" y="350"/>
                  </a:lnTo>
                  <a:lnTo>
                    <a:pt x="800" y="361"/>
                  </a:lnTo>
                  <a:lnTo>
                    <a:pt x="806" y="374"/>
                  </a:lnTo>
                  <a:lnTo>
                    <a:pt x="807" y="387"/>
                  </a:lnTo>
                  <a:lnTo>
                    <a:pt x="806" y="398"/>
                  </a:lnTo>
                  <a:lnTo>
                    <a:pt x="802" y="411"/>
                  </a:lnTo>
                  <a:lnTo>
                    <a:pt x="795" y="427"/>
                  </a:lnTo>
                  <a:lnTo>
                    <a:pt x="789" y="440"/>
                  </a:lnTo>
                  <a:lnTo>
                    <a:pt x="781" y="455"/>
                  </a:lnTo>
                  <a:lnTo>
                    <a:pt x="773" y="470"/>
                  </a:lnTo>
                  <a:lnTo>
                    <a:pt x="764" y="486"/>
                  </a:lnTo>
                  <a:lnTo>
                    <a:pt x="703" y="486"/>
                  </a:lnTo>
                  <a:lnTo>
                    <a:pt x="680" y="484"/>
                  </a:lnTo>
                  <a:lnTo>
                    <a:pt x="657" y="482"/>
                  </a:lnTo>
                  <a:lnTo>
                    <a:pt x="630" y="480"/>
                  </a:lnTo>
                  <a:lnTo>
                    <a:pt x="602" y="477"/>
                  </a:lnTo>
                  <a:lnTo>
                    <a:pt x="569" y="474"/>
                  </a:lnTo>
                  <a:lnTo>
                    <a:pt x="543" y="472"/>
                  </a:lnTo>
                  <a:lnTo>
                    <a:pt x="524" y="473"/>
                  </a:lnTo>
                  <a:lnTo>
                    <a:pt x="506" y="476"/>
                  </a:lnTo>
                  <a:lnTo>
                    <a:pt x="495" y="480"/>
                  </a:lnTo>
                  <a:lnTo>
                    <a:pt x="486" y="486"/>
                  </a:lnTo>
                  <a:lnTo>
                    <a:pt x="479" y="494"/>
                  </a:lnTo>
                  <a:lnTo>
                    <a:pt x="476" y="503"/>
                  </a:lnTo>
                  <a:lnTo>
                    <a:pt x="478" y="512"/>
                  </a:lnTo>
                  <a:lnTo>
                    <a:pt x="482" y="522"/>
                  </a:lnTo>
                  <a:lnTo>
                    <a:pt x="489" y="534"/>
                  </a:lnTo>
                  <a:lnTo>
                    <a:pt x="495" y="545"/>
                  </a:lnTo>
                  <a:lnTo>
                    <a:pt x="498" y="557"/>
                  </a:lnTo>
                  <a:lnTo>
                    <a:pt x="498" y="569"/>
                  </a:lnTo>
                  <a:lnTo>
                    <a:pt x="495" y="581"/>
                  </a:lnTo>
                  <a:lnTo>
                    <a:pt x="488" y="592"/>
                  </a:lnTo>
                  <a:lnTo>
                    <a:pt x="480" y="602"/>
                  </a:lnTo>
                  <a:lnTo>
                    <a:pt x="469" y="611"/>
                  </a:lnTo>
                  <a:lnTo>
                    <a:pt x="456" y="619"/>
                  </a:lnTo>
                  <a:lnTo>
                    <a:pt x="442" y="625"/>
                  </a:lnTo>
                  <a:lnTo>
                    <a:pt x="427" y="629"/>
                  </a:lnTo>
                  <a:lnTo>
                    <a:pt x="413" y="632"/>
                  </a:lnTo>
                  <a:lnTo>
                    <a:pt x="398" y="634"/>
                  </a:lnTo>
                  <a:lnTo>
                    <a:pt x="384" y="636"/>
                  </a:lnTo>
                  <a:lnTo>
                    <a:pt x="371" y="636"/>
                  </a:lnTo>
                  <a:lnTo>
                    <a:pt x="358" y="634"/>
                  </a:lnTo>
                  <a:lnTo>
                    <a:pt x="346" y="632"/>
                  </a:lnTo>
                  <a:lnTo>
                    <a:pt x="335" y="629"/>
                  </a:lnTo>
                  <a:lnTo>
                    <a:pt x="326" y="626"/>
                  </a:lnTo>
                  <a:lnTo>
                    <a:pt x="316" y="620"/>
                  </a:lnTo>
                  <a:lnTo>
                    <a:pt x="308" y="614"/>
                  </a:lnTo>
                  <a:lnTo>
                    <a:pt x="301" y="605"/>
                  </a:lnTo>
                  <a:lnTo>
                    <a:pt x="292" y="595"/>
                  </a:lnTo>
                  <a:lnTo>
                    <a:pt x="285" y="585"/>
                  </a:lnTo>
                  <a:lnTo>
                    <a:pt x="278" y="576"/>
                  </a:lnTo>
                  <a:lnTo>
                    <a:pt x="270" y="564"/>
                  </a:lnTo>
                  <a:lnTo>
                    <a:pt x="262" y="553"/>
                  </a:lnTo>
                  <a:lnTo>
                    <a:pt x="252" y="542"/>
                  </a:lnTo>
                  <a:lnTo>
                    <a:pt x="241" y="531"/>
                  </a:lnTo>
                  <a:lnTo>
                    <a:pt x="230" y="523"/>
                  </a:lnTo>
                  <a:lnTo>
                    <a:pt x="218" y="516"/>
                  </a:lnTo>
                  <a:lnTo>
                    <a:pt x="205" y="511"/>
                  </a:lnTo>
                  <a:lnTo>
                    <a:pt x="191" y="507"/>
                  </a:lnTo>
                  <a:lnTo>
                    <a:pt x="173" y="504"/>
                  </a:lnTo>
                  <a:lnTo>
                    <a:pt x="153" y="503"/>
                  </a:lnTo>
                  <a:lnTo>
                    <a:pt x="136" y="502"/>
                  </a:lnTo>
                  <a:lnTo>
                    <a:pt x="120" y="502"/>
                  </a:lnTo>
                  <a:lnTo>
                    <a:pt x="101" y="503"/>
                  </a:lnTo>
                  <a:lnTo>
                    <a:pt x="84" y="506"/>
                  </a:lnTo>
                  <a:lnTo>
                    <a:pt x="66" y="509"/>
                  </a:lnTo>
                  <a:lnTo>
                    <a:pt x="46" y="513"/>
                  </a:lnTo>
                  <a:lnTo>
                    <a:pt x="26" y="517"/>
                  </a:lnTo>
                  <a:lnTo>
                    <a:pt x="0" y="522"/>
                  </a:lnTo>
                  <a:close/>
                </a:path>
              </a:pathLst>
            </a:custGeom>
            <a:gradFill rotWithShape="0">
              <a:gsLst>
                <a:gs pos="0">
                  <a:srgbClr val="006699"/>
                </a:gs>
                <a:gs pos="100000">
                  <a:srgbClr val="006699">
                    <a:gamma/>
                    <a:shade val="46275"/>
                    <a:invGamma/>
                  </a:srgbClr>
                </a:gs>
              </a:gsLst>
              <a:path path="rect">
                <a:fillToRect l="50000" t="50000" r="50000" b="50000"/>
              </a:path>
            </a:gradFill>
            <a:ln w="12700">
              <a:solidFill>
                <a:schemeClr val="tx2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endParaRPr lang="ar-EG"/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auto">
            <a:xfrm>
              <a:off x="5443538" y="1409700"/>
              <a:ext cx="1819275" cy="1676400"/>
            </a:xfrm>
            <a:custGeom>
              <a:avLst/>
              <a:gdLst/>
              <a:ahLst/>
              <a:cxnLst>
                <a:cxn ang="0">
                  <a:pos x="35" y="0"/>
                </a:cxn>
                <a:cxn ang="0">
                  <a:pos x="826" y="497"/>
                </a:cxn>
                <a:cxn ang="0">
                  <a:pos x="797" y="481"/>
                </a:cxn>
                <a:cxn ang="0">
                  <a:pos x="766" y="469"/>
                </a:cxn>
                <a:cxn ang="0">
                  <a:pos x="729" y="462"/>
                </a:cxn>
                <a:cxn ang="0">
                  <a:pos x="685" y="458"/>
                </a:cxn>
                <a:cxn ang="0">
                  <a:pos x="640" y="457"/>
                </a:cxn>
                <a:cxn ang="0">
                  <a:pos x="590" y="459"/>
                </a:cxn>
                <a:cxn ang="0">
                  <a:pos x="549" y="463"/>
                </a:cxn>
                <a:cxn ang="0">
                  <a:pos x="517" y="471"/>
                </a:cxn>
                <a:cxn ang="0">
                  <a:pos x="495" y="482"/>
                </a:cxn>
                <a:cxn ang="0">
                  <a:pos x="484" y="497"/>
                </a:cxn>
                <a:cxn ang="0">
                  <a:pos x="489" y="515"/>
                </a:cxn>
                <a:cxn ang="0">
                  <a:pos x="499" y="531"/>
                </a:cxn>
                <a:cxn ang="0">
                  <a:pos x="493" y="553"/>
                </a:cxn>
                <a:cxn ang="0">
                  <a:pos x="473" y="573"/>
                </a:cxn>
                <a:cxn ang="0">
                  <a:pos x="449" y="588"/>
                </a:cxn>
                <a:cxn ang="0">
                  <a:pos x="424" y="599"/>
                </a:cxn>
                <a:cxn ang="0">
                  <a:pos x="396" y="606"/>
                </a:cxn>
                <a:cxn ang="0">
                  <a:pos x="370" y="610"/>
                </a:cxn>
                <a:cxn ang="0">
                  <a:pos x="340" y="608"/>
                </a:cxn>
                <a:cxn ang="0">
                  <a:pos x="315" y="602"/>
                </a:cxn>
                <a:cxn ang="0">
                  <a:pos x="291" y="591"/>
                </a:cxn>
                <a:cxn ang="0">
                  <a:pos x="281" y="577"/>
                </a:cxn>
                <a:cxn ang="0">
                  <a:pos x="281" y="560"/>
                </a:cxn>
                <a:cxn ang="0">
                  <a:pos x="291" y="538"/>
                </a:cxn>
                <a:cxn ang="0">
                  <a:pos x="307" y="518"/>
                </a:cxn>
                <a:cxn ang="0">
                  <a:pos x="316" y="500"/>
                </a:cxn>
                <a:cxn ang="0">
                  <a:pos x="316" y="480"/>
                </a:cxn>
                <a:cxn ang="0">
                  <a:pos x="299" y="465"/>
                </a:cxn>
                <a:cxn ang="0">
                  <a:pos x="275" y="459"/>
                </a:cxn>
                <a:cxn ang="0">
                  <a:pos x="224" y="457"/>
                </a:cxn>
                <a:cxn ang="0">
                  <a:pos x="176" y="462"/>
                </a:cxn>
                <a:cxn ang="0">
                  <a:pos x="119" y="471"/>
                </a:cxn>
                <a:cxn ang="0">
                  <a:pos x="67" y="480"/>
                </a:cxn>
                <a:cxn ang="0">
                  <a:pos x="43" y="488"/>
                </a:cxn>
                <a:cxn ang="0">
                  <a:pos x="31" y="465"/>
                </a:cxn>
                <a:cxn ang="0">
                  <a:pos x="20" y="439"/>
                </a:cxn>
                <a:cxn ang="0">
                  <a:pos x="13" y="405"/>
                </a:cxn>
                <a:cxn ang="0">
                  <a:pos x="17" y="371"/>
                </a:cxn>
                <a:cxn ang="0">
                  <a:pos x="34" y="335"/>
                </a:cxn>
                <a:cxn ang="0">
                  <a:pos x="59" y="306"/>
                </a:cxn>
                <a:cxn ang="0">
                  <a:pos x="90" y="288"/>
                </a:cxn>
                <a:cxn ang="0">
                  <a:pos x="122" y="274"/>
                </a:cxn>
                <a:cxn ang="0">
                  <a:pos x="158" y="257"/>
                </a:cxn>
                <a:cxn ang="0">
                  <a:pos x="183" y="242"/>
                </a:cxn>
                <a:cxn ang="0">
                  <a:pos x="204" y="221"/>
                </a:cxn>
                <a:cxn ang="0">
                  <a:pos x="216" y="194"/>
                </a:cxn>
                <a:cxn ang="0">
                  <a:pos x="215" y="163"/>
                </a:cxn>
                <a:cxn ang="0">
                  <a:pos x="198" y="135"/>
                </a:cxn>
                <a:cxn ang="0">
                  <a:pos x="170" y="121"/>
                </a:cxn>
                <a:cxn ang="0">
                  <a:pos x="142" y="126"/>
                </a:cxn>
                <a:cxn ang="0">
                  <a:pos x="118" y="146"/>
                </a:cxn>
                <a:cxn ang="0">
                  <a:pos x="97" y="169"/>
                </a:cxn>
                <a:cxn ang="0">
                  <a:pos x="72" y="179"/>
                </a:cxn>
                <a:cxn ang="0">
                  <a:pos x="39" y="176"/>
                </a:cxn>
                <a:cxn ang="0">
                  <a:pos x="18" y="158"/>
                </a:cxn>
                <a:cxn ang="0">
                  <a:pos x="4" y="133"/>
                </a:cxn>
                <a:cxn ang="0">
                  <a:pos x="0" y="105"/>
                </a:cxn>
                <a:cxn ang="0">
                  <a:pos x="4" y="74"/>
                </a:cxn>
                <a:cxn ang="0">
                  <a:pos x="15" y="37"/>
                </a:cxn>
                <a:cxn ang="0">
                  <a:pos x="25" y="14"/>
                </a:cxn>
              </a:cxnLst>
              <a:rect l="0" t="0" r="r" b="b"/>
              <a:pathLst>
                <a:path w="826" h="610">
                  <a:moveTo>
                    <a:pt x="25" y="14"/>
                  </a:moveTo>
                  <a:lnTo>
                    <a:pt x="35" y="0"/>
                  </a:lnTo>
                  <a:lnTo>
                    <a:pt x="689" y="0"/>
                  </a:lnTo>
                  <a:lnTo>
                    <a:pt x="826" y="497"/>
                  </a:lnTo>
                  <a:lnTo>
                    <a:pt x="809" y="488"/>
                  </a:lnTo>
                  <a:lnTo>
                    <a:pt x="797" y="481"/>
                  </a:lnTo>
                  <a:lnTo>
                    <a:pt x="783" y="475"/>
                  </a:lnTo>
                  <a:lnTo>
                    <a:pt x="766" y="469"/>
                  </a:lnTo>
                  <a:lnTo>
                    <a:pt x="748" y="465"/>
                  </a:lnTo>
                  <a:lnTo>
                    <a:pt x="729" y="462"/>
                  </a:lnTo>
                  <a:lnTo>
                    <a:pt x="706" y="459"/>
                  </a:lnTo>
                  <a:lnTo>
                    <a:pt x="685" y="458"/>
                  </a:lnTo>
                  <a:lnTo>
                    <a:pt x="664" y="457"/>
                  </a:lnTo>
                  <a:lnTo>
                    <a:pt x="640" y="457"/>
                  </a:lnTo>
                  <a:lnTo>
                    <a:pt x="612" y="457"/>
                  </a:lnTo>
                  <a:lnTo>
                    <a:pt x="590" y="459"/>
                  </a:lnTo>
                  <a:lnTo>
                    <a:pt x="568" y="461"/>
                  </a:lnTo>
                  <a:lnTo>
                    <a:pt x="549" y="463"/>
                  </a:lnTo>
                  <a:lnTo>
                    <a:pt x="531" y="467"/>
                  </a:lnTo>
                  <a:lnTo>
                    <a:pt x="517" y="471"/>
                  </a:lnTo>
                  <a:lnTo>
                    <a:pt x="505" y="476"/>
                  </a:lnTo>
                  <a:lnTo>
                    <a:pt x="495" y="482"/>
                  </a:lnTo>
                  <a:lnTo>
                    <a:pt x="488" y="488"/>
                  </a:lnTo>
                  <a:lnTo>
                    <a:pt x="484" y="497"/>
                  </a:lnTo>
                  <a:lnTo>
                    <a:pt x="484" y="506"/>
                  </a:lnTo>
                  <a:lnTo>
                    <a:pt x="489" y="515"/>
                  </a:lnTo>
                  <a:lnTo>
                    <a:pt x="495" y="523"/>
                  </a:lnTo>
                  <a:lnTo>
                    <a:pt x="499" y="531"/>
                  </a:lnTo>
                  <a:lnTo>
                    <a:pt x="499" y="543"/>
                  </a:lnTo>
                  <a:lnTo>
                    <a:pt x="493" y="553"/>
                  </a:lnTo>
                  <a:lnTo>
                    <a:pt x="485" y="563"/>
                  </a:lnTo>
                  <a:lnTo>
                    <a:pt x="473" y="573"/>
                  </a:lnTo>
                  <a:lnTo>
                    <a:pt x="461" y="582"/>
                  </a:lnTo>
                  <a:lnTo>
                    <a:pt x="449" y="588"/>
                  </a:lnTo>
                  <a:lnTo>
                    <a:pt x="437" y="593"/>
                  </a:lnTo>
                  <a:lnTo>
                    <a:pt x="424" y="599"/>
                  </a:lnTo>
                  <a:lnTo>
                    <a:pt x="410" y="603"/>
                  </a:lnTo>
                  <a:lnTo>
                    <a:pt x="396" y="606"/>
                  </a:lnTo>
                  <a:lnTo>
                    <a:pt x="382" y="608"/>
                  </a:lnTo>
                  <a:lnTo>
                    <a:pt x="370" y="610"/>
                  </a:lnTo>
                  <a:lnTo>
                    <a:pt x="354" y="610"/>
                  </a:lnTo>
                  <a:lnTo>
                    <a:pt x="340" y="608"/>
                  </a:lnTo>
                  <a:lnTo>
                    <a:pt x="327" y="606"/>
                  </a:lnTo>
                  <a:lnTo>
                    <a:pt x="315" y="602"/>
                  </a:lnTo>
                  <a:lnTo>
                    <a:pt x="302" y="597"/>
                  </a:lnTo>
                  <a:lnTo>
                    <a:pt x="291" y="591"/>
                  </a:lnTo>
                  <a:lnTo>
                    <a:pt x="284" y="584"/>
                  </a:lnTo>
                  <a:lnTo>
                    <a:pt x="281" y="577"/>
                  </a:lnTo>
                  <a:lnTo>
                    <a:pt x="280" y="570"/>
                  </a:lnTo>
                  <a:lnTo>
                    <a:pt x="281" y="560"/>
                  </a:lnTo>
                  <a:lnTo>
                    <a:pt x="284" y="550"/>
                  </a:lnTo>
                  <a:lnTo>
                    <a:pt x="291" y="538"/>
                  </a:lnTo>
                  <a:lnTo>
                    <a:pt x="300" y="527"/>
                  </a:lnTo>
                  <a:lnTo>
                    <a:pt x="307" y="518"/>
                  </a:lnTo>
                  <a:lnTo>
                    <a:pt x="312" y="511"/>
                  </a:lnTo>
                  <a:lnTo>
                    <a:pt x="316" y="500"/>
                  </a:lnTo>
                  <a:lnTo>
                    <a:pt x="319" y="489"/>
                  </a:lnTo>
                  <a:lnTo>
                    <a:pt x="316" y="480"/>
                  </a:lnTo>
                  <a:lnTo>
                    <a:pt x="310" y="472"/>
                  </a:lnTo>
                  <a:lnTo>
                    <a:pt x="299" y="465"/>
                  </a:lnTo>
                  <a:lnTo>
                    <a:pt x="287" y="462"/>
                  </a:lnTo>
                  <a:lnTo>
                    <a:pt x="275" y="459"/>
                  </a:lnTo>
                  <a:lnTo>
                    <a:pt x="258" y="457"/>
                  </a:lnTo>
                  <a:lnTo>
                    <a:pt x="224" y="457"/>
                  </a:lnTo>
                  <a:lnTo>
                    <a:pt x="199" y="459"/>
                  </a:lnTo>
                  <a:lnTo>
                    <a:pt x="176" y="462"/>
                  </a:lnTo>
                  <a:lnTo>
                    <a:pt x="146" y="466"/>
                  </a:lnTo>
                  <a:lnTo>
                    <a:pt x="119" y="471"/>
                  </a:lnTo>
                  <a:lnTo>
                    <a:pt x="89" y="476"/>
                  </a:lnTo>
                  <a:lnTo>
                    <a:pt x="67" y="480"/>
                  </a:lnTo>
                  <a:lnTo>
                    <a:pt x="52" y="483"/>
                  </a:lnTo>
                  <a:lnTo>
                    <a:pt x="43" y="488"/>
                  </a:lnTo>
                  <a:lnTo>
                    <a:pt x="37" y="477"/>
                  </a:lnTo>
                  <a:lnTo>
                    <a:pt x="31" y="465"/>
                  </a:lnTo>
                  <a:lnTo>
                    <a:pt x="25" y="452"/>
                  </a:lnTo>
                  <a:lnTo>
                    <a:pt x="20" y="439"/>
                  </a:lnTo>
                  <a:lnTo>
                    <a:pt x="16" y="423"/>
                  </a:lnTo>
                  <a:lnTo>
                    <a:pt x="13" y="405"/>
                  </a:lnTo>
                  <a:lnTo>
                    <a:pt x="14" y="388"/>
                  </a:lnTo>
                  <a:lnTo>
                    <a:pt x="17" y="371"/>
                  </a:lnTo>
                  <a:lnTo>
                    <a:pt x="24" y="353"/>
                  </a:lnTo>
                  <a:lnTo>
                    <a:pt x="34" y="335"/>
                  </a:lnTo>
                  <a:lnTo>
                    <a:pt x="45" y="319"/>
                  </a:lnTo>
                  <a:lnTo>
                    <a:pt x="59" y="306"/>
                  </a:lnTo>
                  <a:lnTo>
                    <a:pt x="74" y="296"/>
                  </a:lnTo>
                  <a:lnTo>
                    <a:pt x="90" y="288"/>
                  </a:lnTo>
                  <a:lnTo>
                    <a:pt x="106" y="280"/>
                  </a:lnTo>
                  <a:lnTo>
                    <a:pt x="122" y="274"/>
                  </a:lnTo>
                  <a:lnTo>
                    <a:pt x="138" y="267"/>
                  </a:lnTo>
                  <a:lnTo>
                    <a:pt x="158" y="257"/>
                  </a:lnTo>
                  <a:lnTo>
                    <a:pt x="171" y="251"/>
                  </a:lnTo>
                  <a:lnTo>
                    <a:pt x="183" y="242"/>
                  </a:lnTo>
                  <a:lnTo>
                    <a:pt x="194" y="232"/>
                  </a:lnTo>
                  <a:lnTo>
                    <a:pt x="204" y="221"/>
                  </a:lnTo>
                  <a:lnTo>
                    <a:pt x="211" y="208"/>
                  </a:lnTo>
                  <a:lnTo>
                    <a:pt x="216" y="194"/>
                  </a:lnTo>
                  <a:lnTo>
                    <a:pt x="218" y="178"/>
                  </a:lnTo>
                  <a:lnTo>
                    <a:pt x="215" y="163"/>
                  </a:lnTo>
                  <a:lnTo>
                    <a:pt x="208" y="147"/>
                  </a:lnTo>
                  <a:lnTo>
                    <a:pt x="198" y="135"/>
                  </a:lnTo>
                  <a:lnTo>
                    <a:pt x="185" y="126"/>
                  </a:lnTo>
                  <a:lnTo>
                    <a:pt x="170" y="121"/>
                  </a:lnTo>
                  <a:lnTo>
                    <a:pt x="156" y="121"/>
                  </a:lnTo>
                  <a:lnTo>
                    <a:pt x="142" y="126"/>
                  </a:lnTo>
                  <a:lnTo>
                    <a:pt x="128" y="135"/>
                  </a:lnTo>
                  <a:lnTo>
                    <a:pt x="118" y="146"/>
                  </a:lnTo>
                  <a:lnTo>
                    <a:pt x="107" y="158"/>
                  </a:lnTo>
                  <a:lnTo>
                    <a:pt x="97" y="169"/>
                  </a:lnTo>
                  <a:lnTo>
                    <a:pt x="86" y="176"/>
                  </a:lnTo>
                  <a:lnTo>
                    <a:pt x="72" y="179"/>
                  </a:lnTo>
                  <a:lnTo>
                    <a:pt x="54" y="179"/>
                  </a:lnTo>
                  <a:lnTo>
                    <a:pt x="39" y="176"/>
                  </a:lnTo>
                  <a:lnTo>
                    <a:pt x="28" y="167"/>
                  </a:lnTo>
                  <a:lnTo>
                    <a:pt x="18" y="158"/>
                  </a:lnTo>
                  <a:lnTo>
                    <a:pt x="10" y="147"/>
                  </a:lnTo>
                  <a:lnTo>
                    <a:pt x="4" y="133"/>
                  </a:lnTo>
                  <a:lnTo>
                    <a:pt x="1" y="120"/>
                  </a:lnTo>
                  <a:lnTo>
                    <a:pt x="0" y="105"/>
                  </a:lnTo>
                  <a:lnTo>
                    <a:pt x="1" y="89"/>
                  </a:lnTo>
                  <a:lnTo>
                    <a:pt x="4" y="74"/>
                  </a:lnTo>
                  <a:lnTo>
                    <a:pt x="9" y="54"/>
                  </a:lnTo>
                  <a:lnTo>
                    <a:pt x="15" y="37"/>
                  </a:lnTo>
                  <a:lnTo>
                    <a:pt x="19" y="26"/>
                  </a:lnTo>
                  <a:lnTo>
                    <a:pt x="25" y="14"/>
                  </a:lnTo>
                  <a:close/>
                </a:path>
              </a:pathLst>
            </a:custGeom>
            <a:gradFill rotWithShape="0">
              <a:gsLst>
                <a:gs pos="0">
                  <a:srgbClr val="006699"/>
                </a:gs>
                <a:gs pos="100000">
                  <a:srgbClr val="006699">
                    <a:gamma/>
                    <a:shade val="46275"/>
                    <a:invGamma/>
                  </a:srgbClr>
                </a:gs>
              </a:gsLst>
              <a:path path="rect">
                <a:fillToRect l="50000" t="50000" r="50000" b="50000"/>
              </a:path>
            </a:gradFill>
            <a:ln w="12700">
              <a:solidFill>
                <a:schemeClr val="tx2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ar-EG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1744663" y="2706688"/>
              <a:ext cx="2252662" cy="1900237"/>
            </a:xfrm>
            <a:custGeom>
              <a:avLst/>
              <a:gdLst/>
              <a:ahLst/>
              <a:cxnLst>
                <a:cxn ang="0">
                  <a:pos x="15" y="564"/>
                </a:cxn>
                <a:cxn ang="0">
                  <a:pos x="86" y="551"/>
                </a:cxn>
                <a:cxn ang="0">
                  <a:pos x="177" y="528"/>
                </a:cxn>
                <a:cxn ang="0">
                  <a:pos x="258" y="502"/>
                </a:cxn>
                <a:cxn ang="0">
                  <a:pos x="307" y="498"/>
                </a:cxn>
                <a:cxn ang="0">
                  <a:pos x="360" y="509"/>
                </a:cxn>
                <a:cxn ang="0">
                  <a:pos x="385" y="533"/>
                </a:cxn>
                <a:cxn ang="0">
                  <a:pos x="382" y="563"/>
                </a:cxn>
                <a:cxn ang="0">
                  <a:pos x="356" y="608"/>
                </a:cxn>
                <a:cxn ang="0">
                  <a:pos x="353" y="640"/>
                </a:cxn>
                <a:cxn ang="0">
                  <a:pos x="379" y="674"/>
                </a:cxn>
                <a:cxn ang="0">
                  <a:pos x="423" y="690"/>
                </a:cxn>
                <a:cxn ang="0">
                  <a:pos x="465" y="687"/>
                </a:cxn>
                <a:cxn ang="0">
                  <a:pos x="510" y="666"/>
                </a:cxn>
                <a:cxn ang="0">
                  <a:pos x="543" y="637"/>
                </a:cxn>
                <a:cxn ang="0">
                  <a:pos x="556" y="593"/>
                </a:cxn>
                <a:cxn ang="0">
                  <a:pos x="574" y="567"/>
                </a:cxn>
                <a:cxn ang="0">
                  <a:pos x="630" y="547"/>
                </a:cxn>
                <a:cxn ang="0">
                  <a:pos x="698" y="531"/>
                </a:cxn>
                <a:cxn ang="0">
                  <a:pos x="832" y="520"/>
                </a:cxn>
                <a:cxn ang="0">
                  <a:pos x="930" y="516"/>
                </a:cxn>
                <a:cxn ang="0">
                  <a:pos x="955" y="486"/>
                </a:cxn>
                <a:cxn ang="0">
                  <a:pos x="985" y="454"/>
                </a:cxn>
                <a:cxn ang="0">
                  <a:pos x="1011" y="420"/>
                </a:cxn>
                <a:cxn ang="0">
                  <a:pos x="1022" y="384"/>
                </a:cxn>
                <a:cxn ang="0">
                  <a:pos x="1013" y="342"/>
                </a:cxn>
                <a:cxn ang="0">
                  <a:pos x="986" y="325"/>
                </a:cxn>
                <a:cxn ang="0">
                  <a:pos x="951" y="333"/>
                </a:cxn>
                <a:cxn ang="0">
                  <a:pos x="920" y="373"/>
                </a:cxn>
                <a:cxn ang="0">
                  <a:pos x="881" y="403"/>
                </a:cxn>
                <a:cxn ang="0">
                  <a:pos x="840" y="405"/>
                </a:cxn>
                <a:cxn ang="0">
                  <a:pos x="809" y="389"/>
                </a:cxn>
                <a:cxn ang="0">
                  <a:pos x="793" y="361"/>
                </a:cxn>
                <a:cxn ang="0">
                  <a:pos x="791" y="320"/>
                </a:cxn>
                <a:cxn ang="0">
                  <a:pos x="815" y="286"/>
                </a:cxn>
                <a:cxn ang="0">
                  <a:pos x="860" y="262"/>
                </a:cxn>
                <a:cxn ang="0">
                  <a:pos x="899" y="235"/>
                </a:cxn>
                <a:cxn ang="0">
                  <a:pos x="916" y="188"/>
                </a:cxn>
                <a:cxn ang="0">
                  <a:pos x="908" y="142"/>
                </a:cxn>
                <a:cxn ang="0">
                  <a:pos x="886" y="92"/>
                </a:cxn>
                <a:cxn ang="0">
                  <a:pos x="876" y="46"/>
                </a:cxn>
                <a:cxn ang="0">
                  <a:pos x="850" y="13"/>
                </a:cxn>
                <a:cxn ang="0">
                  <a:pos x="750" y="8"/>
                </a:cxn>
                <a:cxn ang="0">
                  <a:pos x="663" y="0"/>
                </a:cxn>
                <a:cxn ang="0">
                  <a:pos x="615" y="8"/>
                </a:cxn>
                <a:cxn ang="0">
                  <a:pos x="596" y="31"/>
                </a:cxn>
                <a:cxn ang="0">
                  <a:pos x="609" y="62"/>
                </a:cxn>
                <a:cxn ang="0">
                  <a:pos x="618" y="97"/>
                </a:cxn>
                <a:cxn ang="0">
                  <a:pos x="600" y="130"/>
                </a:cxn>
                <a:cxn ang="0">
                  <a:pos x="562" y="153"/>
                </a:cxn>
                <a:cxn ang="0">
                  <a:pos x="518" y="162"/>
                </a:cxn>
                <a:cxn ang="0">
                  <a:pos x="478" y="162"/>
                </a:cxn>
                <a:cxn ang="0">
                  <a:pos x="446" y="154"/>
                </a:cxn>
                <a:cxn ang="0">
                  <a:pos x="421" y="133"/>
                </a:cxn>
                <a:cxn ang="0">
                  <a:pos x="398" y="104"/>
                </a:cxn>
                <a:cxn ang="0">
                  <a:pos x="372" y="70"/>
                </a:cxn>
                <a:cxn ang="0">
                  <a:pos x="338" y="44"/>
                </a:cxn>
                <a:cxn ang="0">
                  <a:pos x="293" y="32"/>
                </a:cxn>
                <a:cxn ang="0">
                  <a:pos x="240" y="30"/>
                </a:cxn>
                <a:cxn ang="0">
                  <a:pos x="186" y="37"/>
                </a:cxn>
                <a:cxn ang="0">
                  <a:pos x="120" y="50"/>
                </a:cxn>
              </a:cxnLst>
              <a:rect l="0" t="0" r="r" b="b"/>
              <a:pathLst>
                <a:path w="1023" h="692">
                  <a:moveTo>
                    <a:pt x="120" y="50"/>
                  </a:moveTo>
                  <a:lnTo>
                    <a:pt x="0" y="565"/>
                  </a:lnTo>
                  <a:lnTo>
                    <a:pt x="15" y="564"/>
                  </a:lnTo>
                  <a:lnTo>
                    <a:pt x="32" y="562"/>
                  </a:lnTo>
                  <a:lnTo>
                    <a:pt x="63" y="556"/>
                  </a:lnTo>
                  <a:lnTo>
                    <a:pt x="86" y="551"/>
                  </a:lnTo>
                  <a:lnTo>
                    <a:pt x="115" y="545"/>
                  </a:lnTo>
                  <a:lnTo>
                    <a:pt x="147" y="537"/>
                  </a:lnTo>
                  <a:lnTo>
                    <a:pt x="177" y="528"/>
                  </a:lnTo>
                  <a:lnTo>
                    <a:pt x="205" y="518"/>
                  </a:lnTo>
                  <a:lnTo>
                    <a:pt x="237" y="507"/>
                  </a:lnTo>
                  <a:lnTo>
                    <a:pt x="258" y="502"/>
                  </a:lnTo>
                  <a:lnTo>
                    <a:pt x="276" y="499"/>
                  </a:lnTo>
                  <a:lnTo>
                    <a:pt x="292" y="498"/>
                  </a:lnTo>
                  <a:lnTo>
                    <a:pt x="307" y="498"/>
                  </a:lnTo>
                  <a:lnTo>
                    <a:pt x="329" y="501"/>
                  </a:lnTo>
                  <a:lnTo>
                    <a:pt x="344" y="504"/>
                  </a:lnTo>
                  <a:lnTo>
                    <a:pt x="360" y="509"/>
                  </a:lnTo>
                  <a:lnTo>
                    <a:pt x="371" y="515"/>
                  </a:lnTo>
                  <a:lnTo>
                    <a:pt x="379" y="522"/>
                  </a:lnTo>
                  <a:lnTo>
                    <a:pt x="385" y="533"/>
                  </a:lnTo>
                  <a:lnTo>
                    <a:pt x="387" y="541"/>
                  </a:lnTo>
                  <a:lnTo>
                    <a:pt x="386" y="552"/>
                  </a:lnTo>
                  <a:lnTo>
                    <a:pt x="382" y="563"/>
                  </a:lnTo>
                  <a:lnTo>
                    <a:pt x="372" y="577"/>
                  </a:lnTo>
                  <a:lnTo>
                    <a:pt x="362" y="593"/>
                  </a:lnTo>
                  <a:lnTo>
                    <a:pt x="356" y="608"/>
                  </a:lnTo>
                  <a:lnTo>
                    <a:pt x="353" y="619"/>
                  </a:lnTo>
                  <a:lnTo>
                    <a:pt x="352" y="631"/>
                  </a:lnTo>
                  <a:lnTo>
                    <a:pt x="353" y="640"/>
                  </a:lnTo>
                  <a:lnTo>
                    <a:pt x="358" y="652"/>
                  </a:lnTo>
                  <a:lnTo>
                    <a:pt x="367" y="664"/>
                  </a:lnTo>
                  <a:lnTo>
                    <a:pt x="379" y="674"/>
                  </a:lnTo>
                  <a:lnTo>
                    <a:pt x="391" y="681"/>
                  </a:lnTo>
                  <a:lnTo>
                    <a:pt x="406" y="686"/>
                  </a:lnTo>
                  <a:lnTo>
                    <a:pt x="423" y="690"/>
                  </a:lnTo>
                  <a:lnTo>
                    <a:pt x="436" y="692"/>
                  </a:lnTo>
                  <a:lnTo>
                    <a:pt x="450" y="690"/>
                  </a:lnTo>
                  <a:lnTo>
                    <a:pt x="465" y="687"/>
                  </a:lnTo>
                  <a:lnTo>
                    <a:pt x="479" y="682"/>
                  </a:lnTo>
                  <a:lnTo>
                    <a:pt x="494" y="675"/>
                  </a:lnTo>
                  <a:lnTo>
                    <a:pt x="510" y="666"/>
                  </a:lnTo>
                  <a:lnTo>
                    <a:pt x="523" y="657"/>
                  </a:lnTo>
                  <a:lnTo>
                    <a:pt x="534" y="648"/>
                  </a:lnTo>
                  <a:lnTo>
                    <a:pt x="543" y="637"/>
                  </a:lnTo>
                  <a:lnTo>
                    <a:pt x="550" y="624"/>
                  </a:lnTo>
                  <a:lnTo>
                    <a:pt x="554" y="610"/>
                  </a:lnTo>
                  <a:lnTo>
                    <a:pt x="556" y="593"/>
                  </a:lnTo>
                  <a:lnTo>
                    <a:pt x="561" y="580"/>
                  </a:lnTo>
                  <a:lnTo>
                    <a:pt x="565" y="574"/>
                  </a:lnTo>
                  <a:lnTo>
                    <a:pt x="574" y="567"/>
                  </a:lnTo>
                  <a:lnTo>
                    <a:pt x="589" y="560"/>
                  </a:lnTo>
                  <a:lnTo>
                    <a:pt x="609" y="553"/>
                  </a:lnTo>
                  <a:lnTo>
                    <a:pt x="630" y="547"/>
                  </a:lnTo>
                  <a:lnTo>
                    <a:pt x="649" y="541"/>
                  </a:lnTo>
                  <a:lnTo>
                    <a:pt x="669" y="536"/>
                  </a:lnTo>
                  <a:lnTo>
                    <a:pt x="698" y="531"/>
                  </a:lnTo>
                  <a:lnTo>
                    <a:pt x="738" y="524"/>
                  </a:lnTo>
                  <a:lnTo>
                    <a:pt x="783" y="520"/>
                  </a:lnTo>
                  <a:lnTo>
                    <a:pt x="832" y="520"/>
                  </a:lnTo>
                  <a:lnTo>
                    <a:pt x="880" y="520"/>
                  </a:lnTo>
                  <a:lnTo>
                    <a:pt x="924" y="525"/>
                  </a:lnTo>
                  <a:lnTo>
                    <a:pt x="930" y="516"/>
                  </a:lnTo>
                  <a:lnTo>
                    <a:pt x="936" y="506"/>
                  </a:lnTo>
                  <a:lnTo>
                    <a:pt x="944" y="497"/>
                  </a:lnTo>
                  <a:lnTo>
                    <a:pt x="955" y="486"/>
                  </a:lnTo>
                  <a:lnTo>
                    <a:pt x="963" y="478"/>
                  </a:lnTo>
                  <a:lnTo>
                    <a:pt x="975" y="465"/>
                  </a:lnTo>
                  <a:lnTo>
                    <a:pt x="985" y="454"/>
                  </a:lnTo>
                  <a:lnTo>
                    <a:pt x="994" y="445"/>
                  </a:lnTo>
                  <a:lnTo>
                    <a:pt x="1003" y="434"/>
                  </a:lnTo>
                  <a:lnTo>
                    <a:pt x="1011" y="420"/>
                  </a:lnTo>
                  <a:lnTo>
                    <a:pt x="1014" y="411"/>
                  </a:lnTo>
                  <a:lnTo>
                    <a:pt x="1018" y="396"/>
                  </a:lnTo>
                  <a:lnTo>
                    <a:pt x="1022" y="384"/>
                  </a:lnTo>
                  <a:lnTo>
                    <a:pt x="1023" y="368"/>
                  </a:lnTo>
                  <a:lnTo>
                    <a:pt x="1019" y="355"/>
                  </a:lnTo>
                  <a:lnTo>
                    <a:pt x="1013" y="342"/>
                  </a:lnTo>
                  <a:lnTo>
                    <a:pt x="1006" y="334"/>
                  </a:lnTo>
                  <a:lnTo>
                    <a:pt x="996" y="329"/>
                  </a:lnTo>
                  <a:lnTo>
                    <a:pt x="986" y="325"/>
                  </a:lnTo>
                  <a:lnTo>
                    <a:pt x="975" y="325"/>
                  </a:lnTo>
                  <a:lnTo>
                    <a:pt x="964" y="325"/>
                  </a:lnTo>
                  <a:lnTo>
                    <a:pt x="951" y="333"/>
                  </a:lnTo>
                  <a:lnTo>
                    <a:pt x="941" y="344"/>
                  </a:lnTo>
                  <a:lnTo>
                    <a:pt x="931" y="357"/>
                  </a:lnTo>
                  <a:lnTo>
                    <a:pt x="920" y="373"/>
                  </a:lnTo>
                  <a:lnTo>
                    <a:pt x="908" y="386"/>
                  </a:lnTo>
                  <a:lnTo>
                    <a:pt x="896" y="396"/>
                  </a:lnTo>
                  <a:lnTo>
                    <a:pt x="881" y="403"/>
                  </a:lnTo>
                  <a:lnTo>
                    <a:pt x="864" y="408"/>
                  </a:lnTo>
                  <a:lnTo>
                    <a:pt x="853" y="408"/>
                  </a:lnTo>
                  <a:lnTo>
                    <a:pt x="840" y="405"/>
                  </a:lnTo>
                  <a:lnTo>
                    <a:pt x="830" y="402"/>
                  </a:lnTo>
                  <a:lnTo>
                    <a:pt x="820" y="398"/>
                  </a:lnTo>
                  <a:lnTo>
                    <a:pt x="809" y="389"/>
                  </a:lnTo>
                  <a:lnTo>
                    <a:pt x="802" y="381"/>
                  </a:lnTo>
                  <a:lnTo>
                    <a:pt x="796" y="371"/>
                  </a:lnTo>
                  <a:lnTo>
                    <a:pt x="793" y="361"/>
                  </a:lnTo>
                  <a:lnTo>
                    <a:pt x="789" y="345"/>
                  </a:lnTo>
                  <a:lnTo>
                    <a:pt x="788" y="331"/>
                  </a:lnTo>
                  <a:lnTo>
                    <a:pt x="791" y="320"/>
                  </a:lnTo>
                  <a:lnTo>
                    <a:pt x="798" y="308"/>
                  </a:lnTo>
                  <a:lnTo>
                    <a:pt x="804" y="298"/>
                  </a:lnTo>
                  <a:lnTo>
                    <a:pt x="815" y="286"/>
                  </a:lnTo>
                  <a:lnTo>
                    <a:pt x="830" y="278"/>
                  </a:lnTo>
                  <a:lnTo>
                    <a:pt x="841" y="272"/>
                  </a:lnTo>
                  <a:lnTo>
                    <a:pt x="860" y="262"/>
                  </a:lnTo>
                  <a:lnTo>
                    <a:pt x="878" y="252"/>
                  </a:lnTo>
                  <a:lnTo>
                    <a:pt x="889" y="243"/>
                  </a:lnTo>
                  <a:lnTo>
                    <a:pt x="899" y="235"/>
                  </a:lnTo>
                  <a:lnTo>
                    <a:pt x="910" y="220"/>
                  </a:lnTo>
                  <a:lnTo>
                    <a:pt x="914" y="204"/>
                  </a:lnTo>
                  <a:lnTo>
                    <a:pt x="916" y="188"/>
                  </a:lnTo>
                  <a:lnTo>
                    <a:pt x="917" y="175"/>
                  </a:lnTo>
                  <a:lnTo>
                    <a:pt x="913" y="156"/>
                  </a:lnTo>
                  <a:lnTo>
                    <a:pt x="908" y="142"/>
                  </a:lnTo>
                  <a:lnTo>
                    <a:pt x="901" y="126"/>
                  </a:lnTo>
                  <a:lnTo>
                    <a:pt x="894" y="111"/>
                  </a:lnTo>
                  <a:lnTo>
                    <a:pt x="886" y="92"/>
                  </a:lnTo>
                  <a:lnTo>
                    <a:pt x="879" y="76"/>
                  </a:lnTo>
                  <a:lnTo>
                    <a:pt x="877" y="61"/>
                  </a:lnTo>
                  <a:lnTo>
                    <a:pt x="876" y="46"/>
                  </a:lnTo>
                  <a:lnTo>
                    <a:pt x="878" y="31"/>
                  </a:lnTo>
                  <a:lnTo>
                    <a:pt x="878" y="15"/>
                  </a:lnTo>
                  <a:lnTo>
                    <a:pt x="850" y="13"/>
                  </a:lnTo>
                  <a:lnTo>
                    <a:pt x="812" y="13"/>
                  </a:lnTo>
                  <a:lnTo>
                    <a:pt x="777" y="10"/>
                  </a:lnTo>
                  <a:lnTo>
                    <a:pt x="750" y="8"/>
                  </a:lnTo>
                  <a:lnTo>
                    <a:pt x="722" y="5"/>
                  </a:lnTo>
                  <a:lnTo>
                    <a:pt x="689" y="2"/>
                  </a:lnTo>
                  <a:lnTo>
                    <a:pt x="663" y="0"/>
                  </a:lnTo>
                  <a:lnTo>
                    <a:pt x="644" y="1"/>
                  </a:lnTo>
                  <a:lnTo>
                    <a:pt x="626" y="4"/>
                  </a:lnTo>
                  <a:lnTo>
                    <a:pt x="615" y="8"/>
                  </a:lnTo>
                  <a:lnTo>
                    <a:pt x="606" y="14"/>
                  </a:lnTo>
                  <a:lnTo>
                    <a:pt x="599" y="22"/>
                  </a:lnTo>
                  <a:lnTo>
                    <a:pt x="596" y="31"/>
                  </a:lnTo>
                  <a:lnTo>
                    <a:pt x="598" y="40"/>
                  </a:lnTo>
                  <a:lnTo>
                    <a:pt x="602" y="50"/>
                  </a:lnTo>
                  <a:lnTo>
                    <a:pt x="609" y="62"/>
                  </a:lnTo>
                  <a:lnTo>
                    <a:pt x="615" y="73"/>
                  </a:lnTo>
                  <a:lnTo>
                    <a:pt x="618" y="85"/>
                  </a:lnTo>
                  <a:lnTo>
                    <a:pt x="618" y="97"/>
                  </a:lnTo>
                  <a:lnTo>
                    <a:pt x="615" y="109"/>
                  </a:lnTo>
                  <a:lnTo>
                    <a:pt x="608" y="120"/>
                  </a:lnTo>
                  <a:lnTo>
                    <a:pt x="600" y="130"/>
                  </a:lnTo>
                  <a:lnTo>
                    <a:pt x="589" y="139"/>
                  </a:lnTo>
                  <a:lnTo>
                    <a:pt x="576" y="147"/>
                  </a:lnTo>
                  <a:lnTo>
                    <a:pt x="562" y="153"/>
                  </a:lnTo>
                  <a:lnTo>
                    <a:pt x="547" y="157"/>
                  </a:lnTo>
                  <a:lnTo>
                    <a:pt x="533" y="160"/>
                  </a:lnTo>
                  <a:lnTo>
                    <a:pt x="518" y="162"/>
                  </a:lnTo>
                  <a:lnTo>
                    <a:pt x="504" y="164"/>
                  </a:lnTo>
                  <a:lnTo>
                    <a:pt x="491" y="164"/>
                  </a:lnTo>
                  <a:lnTo>
                    <a:pt x="478" y="162"/>
                  </a:lnTo>
                  <a:lnTo>
                    <a:pt x="466" y="160"/>
                  </a:lnTo>
                  <a:lnTo>
                    <a:pt x="455" y="157"/>
                  </a:lnTo>
                  <a:lnTo>
                    <a:pt x="446" y="154"/>
                  </a:lnTo>
                  <a:lnTo>
                    <a:pt x="436" y="148"/>
                  </a:lnTo>
                  <a:lnTo>
                    <a:pt x="428" y="142"/>
                  </a:lnTo>
                  <a:lnTo>
                    <a:pt x="421" y="133"/>
                  </a:lnTo>
                  <a:lnTo>
                    <a:pt x="412" y="123"/>
                  </a:lnTo>
                  <a:lnTo>
                    <a:pt x="405" y="113"/>
                  </a:lnTo>
                  <a:lnTo>
                    <a:pt x="398" y="104"/>
                  </a:lnTo>
                  <a:lnTo>
                    <a:pt x="390" y="92"/>
                  </a:lnTo>
                  <a:lnTo>
                    <a:pt x="382" y="81"/>
                  </a:lnTo>
                  <a:lnTo>
                    <a:pt x="372" y="70"/>
                  </a:lnTo>
                  <a:lnTo>
                    <a:pt x="361" y="59"/>
                  </a:lnTo>
                  <a:lnTo>
                    <a:pt x="350" y="51"/>
                  </a:lnTo>
                  <a:lnTo>
                    <a:pt x="338" y="44"/>
                  </a:lnTo>
                  <a:lnTo>
                    <a:pt x="325" y="39"/>
                  </a:lnTo>
                  <a:lnTo>
                    <a:pt x="311" y="35"/>
                  </a:lnTo>
                  <a:lnTo>
                    <a:pt x="293" y="32"/>
                  </a:lnTo>
                  <a:lnTo>
                    <a:pt x="273" y="31"/>
                  </a:lnTo>
                  <a:lnTo>
                    <a:pt x="256" y="30"/>
                  </a:lnTo>
                  <a:lnTo>
                    <a:pt x="240" y="30"/>
                  </a:lnTo>
                  <a:lnTo>
                    <a:pt x="221" y="31"/>
                  </a:lnTo>
                  <a:lnTo>
                    <a:pt x="204" y="34"/>
                  </a:lnTo>
                  <a:lnTo>
                    <a:pt x="186" y="37"/>
                  </a:lnTo>
                  <a:lnTo>
                    <a:pt x="166" y="41"/>
                  </a:lnTo>
                  <a:lnTo>
                    <a:pt x="146" y="45"/>
                  </a:lnTo>
                  <a:lnTo>
                    <a:pt x="120" y="50"/>
                  </a:lnTo>
                  <a:close/>
                </a:path>
              </a:pathLst>
            </a:custGeom>
            <a:gradFill rotWithShape="0">
              <a:gsLst>
                <a:gs pos="0">
                  <a:srgbClr val="006699"/>
                </a:gs>
                <a:gs pos="100000">
                  <a:srgbClr val="006699">
                    <a:gamma/>
                    <a:shade val="46275"/>
                    <a:invGamma/>
                  </a:srgbClr>
                </a:gs>
              </a:gsLst>
              <a:path path="rect">
                <a:fillToRect l="50000" t="50000" r="50000" b="50000"/>
              </a:path>
            </a:gradFill>
            <a:ln w="12700">
              <a:solidFill>
                <a:schemeClr val="tx2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ar-EG"/>
            </a:p>
          </p:txBody>
        </p:sp>
        <p:grpSp>
          <p:nvGrpSpPr>
            <p:cNvPr id="12" name="Group 11"/>
            <p:cNvGrpSpPr>
              <a:grpSpLocks/>
            </p:cNvGrpSpPr>
            <p:nvPr/>
          </p:nvGrpSpPr>
          <p:grpSpPr bwMode="auto">
            <a:xfrm>
              <a:off x="3478213" y="3786188"/>
              <a:ext cx="2166937" cy="1966912"/>
              <a:chOff x="2403" y="2172"/>
              <a:chExt cx="984" cy="716"/>
            </a:xfrm>
          </p:grpSpPr>
          <p:sp>
            <p:nvSpPr>
              <p:cNvPr id="29" name="Rectangle 12"/>
              <p:cNvSpPr>
                <a:spLocks noChangeArrowheads="1"/>
              </p:cNvSpPr>
              <p:nvPr/>
            </p:nvSpPr>
            <p:spPr bwMode="auto">
              <a:xfrm>
                <a:off x="2500" y="2795"/>
                <a:ext cx="805" cy="93"/>
              </a:xfrm>
              <a:prstGeom prst="rect">
                <a:avLst/>
              </a:prstGeom>
              <a:gradFill rotWithShape="0">
                <a:gsLst>
                  <a:gs pos="0">
                    <a:srgbClr val="006699"/>
                  </a:gs>
                  <a:gs pos="100000">
                    <a:srgbClr val="006699">
                      <a:gamma/>
                      <a:shade val="46275"/>
                      <a:invGamma/>
                    </a:srgbClr>
                  </a:gs>
                </a:gsLst>
                <a:path path="shape">
                  <a:fillToRect l="50000" t="50000" r="50000" b="50000"/>
                </a:path>
              </a:gradFill>
              <a:ln w="127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ar-EG"/>
              </a:p>
            </p:txBody>
          </p:sp>
          <p:sp>
            <p:nvSpPr>
              <p:cNvPr id="30" name="Freeform 13"/>
              <p:cNvSpPr>
                <a:spLocks/>
              </p:cNvSpPr>
              <p:nvPr/>
            </p:nvSpPr>
            <p:spPr bwMode="auto">
              <a:xfrm>
                <a:off x="2403" y="2172"/>
                <a:ext cx="984" cy="620"/>
              </a:xfrm>
              <a:custGeom>
                <a:avLst/>
                <a:gdLst/>
                <a:ahLst/>
                <a:cxnLst>
                  <a:cxn ang="0">
                    <a:pos x="875" y="121"/>
                  </a:cxn>
                  <a:cxn ang="0">
                    <a:pos x="805" y="133"/>
                  </a:cxn>
                  <a:cxn ang="0">
                    <a:pos x="727" y="161"/>
                  </a:cxn>
                  <a:cxn ang="0">
                    <a:pos x="638" y="193"/>
                  </a:cxn>
                  <a:cxn ang="0">
                    <a:pos x="561" y="206"/>
                  </a:cxn>
                  <a:cxn ang="0">
                    <a:pos x="507" y="189"/>
                  </a:cxn>
                  <a:cxn ang="0">
                    <a:pos x="492" y="157"/>
                  </a:cxn>
                  <a:cxn ang="0">
                    <a:pos x="516" y="115"/>
                  </a:cxn>
                  <a:cxn ang="0">
                    <a:pos x="571" y="85"/>
                  </a:cxn>
                  <a:cxn ang="0">
                    <a:pos x="634" y="63"/>
                  </a:cxn>
                  <a:cxn ang="0">
                    <a:pos x="659" y="27"/>
                  </a:cxn>
                  <a:cxn ang="0">
                    <a:pos x="623" y="1"/>
                  </a:cxn>
                  <a:cxn ang="0">
                    <a:pos x="545" y="3"/>
                  </a:cxn>
                  <a:cxn ang="0">
                    <a:pos x="469" y="29"/>
                  </a:cxn>
                  <a:cxn ang="0">
                    <a:pos x="385" y="76"/>
                  </a:cxn>
                  <a:cxn ang="0">
                    <a:pos x="303" y="114"/>
                  </a:cxn>
                  <a:cxn ang="0">
                    <a:pos x="213" y="130"/>
                  </a:cxn>
                  <a:cxn ang="0">
                    <a:pos x="136" y="132"/>
                  </a:cxn>
                  <a:cxn ang="0">
                    <a:pos x="158" y="215"/>
                  </a:cxn>
                  <a:cxn ang="0">
                    <a:pos x="180" y="284"/>
                  </a:cxn>
                  <a:cxn ang="0">
                    <a:pos x="162" y="326"/>
                  </a:cxn>
                  <a:cxn ang="0">
                    <a:pos x="125" y="336"/>
                  </a:cxn>
                  <a:cxn ang="0">
                    <a:pos x="85" y="320"/>
                  </a:cxn>
                  <a:cxn ang="0">
                    <a:pos x="38" y="307"/>
                  </a:cxn>
                  <a:cxn ang="0">
                    <a:pos x="7" y="337"/>
                  </a:cxn>
                  <a:cxn ang="0">
                    <a:pos x="2" y="386"/>
                  </a:cxn>
                  <a:cxn ang="0">
                    <a:pos x="29" y="441"/>
                  </a:cxn>
                  <a:cxn ang="0">
                    <a:pos x="82" y="467"/>
                  </a:cxn>
                  <a:cxn ang="0">
                    <a:pos x="150" y="467"/>
                  </a:cxn>
                  <a:cxn ang="0">
                    <a:pos x="176" y="494"/>
                  </a:cxn>
                  <a:cxn ang="0">
                    <a:pos x="152" y="554"/>
                  </a:cxn>
                  <a:cxn ang="0">
                    <a:pos x="115" y="608"/>
                  </a:cxn>
                  <a:cxn ang="0">
                    <a:pos x="913" y="594"/>
                  </a:cxn>
                  <a:cxn ang="0">
                    <a:pos x="935" y="553"/>
                  </a:cxn>
                  <a:cxn ang="0">
                    <a:pos x="970" y="517"/>
                  </a:cxn>
                  <a:cxn ang="0">
                    <a:pos x="983" y="468"/>
                  </a:cxn>
                  <a:cxn ang="0">
                    <a:pos x="959" y="435"/>
                  </a:cxn>
                  <a:cxn ang="0">
                    <a:pos x="907" y="428"/>
                  </a:cxn>
                  <a:cxn ang="0">
                    <a:pos x="846" y="442"/>
                  </a:cxn>
                  <a:cxn ang="0">
                    <a:pos x="783" y="444"/>
                  </a:cxn>
                  <a:cxn ang="0">
                    <a:pos x="741" y="414"/>
                  </a:cxn>
                  <a:cxn ang="0">
                    <a:pos x="750" y="365"/>
                  </a:cxn>
                  <a:cxn ang="0">
                    <a:pos x="791" y="333"/>
                  </a:cxn>
                  <a:cxn ang="0">
                    <a:pos x="847" y="321"/>
                  </a:cxn>
                  <a:cxn ang="0">
                    <a:pos x="905" y="303"/>
                  </a:cxn>
                  <a:cxn ang="0">
                    <a:pos x="928" y="261"/>
                  </a:cxn>
                  <a:cxn ang="0">
                    <a:pos x="925" y="196"/>
                  </a:cxn>
                  <a:cxn ang="0">
                    <a:pos x="914" y="131"/>
                  </a:cxn>
                </a:cxnLst>
                <a:rect l="0" t="0" r="r" b="b"/>
                <a:pathLst>
                  <a:path w="984" h="620">
                    <a:moveTo>
                      <a:pt x="914" y="131"/>
                    </a:moveTo>
                    <a:lnTo>
                      <a:pt x="906" y="127"/>
                    </a:lnTo>
                    <a:lnTo>
                      <a:pt x="890" y="123"/>
                    </a:lnTo>
                    <a:lnTo>
                      <a:pt x="875" y="121"/>
                    </a:lnTo>
                    <a:lnTo>
                      <a:pt x="859" y="123"/>
                    </a:lnTo>
                    <a:lnTo>
                      <a:pt x="839" y="126"/>
                    </a:lnTo>
                    <a:lnTo>
                      <a:pt x="824" y="128"/>
                    </a:lnTo>
                    <a:lnTo>
                      <a:pt x="805" y="133"/>
                    </a:lnTo>
                    <a:lnTo>
                      <a:pt x="788" y="138"/>
                    </a:lnTo>
                    <a:lnTo>
                      <a:pt x="766" y="145"/>
                    </a:lnTo>
                    <a:lnTo>
                      <a:pt x="746" y="152"/>
                    </a:lnTo>
                    <a:lnTo>
                      <a:pt x="727" y="161"/>
                    </a:lnTo>
                    <a:lnTo>
                      <a:pt x="708" y="169"/>
                    </a:lnTo>
                    <a:lnTo>
                      <a:pt x="685" y="178"/>
                    </a:lnTo>
                    <a:lnTo>
                      <a:pt x="663" y="185"/>
                    </a:lnTo>
                    <a:lnTo>
                      <a:pt x="638" y="193"/>
                    </a:lnTo>
                    <a:lnTo>
                      <a:pt x="613" y="200"/>
                    </a:lnTo>
                    <a:lnTo>
                      <a:pt x="597" y="204"/>
                    </a:lnTo>
                    <a:lnTo>
                      <a:pt x="580" y="206"/>
                    </a:lnTo>
                    <a:lnTo>
                      <a:pt x="561" y="206"/>
                    </a:lnTo>
                    <a:lnTo>
                      <a:pt x="541" y="203"/>
                    </a:lnTo>
                    <a:lnTo>
                      <a:pt x="528" y="200"/>
                    </a:lnTo>
                    <a:lnTo>
                      <a:pt x="517" y="195"/>
                    </a:lnTo>
                    <a:lnTo>
                      <a:pt x="507" y="189"/>
                    </a:lnTo>
                    <a:lnTo>
                      <a:pt x="500" y="183"/>
                    </a:lnTo>
                    <a:lnTo>
                      <a:pt x="496" y="175"/>
                    </a:lnTo>
                    <a:lnTo>
                      <a:pt x="492" y="166"/>
                    </a:lnTo>
                    <a:lnTo>
                      <a:pt x="492" y="157"/>
                    </a:lnTo>
                    <a:lnTo>
                      <a:pt x="495" y="146"/>
                    </a:lnTo>
                    <a:lnTo>
                      <a:pt x="500" y="135"/>
                    </a:lnTo>
                    <a:lnTo>
                      <a:pt x="507" y="126"/>
                    </a:lnTo>
                    <a:lnTo>
                      <a:pt x="516" y="115"/>
                    </a:lnTo>
                    <a:lnTo>
                      <a:pt x="525" y="109"/>
                    </a:lnTo>
                    <a:lnTo>
                      <a:pt x="537" y="100"/>
                    </a:lnTo>
                    <a:lnTo>
                      <a:pt x="554" y="91"/>
                    </a:lnTo>
                    <a:lnTo>
                      <a:pt x="571" y="85"/>
                    </a:lnTo>
                    <a:lnTo>
                      <a:pt x="588" y="81"/>
                    </a:lnTo>
                    <a:lnTo>
                      <a:pt x="603" y="76"/>
                    </a:lnTo>
                    <a:lnTo>
                      <a:pt x="620" y="70"/>
                    </a:lnTo>
                    <a:lnTo>
                      <a:pt x="634" y="63"/>
                    </a:lnTo>
                    <a:lnTo>
                      <a:pt x="647" y="56"/>
                    </a:lnTo>
                    <a:lnTo>
                      <a:pt x="657" y="48"/>
                    </a:lnTo>
                    <a:lnTo>
                      <a:pt x="661" y="38"/>
                    </a:lnTo>
                    <a:lnTo>
                      <a:pt x="659" y="27"/>
                    </a:lnTo>
                    <a:lnTo>
                      <a:pt x="652" y="17"/>
                    </a:lnTo>
                    <a:lnTo>
                      <a:pt x="645" y="10"/>
                    </a:lnTo>
                    <a:lnTo>
                      <a:pt x="635" y="5"/>
                    </a:lnTo>
                    <a:lnTo>
                      <a:pt x="623" y="1"/>
                    </a:lnTo>
                    <a:lnTo>
                      <a:pt x="607" y="0"/>
                    </a:lnTo>
                    <a:lnTo>
                      <a:pt x="591" y="0"/>
                    </a:lnTo>
                    <a:lnTo>
                      <a:pt x="568" y="1"/>
                    </a:lnTo>
                    <a:lnTo>
                      <a:pt x="545" y="3"/>
                    </a:lnTo>
                    <a:lnTo>
                      <a:pt x="530" y="7"/>
                    </a:lnTo>
                    <a:lnTo>
                      <a:pt x="508" y="13"/>
                    </a:lnTo>
                    <a:lnTo>
                      <a:pt x="485" y="21"/>
                    </a:lnTo>
                    <a:lnTo>
                      <a:pt x="469" y="29"/>
                    </a:lnTo>
                    <a:lnTo>
                      <a:pt x="450" y="39"/>
                    </a:lnTo>
                    <a:lnTo>
                      <a:pt x="432" y="48"/>
                    </a:lnTo>
                    <a:lnTo>
                      <a:pt x="413" y="60"/>
                    </a:lnTo>
                    <a:lnTo>
                      <a:pt x="385" y="76"/>
                    </a:lnTo>
                    <a:lnTo>
                      <a:pt x="366" y="88"/>
                    </a:lnTo>
                    <a:lnTo>
                      <a:pt x="349" y="98"/>
                    </a:lnTo>
                    <a:lnTo>
                      <a:pt x="325" y="107"/>
                    </a:lnTo>
                    <a:lnTo>
                      <a:pt x="303" y="114"/>
                    </a:lnTo>
                    <a:lnTo>
                      <a:pt x="280" y="120"/>
                    </a:lnTo>
                    <a:lnTo>
                      <a:pt x="256" y="124"/>
                    </a:lnTo>
                    <a:lnTo>
                      <a:pt x="232" y="128"/>
                    </a:lnTo>
                    <a:lnTo>
                      <a:pt x="213" y="130"/>
                    </a:lnTo>
                    <a:lnTo>
                      <a:pt x="192" y="132"/>
                    </a:lnTo>
                    <a:lnTo>
                      <a:pt x="172" y="132"/>
                    </a:lnTo>
                    <a:lnTo>
                      <a:pt x="152" y="133"/>
                    </a:lnTo>
                    <a:lnTo>
                      <a:pt x="136" y="132"/>
                    </a:lnTo>
                    <a:lnTo>
                      <a:pt x="138" y="148"/>
                    </a:lnTo>
                    <a:lnTo>
                      <a:pt x="143" y="169"/>
                    </a:lnTo>
                    <a:lnTo>
                      <a:pt x="149" y="190"/>
                    </a:lnTo>
                    <a:lnTo>
                      <a:pt x="158" y="215"/>
                    </a:lnTo>
                    <a:lnTo>
                      <a:pt x="165" y="235"/>
                    </a:lnTo>
                    <a:lnTo>
                      <a:pt x="174" y="252"/>
                    </a:lnTo>
                    <a:lnTo>
                      <a:pt x="179" y="268"/>
                    </a:lnTo>
                    <a:lnTo>
                      <a:pt x="180" y="284"/>
                    </a:lnTo>
                    <a:lnTo>
                      <a:pt x="179" y="298"/>
                    </a:lnTo>
                    <a:lnTo>
                      <a:pt x="174" y="309"/>
                    </a:lnTo>
                    <a:lnTo>
                      <a:pt x="168" y="318"/>
                    </a:lnTo>
                    <a:lnTo>
                      <a:pt x="162" y="326"/>
                    </a:lnTo>
                    <a:lnTo>
                      <a:pt x="153" y="332"/>
                    </a:lnTo>
                    <a:lnTo>
                      <a:pt x="145" y="335"/>
                    </a:lnTo>
                    <a:lnTo>
                      <a:pt x="137" y="337"/>
                    </a:lnTo>
                    <a:lnTo>
                      <a:pt x="125" y="336"/>
                    </a:lnTo>
                    <a:lnTo>
                      <a:pt x="116" y="333"/>
                    </a:lnTo>
                    <a:lnTo>
                      <a:pt x="105" y="330"/>
                    </a:lnTo>
                    <a:lnTo>
                      <a:pt x="97" y="326"/>
                    </a:lnTo>
                    <a:lnTo>
                      <a:pt x="85" y="320"/>
                    </a:lnTo>
                    <a:lnTo>
                      <a:pt x="76" y="315"/>
                    </a:lnTo>
                    <a:lnTo>
                      <a:pt x="67" y="311"/>
                    </a:lnTo>
                    <a:lnTo>
                      <a:pt x="57" y="307"/>
                    </a:lnTo>
                    <a:lnTo>
                      <a:pt x="38" y="307"/>
                    </a:lnTo>
                    <a:lnTo>
                      <a:pt x="28" y="311"/>
                    </a:lnTo>
                    <a:lnTo>
                      <a:pt x="19" y="317"/>
                    </a:lnTo>
                    <a:lnTo>
                      <a:pt x="13" y="326"/>
                    </a:lnTo>
                    <a:lnTo>
                      <a:pt x="7" y="337"/>
                    </a:lnTo>
                    <a:lnTo>
                      <a:pt x="3" y="348"/>
                    </a:lnTo>
                    <a:lnTo>
                      <a:pt x="0" y="360"/>
                    </a:lnTo>
                    <a:lnTo>
                      <a:pt x="0" y="374"/>
                    </a:lnTo>
                    <a:lnTo>
                      <a:pt x="2" y="386"/>
                    </a:lnTo>
                    <a:lnTo>
                      <a:pt x="5" y="400"/>
                    </a:lnTo>
                    <a:lnTo>
                      <a:pt x="12" y="413"/>
                    </a:lnTo>
                    <a:lnTo>
                      <a:pt x="19" y="427"/>
                    </a:lnTo>
                    <a:lnTo>
                      <a:pt x="29" y="441"/>
                    </a:lnTo>
                    <a:lnTo>
                      <a:pt x="40" y="449"/>
                    </a:lnTo>
                    <a:lnTo>
                      <a:pt x="54" y="458"/>
                    </a:lnTo>
                    <a:lnTo>
                      <a:pt x="67" y="464"/>
                    </a:lnTo>
                    <a:lnTo>
                      <a:pt x="82" y="467"/>
                    </a:lnTo>
                    <a:lnTo>
                      <a:pt x="95" y="470"/>
                    </a:lnTo>
                    <a:lnTo>
                      <a:pt x="115" y="470"/>
                    </a:lnTo>
                    <a:lnTo>
                      <a:pt x="131" y="468"/>
                    </a:lnTo>
                    <a:lnTo>
                      <a:pt x="150" y="467"/>
                    </a:lnTo>
                    <a:lnTo>
                      <a:pt x="164" y="467"/>
                    </a:lnTo>
                    <a:lnTo>
                      <a:pt x="173" y="473"/>
                    </a:lnTo>
                    <a:lnTo>
                      <a:pt x="176" y="483"/>
                    </a:lnTo>
                    <a:lnTo>
                      <a:pt x="176" y="494"/>
                    </a:lnTo>
                    <a:lnTo>
                      <a:pt x="171" y="509"/>
                    </a:lnTo>
                    <a:lnTo>
                      <a:pt x="166" y="524"/>
                    </a:lnTo>
                    <a:lnTo>
                      <a:pt x="160" y="537"/>
                    </a:lnTo>
                    <a:lnTo>
                      <a:pt x="152" y="554"/>
                    </a:lnTo>
                    <a:lnTo>
                      <a:pt x="143" y="569"/>
                    </a:lnTo>
                    <a:lnTo>
                      <a:pt x="134" y="583"/>
                    </a:lnTo>
                    <a:lnTo>
                      <a:pt x="123" y="597"/>
                    </a:lnTo>
                    <a:lnTo>
                      <a:pt x="115" y="608"/>
                    </a:lnTo>
                    <a:lnTo>
                      <a:pt x="98" y="620"/>
                    </a:lnTo>
                    <a:lnTo>
                      <a:pt x="909" y="619"/>
                    </a:lnTo>
                    <a:lnTo>
                      <a:pt x="910" y="606"/>
                    </a:lnTo>
                    <a:lnTo>
                      <a:pt x="913" y="594"/>
                    </a:lnTo>
                    <a:lnTo>
                      <a:pt x="917" y="583"/>
                    </a:lnTo>
                    <a:lnTo>
                      <a:pt x="921" y="574"/>
                    </a:lnTo>
                    <a:lnTo>
                      <a:pt x="927" y="564"/>
                    </a:lnTo>
                    <a:lnTo>
                      <a:pt x="935" y="553"/>
                    </a:lnTo>
                    <a:lnTo>
                      <a:pt x="944" y="543"/>
                    </a:lnTo>
                    <a:lnTo>
                      <a:pt x="952" y="535"/>
                    </a:lnTo>
                    <a:lnTo>
                      <a:pt x="962" y="525"/>
                    </a:lnTo>
                    <a:lnTo>
                      <a:pt x="970" y="517"/>
                    </a:lnTo>
                    <a:lnTo>
                      <a:pt x="976" y="507"/>
                    </a:lnTo>
                    <a:lnTo>
                      <a:pt x="981" y="497"/>
                    </a:lnTo>
                    <a:lnTo>
                      <a:pt x="984" y="482"/>
                    </a:lnTo>
                    <a:lnTo>
                      <a:pt x="983" y="468"/>
                    </a:lnTo>
                    <a:lnTo>
                      <a:pt x="980" y="459"/>
                    </a:lnTo>
                    <a:lnTo>
                      <a:pt x="975" y="450"/>
                    </a:lnTo>
                    <a:lnTo>
                      <a:pt x="968" y="442"/>
                    </a:lnTo>
                    <a:lnTo>
                      <a:pt x="959" y="435"/>
                    </a:lnTo>
                    <a:lnTo>
                      <a:pt x="949" y="431"/>
                    </a:lnTo>
                    <a:lnTo>
                      <a:pt x="936" y="428"/>
                    </a:lnTo>
                    <a:lnTo>
                      <a:pt x="922" y="427"/>
                    </a:lnTo>
                    <a:lnTo>
                      <a:pt x="907" y="428"/>
                    </a:lnTo>
                    <a:lnTo>
                      <a:pt x="893" y="430"/>
                    </a:lnTo>
                    <a:lnTo>
                      <a:pt x="879" y="433"/>
                    </a:lnTo>
                    <a:lnTo>
                      <a:pt x="861" y="438"/>
                    </a:lnTo>
                    <a:lnTo>
                      <a:pt x="846" y="442"/>
                    </a:lnTo>
                    <a:lnTo>
                      <a:pt x="830" y="445"/>
                    </a:lnTo>
                    <a:lnTo>
                      <a:pt x="811" y="447"/>
                    </a:lnTo>
                    <a:lnTo>
                      <a:pt x="796" y="447"/>
                    </a:lnTo>
                    <a:lnTo>
                      <a:pt x="783" y="444"/>
                    </a:lnTo>
                    <a:lnTo>
                      <a:pt x="769" y="440"/>
                    </a:lnTo>
                    <a:lnTo>
                      <a:pt x="758" y="434"/>
                    </a:lnTo>
                    <a:lnTo>
                      <a:pt x="748" y="426"/>
                    </a:lnTo>
                    <a:lnTo>
                      <a:pt x="741" y="414"/>
                    </a:lnTo>
                    <a:lnTo>
                      <a:pt x="738" y="401"/>
                    </a:lnTo>
                    <a:lnTo>
                      <a:pt x="740" y="388"/>
                    </a:lnTo>
                    <a:lnTo>
                      <a:pt x="745" y="375"/>
                    </a:lnTo>
                    <a:lnTo>
                      <a:pt x="750" y="365"/>
                    </a:lnTo>
                    <a:lnTo>
                      <a:pt x="759" y="355"/>
                    </a:lnTo>
                    <a:lnTo>
                      <a:pt x="769" y="346"/>
                    </a:lnTo>
                    <a:lnTo>
                      <a:pt x="779" y="340"/>
                    </a:lnTo>
                    <a:lnTo>
                      <a:pt x="791" y="333"/>
                    </a:lnTo>
                    <a:lnTo>
                      <a:pt x="803" y="329"/>
                    </a:lnTo>
                    <a:lnTo>
                      <a:pt x="816" y="326"/>
                    </a:lnTo>
                    <a:lnTo>
                      <a:pt x="830" y="324"/>
                    </a:lnTo>
                    <a:lnTo>
                      <a:pt x="847" y="321"/>
                    </a:lnTo>
                    <a:lnTo>
                      <a:pt x="865" y="319"/>
                    </a:lnTo>
                    <a:lnTo>
                      <a:pt x="880" y="316"/>
                    </a:lnTo>
                    <a:lnTo>
                      <a:pt x="895" y="310"/>
                    </a:lnTo>
                    <a:lnTo>
                      <a:pt x="905" y="303"/>
                    </a:lnTo>
                    <a:lnTo>
                      <a:pt x="914" y="294"/>
                    </a:lnTo>
                    <a:lnTo>
                      <a:pt x="921" y="284"/>
                    </a:lnTo>
                    <a:lnTo>
                      <a:pt x="925" y="274"/>
                    </a:lnTo>
                    <a:lnTo>
                      <a:pt x="928" y="261"/>
                    </a:lnTo>
                    <a:lnTo>
                      <a:pt x="929" y="244"/>
                    </a:lnTo>
                    <a:lnTo>
                      <a:pt x="927" y="231"/>
                    </a:lnTo>
                    <a:lnTo>
                      <a:pt x="926" y="215"/>
                    </a:lnTo>
                    <a:lnTo>
                      <a:pt x="925" y="196"/>
                    </a:lnTo>
                    <a:lnTo>
                      <a:pt x="924" y="173"/>
                    </a:lnTo>
                    <a:lnTo>
                      <a:pt x="924" y="151"/>
                    </a:lnTo>
                    <a:lnTo>
                      <a:pt x="925" y="138"/>
                    </a:lnTo>
                    <a:lnTo>
                      <a:pt x="914" y="131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99"/>
                  </a:gs>
                  <a:gs pos="100000">
                    <a:srgbClr val="006699">
                      <a:gamma/>
                      <a:shade val="46275"/>
                      <a:invGamma/>
                    </a:srgbClr>
                  </a:gs>
                </a:gsLst>
                <a:path path="rect">
                  <a:fillToRect l="50000" t="50000" r="50000" b="50000"/>
                </a:path>
              </a:gradFill>
              <a:ln w="12700">
                <a:solidFill>
                  <a:schemeClr val="tx2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ar-EG"/>
              </a:p>
            </p:txBody>
          </p:sp>
        </p:grpSp>
        <p:grpSp>
          <p:nvGrpSpPr>
            <p:cNvPr id="13" name="Group 14"/>
            <p:cNvGrpSpPr>
              <a:grpSpLocks/>
            </p:cNvGrpSpPr>
            <p:nvPr/>
          </p:nvGrpSpPr>
          <p:grpSpPr bwMode="auto">
            <a:xfrm>
              <a:off x="1524000" y="4075113"/>
              <a:ext cx="2343150" cy="1674812"/>
              <a:chOff x="1516" y="2277"/>
              <a:chExt cx="1064" cy="610"/>
            </a:xfrm>
          </p:grpSpPr>
          <p:sp>
            <p:nvSpPr>
              <p:cNvPr id="27" name="Freeform 15"/>
              <p:cNvSpPr>
                <a:spLocks/>
              </p:cNvSpPr>
              <p:nvPr/>
            </p:nvSpPr>
            <p:spPr bwMode="auto">
              <a:xfrm>
                <a:off x="1516" y="2277"/>
                <a:ext cx="1064" cy="518"/>
              </a:xfrm>
              <a:custGeom>
                <a:avLst/>
                <a:gdLst/>
                <a:ahLst/>
                <a:cxnLst>
                  <a:cxn ang="0">
                    <a:pos x="96" y="67"/>
                  </a:cxn>
                  <a:cxn ang="0">
                    <a:pos x="128" y="64"/>
                  </a:cxn>
                  <a:cxn ang="0">
                    <a:pos x="182" y="53"/>
                  </a:cxn>
                  <a:cxn ang="0">
                    <a:pos x="243" y="39"/>
                  </a:cxn>
                  <a:cxn ang="0">
                    <a:pos x="302" y="20"/>
                  </a:cxn>
                  <a:cxn ang="0">
                    <a:pos x="355" y="4"/>
                  </a:cxn>
                  <a:cxn ang="0">
                    <a:pos x="389" y="0"/>
                  </a:cxn>
                  <a:cxn ang="0">
                    <a:pos x="426" y="3"/>
                  </a:cxn>
                  <a:cxn ang="0">
                    <a:pos x="457" y="11"/>
                  </a:cxn>
                  <a:cxn ang="0">
                    <a:pos x="476" y="24"/>
                  </a:cxn>
                  <a:cxn ang="0">
                    <a:pos x="484" y="43"/>
                  </a:cxn>
                  <a:cxn ang="0">
                    <a:pos x="479" y="65"/>
                  </a:cxn>
                  <a:cxn ang="0">
                    <a:pos x="459" y="96"/>
                  </a:cxn>
                  <a:cxn ang="0">
                    <a:pos x="450" y="122"/>
                  </a:cxn>
                  <a:cxn ang="0">
                    <a:pos x="450" y="143"/>
                  </a:cxn>
                  <a:cxn ang="0">
                    <a:pos x="464" y="167"/>
                  </a:cxn>
                  <a:cxn ang="0">
                    <a:pos x="488" y="185"/>
                  </a:cxn>
                  <a:cxn ang="0">
                    <a:pos x="520" y="194"/>
                  </a:cxn>
                  <a:cxn ang="0">
                    <a:pos x="548" y="194"/>
                  </a:cxn>
                  <a:cxn ang="0">
                    <a:pos x="577" y="186"/>
                  </a:cxn>
                  <a:cxn ang="0">
                    <a:pos x="608" y="169"/>
                  </a:cxn>
                  <a:cxn ang="0">
                    <a:pos x="632" y="151"/>
                  </a:cxn>
                  <a:cxn ang="0">
                    <a:pos x="648" y="127"/>
                  </a:cxn>
                  <a:cxn ang="0">
                    <a:pos x="654" y="96"/>
                  </a:cxn>
                  <a:cxn ang="0">
                    <a:pos x="663" y="76"/>
                  </a:cxn>
                  <a:cxn ang="0">
                    <a:pos x="687" y="62"/>
                  </a:cxn>
                  <a:cxn ang="0">
                    <a:pos x="728" y="49"/>
                  </a:cxn>
                  <a:cxn ang="0">
                    <a:pos x="767" y="38"/>
                  </a:cxn>
                  <a:cxn ang="0">
                    <a:pos x="837" y="26"/>
                  </a:cxn>
                  <a:cxn ang="0">
                    <a:pos x="931" y="22"/>
                  </a:cxn>
                  <a:cxn ang="0">
                    <a:pos x="1023" y="27"/>
                  </a:cxn>
                  <a:cxn ang="0">
                    <a:pos x="1028" y="56"/>
                  </a:cxn>
                  <a:cxn ang="0">
                    <a:pos x="1043" y="103"/>
                  </a:cxn>
                  <a:cxn ang="0">
                    <a:pos x="1058" y="146"/>
                  </a:cxn>
                  <a:cxn ang="0">
                    <a:pos x="1064" y="178"/>
                  </a:cxn>
                  <a:cxn ang="0">
                    <a:pos x="1059" y="201"/>
                  </a:cxn>
                  <a:cxn ang="0">
                    <a:pos x="1048" y="217"/>
                  </a:cxn>
                  <a:cxn ang="0">
                    <a:pos x="1031" y="227"/>
                  </a:cxn>
                  <a:cxn ang="0">
                    <a:pos x="1005" y="225"/>
                  </a:cxn>
                  <a:cxn ang="0">
                    <a:pos x="979" y="215"/>
                  </a:cxn>
                  <a:cxn ang="0">
                    <a:pos x="958" y="204"/>
                  </a:cxn>
                  <a:cxn ang="0">
                    <a:pos x="933" y="198"/>
                  </a:cxn>
                  <a:cxn ang="0">
                    <a:pos x="912" y="204"/>
                  </a:cxn>
                  <a:cxn ang="0">
                    <a:pos x="896" y="222"/>
                  </a:cxn>
                  <a:cxn ang="0">
                    <a:pos x="887" y="245"/>
                  </a:cxn>
                  <a:cxn ang="0">
                    <a:pos x="884" y="269"/>
                  </a:cxn>
                  <a:cxn ang="0">
                    <a:pos x="891" y="301"/>
                  </a:cxn>
                  <a:cxn ang="0">
                    <a:pos x="908" y="328"/>
                  </a:cxn>
                  <a:cxn ang="0">
                    <a:pos x="924" y="345"/>
                  </a:cxn>
                  <a:cxn ang="0">
                    <a:pos x="951" y="362"/>
                  </a:cxn>
                  <a:cxn ang="0">
                    <a:pos x="983" y="369"/>
                  </a:cxn>
                  <a:cxn ang="0">
                    <a:pos x="1019" y="368"/>
                  </a:cxn>
                  <a:cxn ang="0">
                    <a:pos x="1048" y="366"/>
                  </a:cxn>
                  <a:cxn ang="0">
                    <a:pos x="1059" y="377"/>
                  </a:cxn>
                  <a:cxn ang="0">
                    <a:pos x="1059" y="391"/>
                  </a:cxn>
                  <a:cxn ang="0">
                    <a:pos x="1050" y="417"/>
                  </a:cxn>
                  <a:cxn ang="0">
                    <a:pos x="1035" y="449"/>
                  </a:cxn>
                  <a:cxn ang="0">
                    <a:pos x="1015" y="481"/>
                  </a:cxn>
                  <a:cxn ang="0">
                    <a:pos x="993" y="510"/>
                  </a:cxn>
                  <a:cxn ang="0">
                    <a:pos x="0" y="517"/>
                  </a:cxn>
                </a:cxnLst>
                <a:rect l="0" t="0" r="r" b="b"/>
                <a:pathLst>
                  <a:path w="1064" h="518">
                    <a:moveTo>
                      <a:pt x="0" y="517"/>
                    </a:moveTo>
                    <a:lnTo>
                      <a:pt x="96" y="67"/>
                    </a:lnTo>
                    <a:lnTo>
                      <a:pt x="111" y="66"/>
                    </a:lnTo>
                    <a:lnTo>
                      <a:pt x="128" y="64"/>
                    </a:lnTo>
                    <a:lnTo>
                      <a:pt x="159" y="58"/>
                    </a:lnTo>
                    <a:lnTo>
                      <a:pt x="182" y="53"/>
                    </a:lnTo>
                    <a:lnTo>
                      <a:pt x="211" y="47"/>
                    </a:lnTo>
                    <a:lnTo>
                      <a:pt x="243" y="39"/>
                    </a:lnTo>
                    <a:lnTo>
                      <a:pt x="274" y="30"/>
                    </a:lnTo>
                    <a:lnTo>
                      <a:pt x="302" y="20"/>
                    </a:lnTo>
                    <a:lnTo>
                      <a:pt x="334" y="9"/>
                    </a:lnTo>
                    <a:lnTo>
                      <a:pt x="355" y="4"/>
                    </a:lnTo>
                    <a:lnTo>
                      <a:pt x="373" y="1"/>
                    </a:lnTo>
                    <a:lnTo>
                      <a:pt x="389" y="0"/>
                    </a:lnTo>
                    <a:lnTo>
                      <a:pt x="404" y="0"/>
                    </a:lnTo>
                    <a:lnTo>
                      <a:pt x="426" y="3"/>
                    </a:lnTo>
                    <a:lnTo>
                      <a:pt x="441" y="6"/>
                    </a:lnTo>
                    <a:lnTo>
                      <a:pt x="457" y="11"/>
                    </a:lnTo>
                    <a:lnTo>
                      <a:pt x="468" y="17"/>
                    </a:lnTo>
                    <a:lnTo>
                      <a:pt x="476" y="24"/>
                    </a:lnTo>
                    <a:lnTo>
                      <a:pt x="482" y="35"/>
                    </a:lnTo>
                    <a:lnTo>
                      <a:pt x="484" y="43"/>
                    </a:lnTo>
                    <a:lnTo>
                      <a:pt x="483" y="54"/>
                    </a:lnTo>
                    <a:lnTo>
                      <a:pt x="479" y="65"/>
                    </a:lnTo>
                    <a:lnTo>
                      <a:pt x="469" y="79"/>
                    </a:lnTo>
                    <a:lnTo>
                      <a:pt x="459" y="96"/>
                    </a:lnTo>
                    <a:lnTo>
                      <a:pt x="453" y="111"/>
                    </a:lnTo>
                    <a:lnTo>
                      <a:pt x="450" y="122"/>
                    </a:lnTo>
                    <a:lnTo>
                      <a:pt x="449" y="134"/>
                    </a:lnTo>
                    <a:lnTo>
                      <a:pt x="450" y="143"/>
                    </a:lnTo>
                    <a:lnTo>
                      <a:pt x="455" y="155"/>
                    </a:lnTo>
                    <a:lnTo>
                      <a:pt x="464" y="167"/>
                    </a:lnTo>
                    <a:lnTo>
                      <a:pt x="476" y="178"/>
                    </a:lnTo>
                    <a:lnTo>
                      <a:pt x="488" y="185"/>
                    </a:lnTo>
                    <a:lnTo>
                      <a:pt x="503" y="190"/>
                    </a:lnTo>
                    <a:lnTo>
                      <a:pt x="520" y="194"/>
                    </a:lnTo>
                    <a:lnTo>
                      <a:pt x="533" y="196"/>
                    </a:lnTo>
                    <a:lnTo>
                      <a:pt x="548" y="194"/>
                    </a:lnTo>
                    <a:lnTo>
                      <a:pt x="563" y="191"/>
                    </a:lnTo>
                    <a:lnTo>
                      <a:pt x="577" y="186"/>
                    </a:lnTo>
                    <a:lnTo>
                      <a:pt x="592" y="179"/>
                    </a:lnTo>
                    <a:lnTo>
                      <a:pt x="608" y="169"/>
                    </a:lnTo>
                    <a:lnTo>
                      <a:pt x="621" y="160"/>
                    </a:lnTo>
                    <a:lnTo>
                      <a:pt x="632" y="151"/>
                    </a:lnTo>
                    <a:lnTo>
                      <a:pt x="641" y="140"/>
                    </a:lnTo>
                    <a:lnTo>
                      <a:pt x="648" y="127"/>
                    </a:lnTo>
                    <a:lnTo>
                      <a:pt x="652" y="113"/>
                    </a:lnTo>
                    <a:lnTo>
                      <a:pt x="654" y="96"/>
                    </a:lnTo>
                    <a:lnTo>
                      <a:pt x="659" y="82"/>
                    </a:lnTo>
                    <a:lnTo>
                      <a:pt x="663" y="76"/>
                    </a:lnTo>
                    <a:lnTo>
                      <a:pt x="672" y="69"/>
                    </a:lnTo>
                    <a:lnTo>
                      <a:pt x="687" y="62"/>
                    </a:lnTo>
                    <a:lnTo>
                      <a:pt x="707" y="55"/>
                    </a:lnTo>
                    <a:lnTo>
                      <a:pt x="728" y="49"/>
                    </a:lnTo>
                    <a:lnTo>
                      <a:pt x="747" y="43"/>
                    </a:lnTo>
                    <a:lnTo>
                      <a:pt x="767" y="38"/>
                    </a:lnTo>
                    <a:lnTo>
                      <a:pt x="796" y="33"/>
                    </a:lnTo>
                    <a:lnTo>
                      <a:pt x="837" y="26"/>
                    </a:lnTo>
                    <a:lnTo>
                      <a:pt x="882" y="22"/>
                    </a:lnTo>
                    <a:lnTo>
                      <a:pt x="931" y="22"/>
                    </a:lnTo>
                    <a:lnTo>
                      <a:pt x="979" y="22"/>
                    </a:lnTo>
                    <a:lnTo>
                      <a:pt x="1023" y="27"/>
                    </a:lnTo>
                    <a:lnTo>
                      <a:pt x="1025" y="40"/>
                    </a:lnTo>
                    <a:lnTo>
                      <a:pt x="1028" y="56"/>
                    </a:lnTo>
                    <a:lnTo>
                      <a:pt x="1034" y="78"/>
                    </a:lnTo>
                    <a:lnTo>
                      <a:pt x="1043" y="103"/>
                    </a:lnTo>
                    <a:lnTo>
                      <a:pt x="1052" y="128"/>
                    </a:lnTo>
                    <a:lnTo>
                      <a:pt x="1058" y="146"/>
                    </a:lnTo>
                    <a:lnTo>
                      <a:pt x="1062" y="163"/>
                    </a:lnTo>
                    <a:lnTo>
                      <a:pt x="1064" y="178"/>
                    </a:lnTo>
                    <a:lnTo>
                      <a:pt x="1063" y="189"/>
                    </a:lnTo>
                    <a:lnTo>
                      <a:pt x="1059" y="201"/>
                    </a:lnTo>
                    <a:lnTo>
                      <a:pt x="1053" y="211"/>
                    </a:lnTo>
                    <a:lnTo>
                      <a:pt x="1048" y="217"/>
                    </a:lnTo>
                    <a:lnTo>
                      <a:pt x="1041" y="222"/>
                    </a:lnTo>
                    <a:lnTo>
                      <a:pt x="1031" y="227"/>
                    </a:lnTo>
                    <a:lnTo>
                      <a:pt x="1018" y="228"/>
                    </a:lnTo>
                    <a:lnTo>
                      <a:pt x="1005" y="225"/>
                    </a:lnTo>
                    <a:lnTo>
                      <a:pt x="993" y="221"/>
                    </a:lnTo>
                    <a:lnTo>
                      <a:pt x="979" y="215"/>
                    </a:lnTo>
                    <a:lnTo>
                      <a:pt x="968" y="208"/>
                    </a:lnTo>
                    <a:lnTo>
                      <a:pt x="958" y="204"/>
                    </a:lnTo>
                    <a:lnTo>
                      <a:pt x="946" y="200"/>
                    </a:lnTo>
                    <a:lnTo>
                      <a:pt x="933" y="198"/>
                    </a:lnTo>
                    <a:lnTo>
                      <a:pt x="923" y="199"/>
                    </a:lnTo>
                    <a:lnTo>
                      <a:pt x="912" y="204"/>
                    </a:lnTo>
                    <a:lnTo>
                      <a:pt x="903" y="212"/>
                    </a:lnTo>
                    <a:lnTo>
                      <a:pt x="896" y="222"/>
                    </a:lnTo>
                    <a:lnTo>
                      <a:pt x="890" y="235"/>
                    </a:lnTo>
                    <a:lnTo>
                      <a:pt x="887" y="245"/>
                    </a:lnTo>
                    <a:lnTo>
                      <a:pt x="885" y="255"/>
                    </a:lnTo>
                    <a:lnTo>
                      <a:pt x="884" y="269"/>
                    </a:lnTo>
                    <a:lnTo>
                      <a:pt x="886" y="285"/>
                    </a:lnTo>
                    <a:lnTo>
                      <a:pt x="891" y="301"/>
                    </a:lnTo>
                    <a:lnTo>
                      <a:pt x="899" y="315"/>
                    </a:lnTo>
                    <a:lnTo>
                      <a:pt x="908" y="328"/>
                    </a:lnTo>
                    <a:lnTo>
                      <a:pt x="913" y="335"/>
                    </a:lnTo>
                    <a:lnTo>
                      <a:pt x="924" y="345"/>
                    </a:lnTo>
                    <a:lnTo>
                      <a:pt x="936" y="355"/>
                    </a:lnTo>
                    <a:lnTo>
                      <a:pt x="951" y="362"/>
                    </a:lnTo>
                    <a:lnTo>
                      <a:pt x="968" y="367"/>
                    </a:lnTo>
                    <a:lnTo>
                      <a:pt x="983" y="369"/>
                    </a:lnTo>
                    <a:lnTo>
                      <a:pt x="1001" y="370"/>
                    </a:lnTo>
                    <a:lnTo>
                      <a:pt x="1019" y="368"/>
                    </a:lnTo>
                    <a:lnTo>
                      <a:pt x="1034" y="367"/>
                    </a:lnTo>
                    <a:lnTo>
                      <a:pt x="1048" y="366"/>
                    </a:lnTo>
                    <a:lnTo>
                      <a:pt x="1056" y="370"/>
                    </a:lnTo>
                    <a:lnTo>
                      <a:pt x="1059" y="377"/>
                    </a:lnTo>
                    <a:lnTo>
                      <a:pt x="1060" y="384"/>
                    </a:lnTo>
                    <a:lnTo>
                      <a:pt x="1059" y="391"/>
                    </a:lnTo>
                    <a:lnTo>
                      <a:pt x="1055" y="405"/>
                    </a:lnTo>
                    <a:lnTo>
                      <a:pt x="1050" y="417"/>
                    </a:lnTo>
                    <a:lnTo>
                      <a:pt x="1044" y="432"/>
                    </a:lnTo>
                    <a:lnTo>
                      <a:pt x="1035" y="449"/>
                    </a:lnTo>
                    <a:lnTo>
                      <a:pt x="1025" y="466"/>
                    </a:lnTo>
                    <a:lnTo>
                      <a:pt x="1015" y="481"/>
                    </a:lnTo>
                    <a:lnTo>
                      <a:pt x="1003" y="498"/>
                    </a:lnTo>
                    <a:lnTo>
                      <a:pt x="993" y="510"/>
                    </a:lnTo>
                    <a:lnTo>
                      <a:pt x="982" y="518"/>
                    </a:lnTo>
                    <a:lnTo>
                      <a:pt x="0" y="51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99"/>
                  </a:gs>
                  <a:gs pos="100000">
                    <a:srgbClr val="006699">
                      <a:gamma/>
                      <a:shade val="46275"/>
                      <a:invGamma/>
                    </a:srgbClr>
                  </a:gs>
                </a:gsLst>
                <a:path path="rect">
                  <a:fillToRect l="50000" t="50000" r="50000" b="50000"/>
                </a:path>
              </a:gradFill>
              <a:ln w="12700">
                <a:solidFill>
                  <a:schemeClr val="tx2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ar-EG"/>
              </a:p>
            </p:txBody>
          </p:sp>
          <p:sp>
            <p:nvSpPr>
              <p:cNvPr id="28" name="Rectangle 16"/>
              <p:cNvSpPr>
                <a:spLocks noChangeArrowheads="1"/>
              </p:cNvSpPr>
              <p:nvPr/>
            </p:nvSpPr>
            <p:spPr bwMode="auto">
              <a:xfrm>
                <a:off x="1516" y="2796"/>
                <a:ext cx="983" cy="91"/>
              </a:xfrm>
              <a:prstGeom prst="rect">
                <a:avLst/>
              </a:prstGeom>
              <a:gradFill rotWithShape="0">
                <a:gsLst>
                  <a:gs pos="0">
                    <a:srgbClr val="006699"/>
                  </a:gs>
                  <a:gs pos="100000">
                    <a:srgbClr val="006699">
                      <a:gamma/>
                      <a:shade val="46275"/>
                      <a:invGamma/>
                    </a:srgbClr>
                  </a:gs>
                </a:gsLst>
                <a:path path="shape">
                  <a:fillToRect l="50000" t="50000" r="50000" b="50000"/>
                </a:path>
              </a:gradFill>
              <a:ln w="127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ar-EG"/>
              </a:p>
            </p:txBody>
          </p:sp>
        </p:grpSp>
        <p:grpSp>
          <p:nvGrpSpPr>
            <p:cNvPr id="14" name="Group 17"/>
            <p:cNvGrpSpPr>
              <a:grpSpLocks/>
            </p:cNvGrpSpPr>
            <p:nvPr/>
          </p:nvGrpSpPr>
          <p:grpSpPr bwMode="auto">
            <a:xfrm>
              <a:off x="5103813" y="4038600"/>
              <a:ext cx="2744787" cy="1714500"/>
              <a:chOff x="3141" y="2264"/>
              <a:chExt cx="1246" cy="624"/>
            </a:xfrm>
          </p:grpSpPr>
          <p:sp>
            <p:nvSpPr>
              <p:cNvPr id="25" name="Freeform 18"/>
              <p:cNvSpPr>
                <a:spLocks/>
              </p:cNvSpPr>
              <p:nvPr/>
            </p:nvSpPr>
            <p:spPr bwMode="auto">
              <a:xfrm>
                <a:off x="3141" y="2264"/>
                <a:ext cx="1246" cy="529"/>
              </a:xfrm>
              <a:custGeom>
                <a:avLst/>
                <a:gdLst/>
                <a:ahLst/>
                <a:cxnLst>
                  <a:cxn ang="0">
                    <a:pos x="217" y="43"/>
                  </a:cxn>
                  <a:cxn ang="0">
                    <a:pos x="257" y="50"/>
                  </a:cxn>
                  <a:cxn ang="0">
                    <a:pos x="299" y="58"/>
                  </a:cxn>
                  <a:cxn ang="0">
                    <a:pos x="343" y="55"/>
                  </a:cxn>
                  <a:cxn ang="0">
                    <a:pos x="385" y="40"/>
                  </a:cxn>
                  <a:cxn ang="0">
                    <a:pos x="428" y="23"/>
                  </a:cxn>
                  <a:cxn ang="0">
                    <a:pos x="470" y="21"/>
                  </a:cxn>
                  <a:cxn ang="0">
                    <a:pos x="504" y="40"/>
                  </a:cxn>
                  <a:cxn ang="0">
                    <a:pos x="502" y="83"/>
                  </a:cxn>
                  <a:cxn ang="0">
                    <a:pos x="492" y="128"/>
                  </a:cxn>
                  <a:cxn ang="0">
                    <a:pos x="518" y="160"/>
                  </a:cxn>
                  <a:cxn ang="0">
                    <a:pos x="568" y="171"/>
                  </a:cxn>
                  <a:cxn ang="0">
                    <a:pos x="628" y="172"/>
                  </a:cxn>
                  <a:cxn ang="0">
                    <a:pos x="682" y="158"/>
                  </a:cxn>
                  <a:cxn ang="0">
                    <a:pos x="718" y="134"/>
                  </a:cxn>
                  <a:cxn ang="0">
                    <a:pos x="733" y="87"/>
                  </a:cxn>
                  <a:cxn ang="0">
                    <a:pos x="742" y="44"/>
                  </a:cxn>
                  <a:cxn ang="0">
                    <a:pos x="774" y="17"/>
                  </a:cxn>
                  <a:cxn ang="0">
                    <a:pos x="822" y="4"/>
                  </a:cxn>
                  <a:cxn ang="0">
                    <a:pos x="879" y="0"/>
                  </a:cxn>
                  <a:cxn ang="0">
                    <a:pos x="933" y="4"/>
                  </a:cxn>
                  <a:cxn ang="0">
                    <a:pos x="980" y="9"/>
                  </a:cxn>
                  <a:cxn ang="0">
                    <a:pos x="171" y="528"/>
                  </a:cxn>
                  <a:cxn ang="0">
                    <a:pos x="179" y="491"/>
                  </a:cxn>
                  <a:cxn ang="0">
                    <a:pos x="197" y="461"/>
                  </a:cxn>
                  <a:cxn ang="0">
                    <a:pos x="224" y="433"/>
                  </a:cxn>
                  <a:cxn ang="0">
                    <a:pos x="243" y="405"/>
                  </a:cxn>
                  <a:cxn ang="0">
                    <a:pos x="242" y="367"/>
                  </a:cxn>
                  <a:cxn ang="0">
                    <a:pos x="221" y="343"/>
                  </a:cxn>
                  <a:cxn ang="0">
                    <a:pos x="184" y="335"/>
                  </a:cxn>
                  <a:cxn ang="0">
                    <a:pos x="141" y="341"/>
                  </a:cxn>
                  <a:cxn ang="0">
                    <a:pos x="92" y="353"/>
                  </a:cxn>
                  <a:cxn ang="0">
                    <a:pos x="45" y="352"/>
                  </a:cxn>
                  <a:cxn ang="0">
                    <a:pos x="10" y="334"/>
                  </a:cxn>
                  <a:cxn ang="0">
                    <a:pos x="2" y="296"/>
                  </a:cxn>
                  <a:cxn ang="0">
                    <a:pos x="21" y="263"/>
                  </a:cxn>
                  <a:cxn ang="0">
                    <a:pos x="53" y="241"/>
                  </a:cxn>
                  <a:cxn ang="0">
                    <a:pos x="92" y="232"/>
                  </a:cxn>
                  <a:cxn ang="0">
                    <a:pos x="142" y="224"/>
                  </a:cxn>
                  <a:cxn ang="0">
                    <a:pos x="176" y="202"/>
                  </a:cxn>
                  <a:cxn ang="0">
                    <a:pos x="190" y="169"/>
                  </a:cxn>
                  <a:cxn ang="0">
                    <a:pos x="189" y="121"/>
                  </a:cxn>
                  <a:cxn ang="0">
                    <a:pos x="186" y="67"/>
                  </a:cxn>
                </a:cxnLst>
                <a:rect l="0" t="0" r="r" b="b"/>
                <a:pathLst>
                  <a:path w="1246" h="529">
                    <a:moveTo>
                      <a:pt x="189" y="49"/>
                    </a:moveTo>
                    <a:lnTo>
                      <a:pt x="201" y="46"/>
                    </a:lnTo>
                    <a:lnTo>
                      <a:pt x="217" y="43"/>
                    </a:lnTo>
                    <a:lnTo>
                      <a:pt x="231" y="44"/>
                    </a:lnTo>
                    <a:lnTo>
                      <a:pt x="244" y="47"/>
                    </a:lnTo>
                    <a:lnTo>
                      <a:pt x="257" y="50"/>
                    </a:lnTo>
                    <a:lnTo>
                      <a:pt x="271" y="53"/>
                    </a:lnTo>
                    <a:lnTo>
                      <a:pt x="287" y="56"/>
                    </a:lnTo>
                    <a:lnTo>
                      <a:pt x="299" y="58"/>
                    </a:lnTo>
                    <a:lnTo>
                      <a:pt x="315" y="59"/>
                    </a:lnTo>
                    <a:lnTo>
                      <a:pt x="330" y="58"/>
                    </a:lnTo>
                    <a:lnTo>
                      <a:pt x="343" y="55"/>
                    </a:lnTo>
                    <a:lnTo>
                      <a:pt x="358" y="51"/>
                    </a:lnTo>
                    <a:lnTo>
                      <a:pt x="372" y="46"/>
                    </a:lnTo>
                    <a:lnTo>
                      <a:pt x="385" y="40"/>
                    </a:lnTo>
                    <a:lnTo>
                      <a:pt x="399" y="34"/>
                    </a:lnTo>
                    <a:lnTo>
                      <a:pt x="412" y="28"/>
                    </a:lnTo>
                    <a:lnTo>
                      <a:pt x="428" y="23"/>
                    </a:lnTo>
                    <a:lnTo>
                      <a:pt x="441" y="20"/>
                    </a:lnTo>
                    <a:lnTo>
                      <a:pt x="456" y="19"/>
                    </a:lnTo>
                    <a:lnTo>
                      <a:pt x="470" y="21"/>
                    </a:lnTo>
                    <a:lnTo>
                      <a:pt x="483" y="25"/>
                    </a:lnTo>
                    <a:lnTo>
                      <a:pt x="496" y="33"/>
                    </a:lnTo>
                    <a:lnTo>
                      <a:pt x="504" y="40"/>
                    </a:lnTo>
                    <a:lnTo>
                      <a:pt x="508" y="53"/>
                    </a:lnTo>
                    <a:lnTo>
                      <a:pt x="506" y="67"/>
                    </a:lnTo>
                    <a:lnTo>
                      <a:pt x="502" y="83"/>
                    </a:lnTo>
                    <a:lnTo>
                      <a:pt x="496" y="100"/>
                    </a:lnTo>
                    <a:lnTo>
                      <a:pt x="491" y="114"/>
                    </a:lnTo>
                    <a:lnTo>
                      <a:pt x="492" y="128"/>
                    </a:lnTo>
                    <a:lnTo>
                      <a:pt x="498" y="142"/>
                    </a:lnTo>
                    <a:lnTo>
                      <a:pt x="508" y="153"/>
                    </a:lnTo>
                    <a:lnTo>
                      <a:pt x="518" y="160"/>
                    </a:lnTo>
                    <a:lnTo>
                      <a:pt x="532" y="164"/>
                    </a:lnTo>
                    <a:lnTo>
                      <a:pt x="547" y="168"/>
                    </a:lnTo>
                    <a:lnTo>
                      <a:pt x="568" y="171"/>
                    </a:lnTo>
                    <a:lnTo>
                      <a:pt x="586" y="173"/>
                    </a:lnTo>
                    <a:lnTo>
                      <a:pt x="608" y="174"/>
                    </a:lnTo>
                    <a:lnTo>
                      <a:pt x="628" y="172"/>
                    </a:lnTo>
                    <a:lnTo>
                      <a:pt x="646" y="169"/>
                    </a:lnTo>
                    <a:lnTo>
                      <a:pt x="665" y="164"/>
                    </a:lnTo>
                    <a:lnTo>
                      <a:pt x="682" y="158"/>
                    </a:lnTo>
                    <a:lnTo>
                      <a:pt x="695" y="151"/>
                    </a:lnTo>
                    <a:lnTo>
                      <a:pt x="708" y="143"/>
                    </a:lnTo>
                    <a:lnTo>
                      <a:pt x="718" y="134"/>
                    </a:lnTo>
                    <a:lnTo>
                      <a:pt x="727" y="123"/>
                    </a:lnTo>
                    <a:lnTo>
                      <a:pt x="732" y="109"/>
                    </a:lnTo>
                    <a:lnTo>
                      <a:pt x="733" y="87"/>
                    </a:lnTo>
                    <a:lnTo>
                      <a:pt x="733" y="70"/>
                    </a:lnTo>
                    <a:lnTo>
                      <a:pt x="736" y="55"/>
                    </a:lnTo>
                    <a:lnTo>
                      <a:pt x="742" y="44"/>
                    </a:lnTo>
                    <a:lnTo>
                      <a:pt x="751" y="34"/>
                    </a:lnTo>
                    <a:lnTo>
                      <a:pt x="761" y="25"/>
                    </a:lnTo>
                    <a:lnTo>
                      <a:pt x="774" y="17"/>
                    </a:lnTo>
                    <a:lnTo>
                      <a:pt x="787" y="11"/>
                    </a:lnTo>
                    <a:lnTo>
                      <a:pt x="805" y="6"/>
                    </a:lnTo>
                    <a:lnTo>
                      <a:pt x="822" y="4"/>
                    </a:lnTo>
                    <a:lnTo>
                      <a:pt x="840" y="2"/>
                    </a:lnTo>
                    <a:lnTo>
                      <a:pt x="859" y="1"/>
                    </a:lnTo>
                    <a:lnTo>
                      <a:pt x="879" y="0"/>
                    </a:lnTo>
                    <a:lnTo>
                      <a:pt x="901" y="1"/>
                    </a:lnTo>
                    <a:lnTo>
                      <a:pt x="918" y="2"/>
                    </a:lnTo>
                    <a:lnTo>
                      <a:pt x="933" y="4"/>
                    </a:lnTo>
                    <a:lnTo>
                      <a:pt x="949" y="6"/>
                    </a:lnTo>
                    <a:lnTo>
                      <a:pt x="964" y="8"/>
                    </a:lnTo>
                    <a:lnTo>
                      <a:pt x="980" y="9"/>
                    </a:lnTo>
                    <a:lnTo>
                      <a:pt x="1102" y="12"/>
                    </a:lnTo>
                    <a:lnTo>
                      <a:pt x="1246" y="529"/>
                    </a:lnTo>
                    <a:lnTo>
                      <a:pt x="171" y="528"/>
                    </a:lnTo>
                    <a:lnTo>
                      <a:pt x="172" y="514"/>
                    </a:lnTo>
                    <a:lnTo>
                      <a:pt x="175" y="502"/>
                    </a:lnTo>
                    <a:lnTo>
                      <a:pt x="179" y="491"/>
                    </a:lnTo>
                    <a:lnTo>
                      <a:pt x="183" y="482"/>
                    </a:lnTo>
                    <a:lnTo>
                      <a:pt x="189" y="472"/>
                    </a:lnTo>
                    <a:lnTo>
                      <a:pt x="197" y="461"/>
                    </a:lnTo>
                    <a:lnTo>
                      <a:pt x="206" y="451"/>
                    </a:lnTo>
                    <a:lnTo>
                      <a:pt x="214" y="443"/>
                    </a:lnTo>
                    <a:lnTo>
                      <a:pt x="224" y="433"/>
                    </a:lnTo>
                    <a:lnTo>
                      <a:pt x="232" y="425"/>
                    </a:lnTo>
                    <a:lnTo>
                      <a:pt x="238" y="415"/>
                    </a:lnTo>
                    <a:lnTo>
                      <a:pt x="243" y="405"/>
                    </a:lnTo>
                    <a:lnTo>
                      <a:pt x="246" y="390"/>
                    </a:lnTo>
                    <a:lnTo>
                      <a:pt x="245" y="376"/>
                    </a:lnTo>
                    <a:lnTo>
                      <a:pt x="242" y="367"/>
                    </a:lnTo>
                    <a:lnTo>
                      <a:pt x="237" y="358"/>
                    </a:lnTo>
                    <a:lnTo>
                      <a:pt x="230" y="350"/>
                    </a:lnTo>
                    <a:lnTo>
                      <a:pt x="221" y="343"/>
                    </a:lnTo>
                    <a:lnTo>
                      <a:pt x="211" y="339"/>
                    </a:lnTo>
                    <a:lnTo>
                      <a:pt x="198" y="336"/>
                    </a:lnTo>
                    <a:lnTo>
                      <a:pt x="184" y="335"/>
                    </a:lnTo>
                    <a:lnTo>
                      <a:pt x="169" y="336"/>
                    </a:lnTo>
                    <a:lnTo>
                      <a:pt x="155" y="338"/>
                    </a:lnTo>
                    <a:lnTo>
                      <a:pt x="141" y="341"/>
                    </a:lnTo>
                    <a:lnTo>
                      <a:pt x="123" y="346"/>
                    </a:lnTo>
                    <a:lnTo>
                      <a:pt x="108" y="350"/>
                    </a:lnTo>
                    <a:lnTo>
                      <a:pt x="92" y="353"/>
                    </a:lnTo>
                    <a:lnTo>
                      <a:pt x="73" y="355"/>
                    </a:lnTo>
                    <a:lnTo>
                      <a:pt x="58" y="355"/>
                    </a:lnTo>
                    <a:lnTo>
                      <a:pt x="45" y="352"/>
                    </a:lnTo>
                    <a:lnTo>
                      <a:pt x="31" y="348"/>
                    </a:lnTo>
                    <a:lnTo>
                      <a:pt x="20" y="342"/>
                    </a:lnTo>
                    <a:lnTo>
                      <a:pt x="10" y="334"/>
                    </a:lnTo>
                    <a:lnTo>
                      <a:pt x="3" y="322"/>
                    </a:lnTo>
                    <a:lnTo>
                      <a:pt x="0" y="309"/>
                    </a:lnTo>
                    <a:lnTo>
                      <a:pt x="2" y="296"/>
                    </a:lnTo>
                    <a:lnTo>
                      <a:pt x="7" y="283"/>
                    </a:lnTo>
                    <a:lnTo>
                      <a:pt x="12" y="273"/>
                    </a:lnTo>
                    <a:lnTo>
                      <a:pt x="21" y="263"/>
                    </a:lnTo>
                    <a:lnTo>
                      <a:pt x="31" y="254"/>
                    </a:lnTo>
                    <a:lnTo>
                      <a:pt x="41" y="248"/>
                    </a:lnTo>
                    <a:lnTo>
                      <a:pt x="53" y="241"/>
                    </a:lnTo>
                    <a:lnTo>
                      <a:pt x="65" y="237"/>
                    </a:lnTo>
                    <a:lnTo>
                      <a:pt x="78" y="234"/>
                    </a:lnTo>
                    <a:lnTo>
                      <a:pt x="92" y="232"/>
                    </a:lnTo>
                    <a:lnTo>
                      <a:pt x="109" y="229"/>
                    </a:lnTo>
                    <a:lnTo>
                      <a:pt x="127" y="227"/>
                    </a:lnTo>
                    <a:lnTo>
                      <a:pt x="142" y="224"/>
                    </a:lnTo>
                    <a:lnTo>
                      <a:pt x="157" y="218"/>
                    </a:lnTo>
                    <a:lnTo>
                      <a:pt x="167" y="211"/>
                    </a:lnTo>
                    <a:lnTo>
                      <a:pt x="176" y="202"/>
                    </a:lnTo>
                    <a:lnTo>
                      <a:pt x="183" y="192"/>
                    </a:lnTo>
                    <a:lnTo>
                      <a:pt x="187" y="182"/>
                    </a:lnTo>
                    <a:lnTo>
                      <a:pt x="190" y="169"/>
                    </a:lnTo>
                    <a:lnTo>
                      <a:pt x="191" y="152"/>
                    </a:lnTo>
                    <a:lnTo>
                      <a:pt x="190" y="137"/>
                    </a:lnTo>
                    <a:lnTo>
                      <a:pt x="189" y="121"/>
                    </a:lnTo>
                    <a:lnTo>
                      <a:pt x="188" y="104"/>
                    </a:lnTo>
                    <a:lnTo>
                      <a:pt x="187" y="84"/>
                    </a:lnTo>
                    <a:lnTo>
                      <a:pt x="186" y="67"/>
                    </a:lnTo>
                    <a:lnTo>
                      <a:pt x="187" y="56"/>
                    </a:lnTo>
                    <a:lnTo>
                      <a:pt x="189" y="49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99"/>
                  </a:gs>
                  <a:gs pos="100000">
                    <a:srgbClr val="006699">
                      <a:gamma/>
                      <a:shade val="46275"/>
                      <a:invGamma/>
                    </a:srgbClr>
                  </a:gs>
                </a:gsLst>
                <a:path path="rect">
                  <a:fillToRect l="50000" t="50000" r="50000" b="50000"/>
                </a:path>
              </a:gradFill>
              <a:ln w="12700">
                <a:solidFill>
                  <a:schemeClr val="tx2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ar-EG"/>
              </a:p>
            </p:txBody>
          </p:sp>
          <p:sp>
            <p:nvSpPr>
              <p:cNvPr id="26" name="Rectangle 19"/>
              <p:cNvSpPr>
                <a:spLocks noChangeArrowheads="1"/>
              </p:cNvSpPr>
              <p:nvPr/>
            </p:nvSpPr>
            <p:spPr bwMode="auto">
              <a:xfrm>
                <a:off x="3308" y="2794"/>
                <a:ext cx="1079" cy="94"/>
              </a:xfrm>
              <a:prstGeom prst="rect">
                <a:avLst/>
              </a:prstGeom>
              <a:gradFill rotWithShape="0">
                <a:gsLst>
                  <a:gs pos="0">
                    <a:srgbClr val="006699"/>
                  </a:gs>
                  <a:gs pos="100000">
                    <a:srgbClr val="006699">
                      <a:gamma/>
                      <a:shade val="46275"/>
                      <a:invGamma/>
                    </a:srgbClr>
                  </a:gs>
                </a:gsLst>
                <a:path path="shape">
                  <a:fillToRect l="50000" t="50000" r="50000" b="50000"/>
                </a:path>
              </a:gradFill>
              <a:ln w="127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ar-EG"/>
              </a:p>
            </p:txBody>
          </p:sp>
        </p:grpSp>
        <p:sp>
          <p:nvSpPr>
            <p:cNvPr id="15" name="Text Box 21"/>
            <p:cNvSpPr txBox="1">
              <a:spLocks noChangeArrowheads="1"/>
            </p:cNvSpPr>
            <p:nvPr/>
          </p:nvSpPr>
          <p:spPr bwMode="auto">
            <a:xfrm>
              <a:off x="1785938" y="3492500"/>
              <a:ext cx="1739900" cy="51911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 </a:t>
              </a:r>
              <a:r>
                <a:rPr lang="en-US" sz="28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Marketing</a:t>
              </a:r>
              <a:endParaRPr lang="en-US" sz="2800">
                <a:latin typeface="Times New Roman" pitchFamily="18" charset="0"/>
              </a:endParaRPr>
            </a:p>
          </p:txBody>
        </p:sp>
        <p:sp>
          <p:nvSpPr>
            <p:cNvPr id="16" name="Text Box 22"/>
            <p:cNvSpPr txBox="1">
              <a:spLocks noChangeArrowheads="1"/>
            </p:cNvSpPr>
            <p:nvPr/>
          </p:nvSpPr>
          <p:spPr bwMode="auto">
            <a:xfrm>
              <a:off x="4175125" y="4600575"/>
              <a:ext cx="817563" cy="51911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MIS</a:t>
              </a:r>
              <a:endParaRPr lang="en-US" sz="2800">
                <a:latin typeface="Times New Roman" pitchFamily="18" charset="0"/>
              </a:endParaRPr>
            </a:p>
          </p:txBody>
        </p:sp>
        <p:sp>
          <p:nvSpPr>
            <p:cNvPr id="17" name="Text Box 23"/>
            <p:cNvSpPr txBox="1">
              <a:spLocks noChangeArrowheads="1"/>
            </p:cNvSpPr>
            <p:nvPr/>
          </p:nvSpPr>
          <p:spPr bwMode="auto">
            <a:xfrm>
              <a:off x="1638300" y="4864100"/>
              <a:ext cx="1920875" cy="51911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Engineering</a:t>
              </a:r>
              <a:endParaRPr lang="en-US" sz="2800">
                <a:latin typeface="Times New Roman" pitchFamily="18" charset="0"/>
              </a:endParaRPr>
            </a:p>
          </p:txBody>
        </p:sp>
        <p:sp>
          <p:nvSpPr>
            <p:cNvPr id="18" name="Text Box 24"/>
            <p:cNvSpPr txBox="1">
              <a:spLocks noChangeArrowheads="1"/>
            </p:cNvSpPr>
            <p:nvPr/>
          </p:nvSpPr>
          <p:spPr bwMode="auto">
            <a:xfrm>
              <a:off x="6000750" y="1933575"/>
              <a:ext cx="993775" cy="51911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HRM</a:t>
              </a:r>
            </a:p>
          </p:txBody>
        </p:sp>
        <p:sp>
          <p:nvSpPr>
            <p:cNvPr id="19" name="Text Box 25"/>
            <p:cNvSpPr txBox="1">
              <a:spLocks noChangeArrowheads="1"/>
            </p:cNvSpPr>
            <p:nvPr/>
          </p:nvSpPr>
          <p:spPr bwMode="auto">
            <a:xfrm>
              <a:off x="6308725" y="3228975"/>
              <a:ext cx="698500" cy="51911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QA</a:t>
              </a:r>
              <a:endParaRPr lang="en-US" sz="2800">
                <a:latin typeface="Times New Roman" pitchFamily="18" charset="0"/>
              </a:endParaRPr>
            </a:p>
          </p:txBody>
        </p:sp>
        <p:sp>
          <p:nvSpPr>
            <p:cNvPr id="20" name="Text Box 26"/>
            <p:cNvSpPr txBox="1">
              <a:spLocks noChangeArrowheads="1"/>
            </p:cNvSpPr>
            <p:nvPr/>
          </p:nvSpPr>
          <p:spPr bwMode="auto">
            <a:xfrm>
              <a:off x="5715000" y="4711700"/>
              <a:ext cx="1917700" cy="51911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 </a:t>
              </a:r>
              <a:r>
                <a:rPr lang="en-US" sz="28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Accounting</a:t>
              </a:r>
              <a:endParaRPr lang="en-US" sz="2800">
                <a:latin typeface="Times New Roman" pitchFamily="18" charset="0"/>
              </a:endParaRPr>
            </a:p>
          </p:txBody>
        </p:sp>
        <p:sp>
          <p:nvSpPr>
            <p:cNvPr id="21" name="Text Box 27"/>
            <p:cNvSpPr txBox="1">
              <a:spLocks noChangeArrowheads="1"/>
            </p:cNvSpPr>
            <p:nvPr/>
          </p:nvSpPr>
          <p:spPr bwMode="auto">
            <a:xfrm>
              <a:off x="2335213" y="2009775"/>
              <a:ext cx="933450" cy="51911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Sales</a:t>
              </a:r>
              <a:endParaRPr lang="en-US" sz="2800">
                <a:latin typeface="Times New Roman" pitchFamily="18" charset="0"/>
              </a:endParaRPr>
            </a:p>
          </p:txBody>
        </p:sp>
        <p:sp>
          <p:nvSpPr>
            <p:cNvPr id="22" name="Text Box 28"/>
            <p:cNvSpPr txBox="1">
              <a:spLocks noChangeArrowheads="1"/>
            </p:cNvSpPr>
            <p:nvPr/>
          </p:nvSpPr>
          <p:spPr bwMode="auto">
            <a:xfrm>
              <a:off x="3976688" y="1549400"/>
              <a:ext cx="1308100" cy="51911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Finance</a:t>
              </a:r>
              <a:endParaRPr lang="en-US" sz="2800">
                <a:latin typeface="Times New Roman" pitchFamily="18" charset="0"/>
              </a:endParaRPr>
            </a:p>
          </p:txBody>
        </p:sp>
        <p:sp>
          <p:nvSpPr>
            <p:cNvPr id="23" name="Freeform 7"/>
            <p:cNvSpPr>
              <a:spLocks/>
            </p:cNvSpPr>
            <p:nvPr/>
          </p:nvSpPr>
          <p:spPr bwMode="auto">
            <a:xfrm>
              <a:off x="3525838" y="2171700"/>
              <a:ext cx="2501900" cy="1970088"/>
            </a:xfrm>
            <a:custGeom>
              <a:avLst/>
              <a:gdLst/>
              <a:ahLst/>
              <a:cxnLst>
                <a:cxn ang="0">
                  <a:pos x="939" y="197"/>
                </a:cxn>
                <a:cxn ang="0">
                  <a:pos x="908" y="281"/>
                </a:cxn>
                <a:cxn ang="0">
                  <a:pos x="885" y="357"/>
                </a:cxn>
                <a:cxn ang="0">
                  <a:pos x="928" y="407"/>
                </a:cxn>
                <a:cxn ang="0">
                  <a:pos x="991" y="374"/>
                </a:cxn>
                <a:cxn ang="0">
                  <a:pos x="1027" y="310"/>
                </a:cxn>
                <a:cxn ang="0">
                  <a:pos x="1093" y="308"/>
                </a:cxn>
                <a:cxn ang="0">
                  <a:pos x="1135" y="355"/>
                </a:cxn>
                <a:cxn ang="0">
                  <a:pos x="1122" y="412"/>
                </a:cxn>
                <a:cxn ang="0">
                  <a:pos x="1062" y="472"/>
                </a:cxn>
                <a:cxn ang="0">
                  <a:pos x="993" y="491"/>
                </a:cxn>
                <a:cxn ang="0">
                  <a:pos x="940" y="531"/>
                </a:cxn>
                <a:cxn ang="0">
                  <a:pos x="916" y="603"/>
                </a:cxn>
                <a:cxn ang="0">
                  <a:pos x="906" y="640"/>
                </a:cxn>
                <a:cxn ang="0">
                  <a:pos x="838" y="636"/>
                </a:cxn>
                <a:cxn ang="0">
                  <a:pos x="745" y="663"/>
                </a:cxn>
                <a:cxn ang="0">
                  <a:pos x="652" y="699"/>
                </a:cxn>
                <a:cxn ang="0">
                  <a:pos x="548" y="715"/>
                </a:cxn>
                <a:cxn ang="0">
                  <a:pos x="491" y="676"/>
                </a:cxn>
                <a:cxn ang="0">
                  <a:pos x="522" y="620"/>
                </a:cxn>
                <a:cxn ang="0">
                  <a:pos x="602" y="587"/>
                </a:cxn>
                <a:cxn ang="0">
                  <a:pos x="660" y="549"/>
                </a:cxn>
                <a:cxn ang="0">
                  <a:pos x="621" y="513"/>
                </a:cxn>
                <a:cxn ang="0">
                  <a:pos x="532" y="517"/>
                </a:cxn>
                <a:cxn ang="0">
                  <a:pos x="450" y="548"/>
                </a:cxn>
                <a:cxn ang="0">
                  <a:pos x="356" y="603"/>
                </a:cxn>
                <a:cxn ang="0">
                  <a:pos x="246" y="636"/>
                </a:cxn>
                <a:cxn ang="0">
                  <a:pos x="137" y="643"/>
                </a:cxn>
                <a:cxn ang="0">
                  <a:pos x="190" y="578"/>
                </a:cxn>
                <a:cxn ang="0">
                  <a:pos x="231" y="509"/>
                </a:cxn>
                <a:cxn ang="0">
                  <a:pos x="213" y="450"/>
                </a:cxn>
                <a:cxn ang="0">
                  <a:pos x="161" y="452"/>
                </a:cxn>
                <a:cxn ang="0">
                  <a:pos x="118" y="504"/>
                </a:cxn>
                <a:cxn ang="0">
                  <a:pos x="54" y="524"/>
                </a:cxn>
                <a:cxn ang="0">
                  <a:pos x="4" y="478"/>
                </a:cxn>
                <a:cxn ang="0">
                  <a:pos x="16" y="415"/>
                </a:cxn>
                <a:cxn ang="0">
                  <a:pos x="84" y="373"/>
                </a:cxn>
                <a:cxn ang="0">
                  <a:pos x="128" y="305"/>
                </a:cxn>
                <a:cxn ang="0">
                  <a:pos x="101" y="218"/>
                </a:cxn>
                <a:cxn ang="0">
                  <a:pos x="91" y="134"/>
                </a:cxn>
                <a:cxn ang="0">
                  <a:pos x="178" y="145"/>
                </a:cxn>
                <a:cxn ang="0">
                  <a:pos x="314" y="150"/>
                </a:cxn>
                <a:cxn ang="0">
                  <a:pos x="388" y="128"/>
                </a:cxn>
                <a:cxn ang="0">
                  <a:pos x="390" y="73"/>
                </a:cxn>
                <a:cxn ang="0">
                  <a:pos x="413" y="19"/>
                </a:cxn>
                <a:cxn ang="0">
                  <a:pos x="500" y="0"/>
                </a:cxn>
                <a:cxn ang="0">
                  <a:pos x="583" y="17"/>
                </a:cxn>
                <a:cxn ang="0">
                  <a:pos x="610" y="67"/>
                </a:cxn>
                <a:cxn ang="0">
                  <a:pos x="585" y="132"/>
                </a:cxn>
                <a:cxn ang="0">
                  <a:pos x="640" y="167"/>
                </a:cxn>
                <a:cxn ang="0">
                  <a:pos x="747" y="166"/>
                </a:cxn>
                <a:cxn ang="0">
                  <a:pos x="884" y="141"/>
                </a:cxn>
              </a:cxnLst>
              <a:rect l="0" t="0" r="r" b="b"/>
              <a:pathLst>
                <a:path w="1136" h="717">
                  <a:moveTo>
                    <a:pt x="934" y="142"/>
                  </a:moveTo>
                  <a:lnTo>
                    <a:pt x="938" y="160"/>
                  </a:lnTo>
                  <a:lnTo>
                    <a:pt x="941" y="174"/>
                  </a:lnTo>
                  <a:lnTo>
                    <a:pt x="942" y="185"/>
                  </a:lnTo>
                  <a:lnTo>
                    <a:pt x="939" y="197"/>
                  </a:lnTo>
                  <a:lnTo>
                    <a:pt x="934" y="214"/>
                  </a:lnTo>
                  <a:lnTo>
                    <a:pt x="928" y="231"/>
                  </a:lnTo>
                  <a:lnTo>
                    <a:pt x="922" y="247"/>
                  </a:lnTo>
                  <a:lnTo>
                    <a:pt x="916" y="262"/>
                  </a:lnTo>
                  <a:lnTo>
                    <a:pt x="908" y="281"/>
                  </a:lnTo>
                  <a:lnTo>
                    <a:pt x="901" y="296"/>
                  </a:lnTo>
                  <a:lnTo>
                    <a:pt x="896" y="309"/>
                  </a:lnTo>
                  <a:lnTo>
                    <a:pt x="891" y="327"/>
                  </a:lnTo>
                  <a:lnTo>
                    <a:pt x="886" y="342"/>
                  </a:lnTo>
                  <a:lnTo>
                    <a:pt x="885" y="357"/>
                  </a:lnTo>
                  <a:lnTo>
                    <a:pt x="888" y="373"/>
                  </a:lnTo>
                  <a:lnTo>
                    <a:pt x="893" y="387"/>
                  </a:lnTo>
                  <a:lnTo>
                    <a:pt x="903" y="399"/>
                  </a:lnTo>
                  <a:lnTo>
                    <a:pt x="913" y="406"/>
                  </a:lnTo>
                  <a:lnTo>
                    <a:pt x="928" y="407"/>
                  </a:lnTo>
                  <a:lnTo>
                    <a:pt x="945" y="406"/>
                  </a:lnTo>
                  <a:lnTo>
                    <a:pt x="957" y="401"/>
                  </a:lnTo>
                  <a:lnTo>
                    <a:pt x="971" y="395"/>
                  </a:lnTo>
                  <a:lnTo>
                    <a:pt x="982" y="386"/>
                  </a:lnTo>
                  <a:lnTo>
                    <a:pt x="991" y="374"/>
                  </a:lnTo>
                  <a:lnTo>
                    <a:pt x="996" y="360"/>
                  </a:lnTo>
                  <a:lnTo>
                    <a:pt x="998" y="345"/>
                  </a:lnTo>
                  <a:lnTo>
                    <a:pt x="1005" y="331"/>
                  </a:lnTo>
                  <a:lnTo>
                    <a:pt x="1014" y="319"/>
                  </a:lnTo>
                  <a:lnTo>
                    <a:pt x="1027" y="310"/>
                  </a:lnTo>
                  <a:lnTo>
                    <a:pt x="1040" y="305"/>
                  </a:lnTo>
                  <a:lnTo>
                    <a:pt x="1054" y="303"/>
                  </a:lnTo>
                  <a:lnTo>
                    <a:pt x="1065" y="302"/>
                  </a:lnTo>
                  <a:lnTo>
                    <a:pt x="1079" y="304"/>
                  </a:lnTo>
                  <a:lnTo>
                    <a:pt x="1093" y="308"/>
                  </a:lnTo>
                  <a:lnTo>
                    <a:pt x="1106" y="313"/>
                  </a:lnTo>
                  <a:lnTo>
                    <a:pt x="1115" y="323"/>
                  </a:lnTo>
                  <a:lnTo>
                    <a:pt x="1123" y="333"/>
                  </a:lnTo>
                  <a:lnTo>
                    <a:pt x="1131" y="342"/>
                  </a:lnTo>
                  <a:lnTo>
                    <a:pt x="1135" y="355"/>
                  </a:lnTo>
                  <a:lnTo>
                    <a:pt x="1136" y="367"/>
                  </a:lnTo>
                  <a:lnTo>
                    <a:pt x="1134" y="380"/>
                  </a:lnTo>
                  <a:lnTo>
                    <a:pt x="1130" y="391"/>
                  </a:lnTo>
                  <a:lnTo>
                    <a:pt x="1127" y="400"/>
                  </a:lnTo>
                  <a:lnTo>
                    <a:pt x="1122" y="412"/>
                  </a:lnTo>
                  <a:lnTo>
                    <a:pt x="1111" y="427"/>
                  </a:lnTo>
                  <a:lnTo>
                    <a:pt x="1101" y="439"/>
                  </a:lnTo>
                  <a:lnTo>
                    <a:pt x="1089" y="451"/>
                  </a:lnTo>
                  <a:lnTo>
                    <a:pt x="1076" y="462"/>
                  </a:lnTo>
                  <a:lnTo>
                    <a:pt x="1062" y="472"/>
                  </a:lnTo>
                  <a:lnTo>
                    <a:pt x="1050" y="477"/>
                  </a:lnTo>
                  <a:lnTo>
                    <a:pt x="1037" y="480"/>
                  </a:lnTo>
                  <a:lnTo>
                    <a:pt x="1020" y="483"/>
                  </a:lnTo>
                  <a:lnTo>
                    <a:pt x="1008" y="486"/>
                  </a:lnTo>
                  <a:lnTo>
                    <a:pt x="993" y="491"/>
                  </a:lnTo>
                  <a:lnTo>
                    <a:pt x="980" y="497"/>
                  </a:lnTo>
                  <a:lnTo>
                    <a:pt x="968" y="504"/>
                  </a:lnTo>
                  <a:lnTo>
                    <a:pt x="959" y="513"/>
                  </a:lnTo>
                  <a:lnTo>
                    <a:pt x="949" y="521"/>
                  </a:lnTo>
                  <a:lnTo>
                    <a:pt x="940" y="531"/>
                  </a:lnTo>
                  <a:lnTo>
                    <a:pt x="931" y="544"/>
                  </a:lnTo>
                  <a:lnTo>
                    <a:pt x="924" y="558"/>
                  </a:lnTo>
                  <a:lnTo>
                    <a:pt x="919" y="573"/>
                  </a:lnTo>
                  <a:lnTo>
                    <a:pt x="916" y="589"/>
                  </a:lnTo>
                  <a:lnTo>
                    <a:pt x="916" y="603"/>
                  </a:lnTo>
                  <a:lnTo>
                    <a:pt x="919" y="619"/>
                  </a:lnTo>
                  <a:lnTo>
                    <a:pt x="922" y="633"/>
                  </a:lnTo>
                  <a:lnTo>
                    <a:pt x="924" y="648"/>
                  </a:lnTo>
                  <a:lnTo>
                    <a:pt x="917" y="645"/>
                  </a:lnTo>
                  <a:lnTo>
                    <a:pt x="906" y="640"/>
                  </a:lnTo>
                  <a:lnTo>
                    <a:pt x="895" y="636"/>
                  </a:lnTo>
                  <a:lnTo>
                    <a:pt x="883" y="634"/>
                  </a:lnTo>
                  <a:lnTo>
                    <a:pt x="870" y="632"/>
                  </a:lnTo>
                  <a:lnTo>
                    <a:pt x="855" y="633"/>
                  </a:lnTo>
                  <a:lnTo>
                    <a:pt x="838" y="636"/>
                  </a:lnTo>
                  <a:lnTo>
                    <a:pt x="823" y="639"/>
                  </a:lnTo>
                  <a:lnTo>
                    <a:pt x="803" y="644"/>
                  </a:lnTo>
                  <a:lnTo>
                    <a:pt x="783" y="650"/>
                  </a:lnTo>
                  <a:lnTo>
                    <a:pt x="764" y="656"/>
                  </a:lnTo>
                  <a:lnTo>
                    <a:pt x="745" y="663"/>
                  </a:lnTo>
                  <a:lnTo>
                    <a:pt x="729" y="670"/>
                  </a:lnTo>
                  <a:lnTo>
                    <a:pt x="712" y="678"/>
                  </a:lnTo>
                  <a:lnTo>
                    <a:pt x="693" y="685"/>
                  </a:lnTo>
                  <a:lnTo>
                    <a:pt x="675" y="691"/>
                  </a:lnTo>
                  <a:lnTo>
                    <a:pt x="652" y="699"/>
                  </a:lnTo>
                  <a:lnTo>
                    <a:pt x="629" y="707"/>
                  </a:lnTo>
                  <a:lnTo>
                    <a:pt x="612" y="712"/>
                  </a:lnTo>
                  <a:lnTo>
                    <a:pt x="590" y="715"/>
                  </a:lnTo>
                  <a:lnTo>
                    <a:pt x="571" y="717"/>
                  </a:lnTo>
                  <a:lnTo>
                    <a:pt x="548" y="715"/>
                  </a:lnTo>
                  <a:lnTo>
                    <a:pt x="531" y="712"/>
                  </a:lnTo>
                  <a:lnTo>
                    <a:pt x="515" y="707"/>
                  </a:lnTo>
                  <a:lnTo>
                    <a:pt x="504" y="700"/>
                  </a:lnTo>
                  <a:lnTo>
                    <a:pt x="496" y="690"/>
                  </a:lnTo>
                  <a:lnTo>
                    <a:pt x="491" y="676"/>
                  </a:lnTo>
                  <a:lnTo>
                    <a:pt x="491" y="664"/>
                  </a:lnTo>
                  <a:lnTo>
                    <a:pt x="495" y="653"/>
                  </a:lnTo>
                  <a:lnTo>
                    <a:pt x="501" y="642"/>
                  </a:lnTo>
                  <a:lnTo>
                    <a:pt x="510" y="631"/>
                  </a:lnTo>
                  <a:lnTo>
                    <a:pt x="522" y="620"/>
                  </a:lnTo>
                  <a:lnTo>
                    <a:pt x="537" y="609"/>
                  </a:lnTo>
                  <a:lnTo>
                    <a:pt x="553" y="602"/>
                  </a:lnTo>
                  <a:lnTo>
                    <a:pt x="572" y="596"/>
                  </a:lnTo>
                  <a:lnTo>
                    <a:pt x="587" y="592"/>
                  </a:lnTo>
                  <a:lnTo>
                    <a:pt x="602" y="587"/>
                  </a:lnTo>
                  <a:lnTo>
                    <a:pt x="619" y="581"/>
                  </a:lnTo>
                  <a:lnTo>
                    <a:pt x="635" y="573"/>
                  </a:lnTo>
                  <a:lnTo>
                    <a:pt x="648" y="566"/>
                  </a:lnTo>
                  <a:lnTo>
                    <a:pt x="657" y="558"/>
                  </a:lnTo>
                  <a:lnTo>
                    <a:pt x="660" y="549"/>
                  </a:lnTo>
                  <a:lnTo>
                    <a:pt x="658" y="539"/>
                  </a:lnTo>
                  <a:lnTo>
                    <a:pt x="651" y="529"/>
                  </a:lnTo>
                  <a:lnTo>
                    <a:pt x="640" y="521"/>
                  </a:lnTo>
                  <a:lnTo>
                    <a:pt x="631" y="516"/>
                  </a:lnTo>
                  <a:lnTo>
                    <a:pt x="621" y="513"/>
                  </a:lnTo>
                  <a:lnTo>
                    <a:pt x="605" y="511"/>
                  </a:lnTo>
                  <a:lnTo>
                    <a:pt x="586" y="511"/>
                  </a:lnTo>
                  <a:lnTo>
                    <a:pt x="567" y="512"/>
                  </a:lnTo>
                  <a:lnTo>
                    <a:pt x="549" y="514"/>
                  </a:lnTo>
                  <a:lnTo>
                    <a:pt x="532" y="517"/>
                  </a:lnTo>
                  <a:lnTo>
                    <a:pt x="517" y="521"/>
                  </a:lnTo>
                  <a:lnTo>
                    <a:pt x="501" y="526"/>
                  </a:lnTo>
                  <a:lnTo>
                    <a:pt x="482" y="533"/>
                  </a:lnTo>
                  <a:lnTo>
                    <a:pt x="465" y="541"/>
                  </a:lnTo>
                  <a:lnTo>
                    <a:pt x="450" y="548"/>
                  </a:lnTo>
                  <a:lnTo>
                    <a:pt x="430" y="559"/>
                  </a:lnTo>
                  <a:lnTo>
                    <a:pt x="411" y="571"/>
                  </a:lnTo>
                  <a:lnTo>
                    <a:pt x="393" y="581"/>
                  </a:lnTo>
                  <a:lnTo>
                    <a:pt x="376" y="592"/>
                  </a:lnTo>
                  <a:lnTo>
                    <a:pt x="356" y="603"/>
                  </a:lnTo>
                  <a:lnTo>
                    <a:pt x="337" y="612"/>
                  </a:lnTo>
                  <a:lnTo>
                    <a:pt x="316" y="620"/>
                  </a:lnTo>
                  <a:lnTo>
                    <a:pt x="294" y="627"/>
                  </a:lnTo>
                  <a:lnTo>
                    <a:pt x="272" y="632"/>
                  </a:lnTo>
                  <a:lnTo>
                    <a:pt x="246" y="636"/>
                  </a:lnTo>
                  <a:lnTo>
                    <a:pt x="225" y="639"/>
                  </a:lnTo>
                  <a:lnTo>
                    <a:pt x="195" y="642"/>
                  </a:lnTo>
                  <a:lnTo>
                    <a:pt x="173" y="644"/>
                  </a:lnTo>
                  <a:lnTo>
                    <a:pt x="151" y="643"/>
                  </a:lnTo>
                  <a:lnTo>
                    <a:pt x="137" y="643"/>
                  </a:lnTo>
                  <a:lnTo>
                    <a:pt x="142" y="632"/>
                  </a:lnTo>
                  <a:lnTo>
                    <a:pt x="151" y="619"/>
                  </a:lnTo>
                  <a:lnTo>
                    <a:pt x="163" y="607"/>
                  </a:lnTo>
                  <a:lnTo>
                    <a:pt x="175" y="594"/>
                  </a:lnTo>
                  <a:lnTo>
                    <a:pt x="190" y="578"/>
                  </a:lnTo>
                  <a:lnTo>
                    <a:pt x="202" y="567"/>
                  </a:lnTo>
                  <a:lnTo>
                    <a:pt x="212" y="555"/>
                  </a:lnTo>
                  <a:lnTo>
                    <a:pt x="221" y="540"/>
                  </a:lnTo>
                  <a:lnTo>
                    <a:pt x="227" y="525"/>
                  </a:lnTo>
                  <a:lnTo>
                    <a:pt x="231" y="509"/>
                  </a:lnTo>
                  <a:lnTo>
                    <a:pt x="234" y="494"/>
                  </a:lnTo>
                  <a:lnTo>
                    <a:pt x="232" y="477"/>
                  </a:lnTo>
                  <a:lnTo>
                    <a:pt x="228" y="466"/>
                  </a:lnTo>
                  <a:lnTo>
                    <a:pt x="220" y="456"/>
                  </a:lnTo>
                  <a:lnTo>
                    <a:pt x="213" y="450"/>
                  </a:lnTo>
                  <a:lnTo>
                    <a:pt x="204" y="445"/>
                  </a:lnTo>
                  <a:lnTo>
                    <a:pt x="194" y="443"/>
                  </a:lnTo>
                  <a:lnTo>
                    <a:pt x="183" y="442"/>
                  </a:lnTo>
                  <a:lnTo>
                    <a:pt x="172" y="445"/>
                  </a:lnTo>
                  <a:lnTo>
                    <a:pt x="161" y="452"/>
                  </a:lnTo>
                  <a:lnTo>
                    <a:pt x="152" y="461"/>
                  </a:lnTo>
                  <a:lnTo>
                    <a:pt x="143" y="472"/>
                  </a:lnTo>
                  <a:lnTo>
                    <a:pt x="135" y="484"/>
                  </a:lnTo>
                  <a:lnTo>
                    <a:pt x="127" y="494"/>
                  </a:lnTo>
                  <a:lnTo>
                    <a:pt x="118" y="504"/>
                  </a:lnTo>
                  <a:lnTo>
                    <a:pt x="108" y="514"/>
                  </a:lnTo>
                  <a:lnTo>
                    <a:pt x="95" y="521"/>
                  </a:lnTo>
                  <a:lnTo>
                    <a:pt x="82" y="524"/>
                  </a:lnTo>
                  <a:lnTo>
                    <a:pt x="68" y="526"/>
                  </a:lnTo>
                  <a:lnTo>
                    <a:pt x="54" y="524"/>
                  </a:lnTo>
                  <a:lnTo>
                    <a:pt x="40" y="520"/>
                  </a:lnTo>
                  <a:lnTo>
                    <a:pt x="27" y="512"/>
                  </a:lnTo>
                  <a:lnTo>
                    <a:pt x="17" y="504"/>
                  </a:lnTo>
                  <a:lnTo>
                    <a:pt x="9" y="492"/>
                  </a:lnTo>
                  <a:lnTo>
                    <a:pt x="4" y="478"/>
                  </a:lnTo>
                  <a:lnTo>
                    <a:pt x="1" y="465"/>
                  </a:lnTo>
                  <a:lnTo>
                    <a:pt x="0" y="451"/>
                  </a:lnTo>
                  <a:lnTo>
                    <a:pt x="2" y="439"/>
                  </a:lnTo>
                  <a:lnTo>
                    <a:pt x="7" y="428"/>
                  </a:lnTo>
                  <a:lnTo>
                    <a:pt x="16" y="415"/>
                  </a:lnTo>
                  <a:lnTo>
                    <a:pt x="28" y="404"/>
                  </a:lnTo>
                  <a:lnTo>
                    <a:pt x="42" y="395"/>
                  </a:lnTo>
                  <a:lnTo>
                    <a:pt x="54" y="389"/>
                  </a:lnTo>
                  <a:lnTo>
                    <a:pt x="70" y="381"/>
                  </a:lnTo>
                  <a:lnTo>
                    <a:pt x="84" y="373"/>
                  </a:lnTo>
                  <a:lnTo>
                    <a:pt x="98" y="363"/>
                  </a:lnTo>
                  <a:lnTo>
                    <a:pt x="111" y="351"/>
                  </a:lnTo>
                  <a:lnTo>
                    <a:pt x="121" y="338"/>
                  </a:lnTo>
                  <a:lnTo>
                    <a:pt x="126" y="321"/>
                  </a:lnTo>
                  <a:lnTo>
                    <a:pt x="128" y="305"/>
                  </a:lnTo>
                  <a:lnTo>
                    <a:pt x="127" y="290"/>
                  </a:lnTo>
                  <a:lnTo>
                    <a:pt x="124" y="273"/>
                  </a:lnTo>
                  <a:lnTo>
                    <a:pt x="118" y="256"/>
                  </a:lnTo>
                  <a:lnTo>
                    <a:pt x="109" y="236"/>
                  </a:lnTo>
                  <a:lnTo>
                    <a:pt x="101" y="218"/>
                  </a:lnTo>
                  <a:lnTo>
                    <a:pt x="92" y="199"/>
                  </a:lnTo>
                  <a:lnTo>
                    <a:pt x="88" y="178"/>
                  </a:lnTo>
                  <a:lnTo>
                    <a:pt x="88" y="163"/>
                  </a:lnTo>
                  <a:lnTo>
                    <a:pt x="90" y="146"/>
                  </a:lnTo>
                  <a:lnTo>
                    <a:pt x="91" y="134"/>
                  </a:lnTo>
                  <a:lnTo>
                    <a:pt x="103" y="136"/>
                  </a:lnTo>
                  <a:lnTo>
                    <a:pt x="120" y="138"/>
                  </a:lnTo>
                  <a:lnTo>
                    <a:pt x="138" y="140"/>
                  </a:lnTo>
                  <a:lnTo>
                    <a:pt x="158" y="143"/>
                  </a:lnTo>
                  <a:lnTo>
                    <a:pt x="178" y="145"/>
                  </a:lnTo>
                  <a:lnTo>
                    <a:pt x="200" y="148"/>
                  </a:lnTo>
                  <a:lnTo>
                    <a:pt x="223" y="150"/>
                  </a:lnTo>
                  <a:lnTo>
                    <a:pt x="248" y="151"/>
                  </a:lnTo>
                  <a:lnTo>
                    <a:pt x="297" y="151"/>
                  </a:lnTo>
                  <a:lnTo>
                    <a:pt x="314" y="150"/>
                  </a:lnTo>
                  <a:lnTo>
                    <a:pt x="331" y="149"/>
                  </a:lnTo>
                  <a:lnTo>
                    <a:pt x="350" y="146"/>
                  </a:lnTo>
                  <a:lnTo>
                    <a:pt x="366" y="141"/>
                  </a:lnTo>
                  <a:lnTo>
                    <a:pt x="378" y="135"/>
                  </a:lnTo>
                  <a:lnTo>
                    <a:pt x="388" y="128"/>
                  </a:lnTo>
                  <a:lnTo>
                    <a:pt x="395" y="121"/>
                  </a:lnTo>
                  <a:lnTo>
                    <a:pt x="398" y="113"/>
                  </a:lnTo>
                  <a:lnTo>
                    <a:pt x="398" y="101"/>
                  </a:lnTo>
                  <a:lnTo>
                    <a:pt x="395" y="87"/>
                  </a:lnTo>
                  <a:lnTo>
                    <a:pt x="390" y="73"/>
                  </a:lnTo>
                  <a:lnTo>
                    <a:pt x="385" y="60"/>
                  </a:lnTo>
                  <a:lnTo>
                    <a:pt x="385" y="48"/>
                  </a:lnTo>
                  <a:lnTo>
                    <a:pt x="391" y="37"/>
                  </a:lnTo>
                  <a:lnTo>
                    <a:pt x="400" y="27"/>
                  </a:lnTo>
                  <a:lnTo>
                    <a:pt x="413" y="19"/>
                  </a:lnTo>
                  <a:lnTo>
                    <a:pt x="428" y="13"/>
                  </a:lnTo>
                  <a:lnTo>
                    <a:pt x="445" y="8"/>
                  </a:lnTo>
                  <a:lnTo>
                    <a:pt x="462" y="5"/>
                  </a:lnTo>
                  <a:lnTo>
                    <a:pt x="483" y="2"/>
                  </a:lnTo>
                  <a:lnTo>
                    <a:pt x="500" y="0"/>
                  </a:lnTo>
                  <a:lnTo>
                    <a:pt x="519" y="0"/>
                  </a:lnTo>
                  <a:lnTo>
                    <a:pt x="535" y="1"/>
                  </a:lnTo>
                  <a:lnTo>
                    <a:pt x="552" y="5"/>
                  </a:lnTo>
                  <a:lnTo>
                    <a:pt x="568" y="10"/>
                  </a:lnTo>
                  <a:lnTo>
                    <a:pt x="583" y="17"/>
                  </a:lnTo>
                  <a:lnTo>
                    <a:pt x="595" y="25"/>
                  </a:lnTo>
                  <a:lnTo>
                    <a:pt x="606" y="35"/>
                  </a:lnTo>
                  <a:lnTo>
                    <a:pt x="611" y="45"/>
                  </a:lnTo>
                  <a:lnTo>
                    <a:pt x="613" y="55"/>
                  </a:lnTo>
                  <a:lnTo>
                    <a:pt x="610" y="67"/>
                  </a:lnTo>
                  <a:lnTo>
                    <a:pt x="605" y="77"/>
                  </a:lnTo>
                  <a:lnTo>
                    <a:pt x="596" y="93"/>
                  </a:lnTo>
                  <a:lnTo>
                    <a:pt x="590" y="106"/>
                  </a:lnTo>
                  <a:lnTo>
                    <a:pt x="585" y="120"/>
                  </a:lnTo>
                  <a:lnTo>
                    <a:pt x="585" y="132"/>
                  </a:lnTo>
                  <a:lnTo>
                    <a:pt x="590" y="144"/>
                  </a:lnTo>
                  <a:lnTo>
                    <a:pt x="600" y="153"/>
                  </a:lnTo>
                  <a:lnTo>
                    <a:pt x="609" y="158"/>
                  </a:lnTo>
                  <a:lnTo>
                    <a:pt x="623" y="163"/>
                  </a:lnTo>
                  <a:lnTo>
                    <a:pt x="640" y="167"/>
                  </a:lnTo>
                  <a:lnTo>
                    <a:pt x="656" y="169"/>
                  </a:lnTo>
                  <a:lnTo>
                    <a:pt x="677" y="171"/>
                  </a:lnTo>
                  <a:lnTo>
                    <a:pt x="700" y="171"/>
                  </a:lnTo>
                  <a:lnTo>
                    <a:pt x="719" y="168"/>
                  </a:lnTo>
                  <a:lnTo>
                    <a:pt x="747" y="166"/>
                  </a:lnTo>
                  <a:lnTo>
                    <a:pt x="775" y="162"/>
                  </a:lnTo>
                  <a:lnTo>
                    <a:pt x="799" y="158"/>
                  </a:lnTo>
                  <a:lnTo>
                    <a:pt x="823" y="154"/>
                  </a:lnTo>
                  <a:lnTo>
                    <a:pt x="851" y="148"/>
                  </a:lnTo>
                  <a:lnTo>
                    <a:pt x="884" y="141"/>
                  </a:lnTo>
                  <a:lnTo>
                    <a:pt x="931" y="132"/>
                  </a:lnTo>
                  <a:lnTo>
                    <a:pt x="934" y="142"/>
                  </a:lnTo>
                  <a:close/>
                </a:path>
              </a:pathLst>
            </a:custGeom>
            <a:gradFill rotWithShape="0">
              <a:gsLst>
                <a:gs pos="0">
                  <a:srgbClr val="777777">
                    <a:gamma/>
                    <a:shade val="46275"/>
                    <a:invGamma/>
                  </a:srgbClr>
                </a:gs>
                <a:gs pos="50000">
                  <a:srgbClr val="777777"/>
                </a:gs>
                <a:gs pos="100000">
                  <a:srgbClr val="777777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12700">
              <a:solidFill>
                <a:schemeClr val="tx2"/>
              </a:solidFill>
              <a:prstDash val="solid"/>
              <a:round/>
              <a:headEnd/>
              <a:tailEnd/>
            </a:ln>
            <a:effectLst>
              <a:outerShdw dist="115003" dir="5019588" algn="ctr" rotWithShape="0">
                <a:srgbClr val="4D4D4D"/>
              </a:outerShdw>
            </a:effectLst>
          </p:spPr>
          <p:txBody>
            <a:bodyPr/>
            <a:lstStyle/>
            <a:p>
              <a:endParaRPr lang="ar-EG"/>
            </a:p>
          </p:txBody>
        </p:sp>
        <p:sp>
          <p:nvSpPr>
            <p:cNvPr id="24" name="Text Box 30"/>
            <p:cNvSpPr txBox="1">
              <a:spLocks noChangeArrowheads="1"/>
            </p:cNvSpPr>
            <p:nvPr/>
          </p:nvSpPr>
          <p:spPr bwMode="auto">
            <a:xfrm>
              <a:off x="4175125" y="2724150"/>
              <a:ext cx="839788" cy="57943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32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OM</a:t>
              </a:r>
            </a:p>
          </p:txBody>
        </p:sp>
      </p:grpSp>
      <p:sp>
        <p:nvSpPr>
          <p:cNvPr id="31" name="Slide Number Placeholder 4"/>
          <p:cNvSpPr txBox="1">
            <a:spLocks noGrp="1"/>
          </p:cNvSpPr>
          <p:nvPr/>
        </p:nvSpPr>
        <p:spPr bwMode="auto">
          <a:xfrm>
            <a:off x="8458200" y="64770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/>
            <a:r>
              <a:rPr lang="en-US" sz="1600" b="0" dirty="0">
                <a:solidFill>
                  <a:schemeClr val="tx2"/>
                </a:solidFill>
              </a:rPr>
              <a:t>1-</a:t>
            </a:r>
            <a:fld id="{D4254CFA-1C13-44EA-B443-597B2A666CC6}" type="slidenum">
              <a:rPr lang="en-US" sz="1600" b="0">
                <a:solidFill>
                  <a:schemeClr val="tx2"/>
                </a:solidFill>
              </a:rPr>
              <a:pPr algn="ctr"/>
              <a:t>10</a:t>
            </a:fld>
            <a:endParaRPr lang="en-US" sz="1600" b="0" dirty="0">
              <a:solidFill>
                <a:schemeClr val="tx2"/>
              </a:solidFill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4425"/>
            <a:ext cx="1981200" cy="64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154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6"/>
          <p:cNvSpPr>
            <a:spLocks noChangeArrowheads="1"/>
          </p:cNvSpPr>
          <p:nvPr/>
        </p:nvSpPr>
        <p:spPr bwMode="auto">
          <a:xfrm>
            <a:off x="3792538" y="1947863"/>
            <a:ext cx="180975" cy="5159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eaLnBrk="0" hangingPunct="0"/>
            <a:endParaRPr lang="en-US" sz="2800">
              <a:solidFill>
                <a:srgbClr val="2237A0"/>
              </a:solidFill>
              <a:latin typeface="Times New Roman" pitchFamily="18" charset="0"/>
            </a:endParaRPr>
          </a:p>
        </p:txBody>
      </p:sp>
      <p:grpSp>
        <p:nvGrpSpPr>
          <p:cNvPr id="23555" name="Group 18"/>
          <p:cNvGrpSpPr>
            <a:grpSpLocks/>
          </p:cNvGrpSpPr>
          <p:nvPr/>
        </p:nvGrpSpPr>
        <p:grpSpPr bwMode="auto">
          <a:xfrm>
            <a:off x="1012825" y="2133600"/>
            <a:ext cx="6759575" cy="1897062"/>
            <a:chOff x="572" y="1453"/>
            <a:chExt cx="4258" cy="1195"/>
          </a:xfrm>
        </p:grpSpPr>
        <p:sp>
          <p:nvSpPr>
            <p:cNvPr id="8197" name="Rectangle 7"/>
            <p:cNvSpPr>
              <a:spLocks noChangeArrowheads="1"/>
            </p:cNvSpPr>
            <p:nvPr/>
          </p:nvSpPr>
          <p:spPr bwMode="auto">
            <a:xfrm>
              <a:off x="2156" y="2277"/>
              <a:ext cx="1345" cy="371"/>
            </a:xfrm>
            <a:prstGeom prst="rect">
              <a:avLst/>
            </a:prstGeom>
            <a:solidFill>
              <a:schemeClr val="accent1"/>
            </a:solidFill>
            <a:ln w="12700">
              <a:noFill/>
              <a:miter lim="800000"/>
              <a:headEnd/>
              <a:tailEnd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>
                <a:defRPr/>
              </a:pPr>
              <a:r>
                <a:rPr lang="en-US" sz="3200" dirty="0">
                  <a:latin typeface="Times New Roman" pitchFamily="18" charset="0"/>
                </a:rPr>
                <a:t>Operations</a:t>
              </a:r>
            </a:p>
          </p:txBody>
        </p:sp>
        <p:sp>
          <p:nvSpPr>
            <p:cNvPr id="8198" name="Rectangle 8"/>
            <p:cNvSpPr>
              <a:spLocks noChangeArrowheads="1"/>
            </p:cNvSpPr>
            <p:nvPr/>
          </p:nvSpPr>
          <p:spPr bwMode="auto">
            <a:xfrm>
              <a:off x="3840" y="2275"/>
              <a:ext cx="990" cy="371"/>
            </a:xfrm>
            <a:prstGeom prst="rect">
              <a:avLst/>
            </a:prstGeom>
            <a:solidFill>
              <a:schemeClr val="accent1"/>
            </a:solidFill>
            <a:ln w="12700">
              <a:noFill/>
              <a:miter lim="800000"/>
              <a:headEnd/>
              <a:tailEnd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>
                <a:defRPr/>
              </a:pPr>
              <a:r>
                <a:rPr lang="en-US" sz="3200">
                  <a:latin typeface="Times New Roman" pitchFamily="18" charset="0"/>
                </a:rPr>
                <a:t>Finance</a:t>
              </a:r>
            </a:p>
          </p:txBody>
        </p:sp>
        <p:sp>
          <p:nvSpPr>
            <p:cNvPr id="8199" name="Rectangle 11"/>
            <p:cNvSpPr>
              <a:spLocks noChangeArrowheads="1"/>
            </p:cNvSpPr>
            <p:nvPr/>
          </p:nvSpPr>
          <p:spPr bwMode="auto">
            <a:xfrm>
              <a:off x="572" y="2257"/>
              <a:ext cx="1288" cy="371"/>
            </a:xfrm>
            <a:prstGeom prst="rect">
              <a:avLst/>
            </a:prstGeom>
            <a:solidFill>
              <a:schemeClr val="accent1"/>
            </a:solidFill>
            <a:ln w="12700">
              <a:noFill/>
              <a:miter lim="800000"/>
              <a:headEnd/>
              <a:tailEnd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>
                <a:defRPr/>
              </a:pPr>
              <a:r>
                <a:rPr lang="en-US" sz="3200" dirty="0">
                  <a:latin typeface="Times New Roman" pitchFamily="18" charset="0"/>
                </a:rPr>
                <a:t>Marketing</a:t>
              </a:r>
            </a:p>
          </p:txBody>
        </p:sp>
        <p:sp>
          <p:nvSpPr>
            <p:cNvPr id="8200" name="Rectangle 13"/>
            <p:cNvSpPr>
              <a:spLocks noChangeArrowheads="1"/>
            </p:cNvSpPr>
            <p:nvPr/>
          </p:nvSpPr>
          <p:spPr bwMode="auto">
            <a:xfrm>
              <a:off x="2028" y="1453"/>
              <a:ext cx="1573" cy="371"/>
            </a:xfrm>
            <a:prstGeom prst="rect">
              <a:avLst/>
            </a:prstGeom>
            <a:solidFill>
              <a:schemeClr val="accent1"/>
            </a:solidFill>
            <a:ln w="12700">
              <a:noFill/>
              <a:miter lim="800000"/>
              <a:headEnd/>
              <a:tailEnd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>
                <a:defRPr/>
              </a:pPr>
              <a:r>
                <a:rPr lang="en-US" sz="3200" dirty="0">
                  <a:latin typeface="Times New Roman" pitchFamily="18" charset="0"/>
                </a:rPr>
                <a:t>Organization</a:t>
              </a:r>
            </a:p>
          </p:txBody>
        </p:sp>
        <p:sp>
          <p:nvSpPr>
            <p:cNvPr id="23571" name="Line 14"/>
            <p:cNvSpPr>
              <a:spLocks noChangeShapeType="1"/>
            </p:cNvSpPr>
            <p:nvPr/>
          </p:nvSpPr>
          <p:spPr bwMode="auto">
            <a:xfrm>
              <a:off x="2832" y="1824"/>
              <a:ext cx="0" cy="432"/>
            </a:xfrm>
            <a:prstGeom prst="line">
              <a:avLst/>
            </a:prstGeom>
            <a:noFill/>
            <a:ln w="31750">
              <a:solidFill>
                <a:srgbClr val="000099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3572" name="Line 15"/>
            <p:cNvSpPr>
              <a:spLocks noChangeShapeType="1"/>
            </p:cNvSpPr>
            <p:nvPr/>
          </p:nvSpPr>
          <p:spPr bwMode="auto">
            <a:xfrm>
              <a:off x="1248" y="2064"/>
              <a:ext cx="3072" cy="0"/>
            </a:xfrm>
            <a:prstGeom prst="line">
              <a:avLst/>
            </a:prstGeom>
            <a:noFill/>
            <a:ln w="31750">
              <a:solidFill>
                <a:srgbClr val="000099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3573" name="Line 16"/>
            <p:cNvSpPr>
              <a:spLocks noChangeShapeType="1"/>
            </p:cNvSpPr>
            <p:nvPr/>
          </p:nvSpPr>
          <p:spPr bwMode="auto">
            <a:xfrm>
              <a:off x="1248" y="2064"/>
              <a:ext cx="0" cy="192"/>
            </a:xfrm>
            <a:prstGeom prst="line">
              <a:avLst/>
            </a:prstGeom>
            <a:noFill/>
            <a:ln w="31750">
              <a:solidFill>
                <a:srgbClr val="000099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3574" name="Line 17"/>
            <p:cNvSpPr>
              <a:spLocks noChangeShapeType="1"/>
            </p:cNvSpPr>
            <p:nvPr/>
          </p:nvSpPr>
          <p:spPr bwMode="auto">
            <a:xfrm>
              <a:off x="4320" y="2064"/>
              <a:ext cx="0" cy="192"/>
            </a:xfrm>
            <a:prstGeom prst="line">
              <a:avLst/>
            </a:prstGeom>
            <a:noFill/>
            <a:ln w="31750">
              <a:solidFill>
                <a:srgbClr val="000099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8196" name="Rectangle 15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229600" cy="990600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Basic Functions of the Business Organization</a:t>
            </a:r>
          </a:p>
        </p:txBody>
      </p:sp>
      <p:sp>
        <p:nvSpPr>
          <p:cNvPr id="23558" name="Slide Number Placeholder 4"/>
          <p:cNvSpPr txBox="1">
            <a:spLocks noGrp="1"/>
          </p:cNvSpPr>
          <p:nvPr/>
        </p:nvSpPr>
        <p:spPr bwMode="auto">
          <a:xfrm>
            <a:off x="8534400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/>
            <a:r>
              <a:rPr lang="en-US" sz="1600" b="0" dirty="0">
                <a:solidFill>
                  <a:schemeClr val="tx2"/>
                </a:solidFill>
              </a:rPr>
              <a:t>1-</a:t>
            </a:r>
            <a:fld id="{D4254CFA-1C13-44EA-B443-597B2A666CC6}" type="slidenum">
              <a:rPr lang="en-US" sz="1600" b="0">
                <a:solidFill>
                  <a:schemeClr val="tx2"/>
                </a:solidFill>
              </a:rPr>
              <a:pPr algn="ctr"/>
              <a:t>11</a:t>
            </a:fld>
            <a:endParaRPr lang="en-US" sz="1600" b="0" dirty="0">
              <a:solidFill>
                <a:schemeClr val="tx2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14425"/>
            <a:ext cx="1981200" cy="643575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Arrow Connector 25"/>
          <p:cNvCxnSpPr/>
          <p:nvPr/>
        </p:nvCxnSpPr>
        <p:spPr>
          <a:xfrm>
            <a:off x="1600200" y="1481050"/>
            <a:ext cx="563880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29600" cy="6096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The Transformation Process</a:t>
            </a:r>
          </a:p>
        </p:txBody>
      </p:sp>
      <p:grpSp>
        <p:nvGrpSpPr>
          <p:cNvPr id="24579" name="Group 22"/>
          <p:cNvGrpSpPr>
            <a:grpSpLocks/>
          </p:cNvGrpSpPr>
          <p:nvPr/>
        </p:nvGrpSpPr>
        <p:grpSpPr bwMode="auto">
          <a:xfrm>
            <a:off x="838200" y="838200"/>
            <a:ext cx="7239000" cy="3711575"/>
            <a:chOff x="480" y="1070"/>
            <a:chExt cx="4560" cy="2338"/>
          </a:xfrm>
        </p:grpSpPr>
        <p:grpSp>
          <p:nvGrpSpPr>
            <p:cNvPr id="24584" name="Group 20"/>
            <p:cNvGrpSpPr>
              <a:grpSpLocks/>
            </p:cNvGrpSpPr>
            <p:nvPr/>
          </p:nvGrpSpPr>
          <p:grpSpPr bwMode="auto">
            <a:xfrm>
              <a:off x="480" y="1344"/>
              <a:ext cx="4560" cy="2064"/>
              <a:chOff x="336" y="1248"/>
              <a:chExt cx="4560" cy="2064"/>
            </a:xfrm>
          </p:grpSpPr>
          <p:sp>
            <p:nvSpPr>
              <p:cNvPr id="10248" name="AutoShape 4"/>
              <p:cNvSpPr>
                <a:spLocks noChangeArrowheads="1"/>
              </p:cNvSpPr>
              <p:nvPr/>
            </p:nvSpPr>
            <p:spPr bwMode="auto">
              <a:xfrm>
                <a:off x="336" y="1248"/>
                <a:ext cx="1008" cy="1152"/>
              </a:xfrm>
              <a:prstGeom prst="roundRect">
                <a:avLst>
                  <a:gd name="adj" fmla="val 16667"/>
                </a:avLst>
              </a:prstGeom>
              <a:solidFill>
                <a:schemeClr val="accent1">
                  <a:lumMod val="50000"/>
                </a:schemeClr>
              </a:solidFill>
              <a:ln w="12700" algn="ctr">
                <a:noFill/>
                <a:round/>
                <a:headEnd/>
                <a:tailEnd/>
              </a:ln>
              <a:effectLst>
                <a:outerShdw blurRad="149987" dist="250190" dir="8460000" algn="ctr">
                  <a:srgbClr val="000000">
                    <a:alpha val="28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contrasting" dir="t">
                  <a:rot lat="0" lon="0" rev="1500000"/>
                </a:lightRig>
              </a:scene3d>
              <a:sp3d prstMaterial="metal">
                <a:bevelT w="88900" h="88900"/>
              </a:sp3d>
            </p:spPr>
            <p:txBody>
              <a:bodyPr wrap="none"/>
              <a:lstStyle/>
              <a:p>
                <a:pPr>
                  <a:defRPr/>
                </a:pPr>
                <a:r>
                  <a:rPr lang="en-US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Arial" charset="0"/>
                  </a:rPr>
                  <a:t>Inputs</a:t>
                </a:r>
              </a:p>
              <a:p>
                <a:pPr>
                  <a:buFontTx/>
                  <a:buChar char="•"/>
                  <a:defRPr/>
                </a:pPr>
                <a:r>
                  <a:rPr lang="en-US" sz="16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Arial" charset="0"/>
                  </a:rPr>
                  <a:t>Land</a:t>
                </a:r>
              </a:p>
              <a:p>
                <a:pPr>
                  <a:buFontTx/>
                  <a:buChar char="•"/>
                  <a:defRPr/>
                </a:pPr>
                <a:r>
                  <a:rPr lang="en-US" sz="16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Arial" charset="0"/>
                  </a:rPr>
                  <a:t>Labor</a:t>
                </a:r>
              </a:p>
              <a:p>
                <a:pPr>
                  <a:buFontTx/>
                  <a:buChar char="•"/>
                  <a:defRPr/>
                </a:pPr>
                <a:r>
                  <a:rPr lang="en-US" sz="16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Arial" charset="0"/>
                  </a:rPr>
                  <a:t>Capital</a:t>
                </a:r>
              </a:p>
              <a:p>
                <a:pPr>
                  <a:buFontTx/>
                  <a:buChar char="•"/>
                  <a:defRPr/>
                </a:pPr>
                <a:r>
                  <a:rPr lang="en-US" sz="16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Arial" charset="0"/>
                  </a:rPr>
                  <a:t>Information</a:t>
                </a:r>
                <a:endParaRPr lang="en-US" b="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10249" name="AutoShape 4"/>
              <p:cNvSpPr>
                <a:spLocks noChangeArrowheads="1"/>
              </p:cNvSpPr>
              <p:nvPr/>
            </p:nvSpPr>
            <p:spPr bwMode="auto">
              <a:xfrm>
                <a:off x="3888" y="1248"/>
                <a:ext cx="1008" cy="1152"/>
              </a:xfrm>
              <a:prstGeom prst="roundRect">
                <a:avLst>
                  <a:gd name="adj" fmla="val 16667"/>
                </a:avLst>
              </a:prstGeom>
              <a:solidFill>
                <a:schemeClr val="accent1">
                  <a:lumMod val="50000"/>
                </a:schemeClr>
              </a:solidFill>
              <a:ln w="12700" algn="ctr">
                <a:noFill/>
                <a:round/>
                <a:headEnd/>
                <a:tailEnd/>
              </a:ln>
              <a:effectLst>
                <a:outerShdw blurRad="149987" dist="250190" dir="8460000" algn="ctr">
                  <a:srgbClr val="000000">
                    <a:alpha val="28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contrasting" dir="t">
                  <a:rot lat="0" lon="0" rev="1500000"/>
                </a:lightRig>
              </a:scene3d>
              <a:sp3d prstMaterial="metal">
                <a:bevelT w="88900" h="88900"/>
              </a:sp3d>
            </p:spPr>
            <p:txBody>
              <a:bodyPr wrap="none"/>
              <a:lstStyle/>
              <a:p>
                <a:pPr>
                  <a:defRPr/>
                </a:pPr>
                <a:r>
                  <a:rPr lang="en-US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Arial" charset="0"/>
                  </a:rPr>
                  <a:t>Outputs</a:t>
                </a:r>
              </a:p>
              <a:p>
                <a:pPr>
                  <a:buFontTx/>
                  <a:buChar char="•"/>
                  <a:defRPr/>
                </a:pPr>
                <a:r>
                  <a:rPr lang="en-US" sz="16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Arial" charset="0"/>
                  </a:rPr>
                  <a:t>Goods</a:t>
                </a:r>
              </a:p>
              <a:p>
                <a:pPr>
                  <a:buFontTx/>
                  <a:buChar char="•"/>
                  <a:defRPr/>
                </a:pPr>
                <a:r>
                  <a:rPr lang="en-US" sz="16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Arial" charset="0"/>
                  </a:rPr>
                  <a:t>Services</a:t>
                </a:r>
                <a:endParaRPr lang="en-US" b="0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10250" name="AutoShape 4"/>
              <p:cNvSpPr>
                <a:spLocks noChangeArrowheads="1"/>
              </p:cNvSpPr>
              <p:nvPr/>
            </p:nvSpPr>
            <p:spPr bwMode="auto">
              <a:xfrm>
                <a:off x="1872" y="1248"/>
                <a:ext cx="1488" cy="1152"/>
              </a:xfrm>
              <a:prstGeom prst="roundRect">
                <a:avLst>
                  <a:gd name="adj" fmla="val 16667"/>
                </a:avLst>
              </a:prstGeom>
              <a:solidFill>
                <a:schemeClr val="accent1">
                  <a:lumMod val="50000"/>
                </a:schemeClr>
              </a:solidFill>
              <a:ln w="12700" algn="ctr">
                <a:noFill/>
                <a:round/>
                <a:headEnd/>
                <a:tailEnd/>
              </a:ln>
              <a:effectLst>
                <a:outerShdw blurRad="149987" dist="250190" dir="8460000" algn="ctr">
                  <a:srgbClr val="000000">
                    <a:alpha val="28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contrasting" dir="t">
                  <a:rot lat="0" lon="0" rev="1500000"/>
                </a:lightRig>
              </a:scene3d>
              <a:sp3d prstMaterial="metal">
                <a:bevelT w="88900" h="88900"/>
              </a:sp3d>
            </p:spPr>
            <p:txBody>
              <a:bodyPr wrap="none"/>
              <a:lstStyle/>
              <a:p>
                <a:pPr algn="ctr">
                  <a:defRPr/>
                </a:pPr>
                <a:r>
                  <a:rPr lang="en-US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Arial" charset="0"/>
                  </a:rPr>
                  <a:t>Transformation/</a:t>
                </a:r>
              </a:p>
              <a:p>
                <a:pPr algn="ctr">
                  <a:defRPr/>
                </a:pPr>
                <a:r>
                  <a:rPr lang="en-US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Arial" charset="0"/>
                  </a:rPr>
                  <a:t>Conversion</a:t>
                </a:r>
              </a:p>
              <a:p>
                <a:pPr algn="ctr">
                  <a:defRPr/>
                </a:pPr>
                <a:r>
                  <a:rPr lang="en-US" sz="20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Arial" charset="0"/>
                  </a:rPr>
                  <a:t>Process</a:t>
                </a:r>
              </a:p>
            </p:txBody>
          </p:sp>
          <p:sp>
            <p:nvSpPr>
              <p:cNvPr id="10251" name="Line 6"/>
              <p:cNvSpPr>
                <a:spLocks noChangeShapeType="1"/>
              </p:cNvSpPr>
              <p:nvPr/>
            </p:nvSpPr>
            <p:spPr bwMode="auto">
              <a:xfrm>
                <a:off x="1344" y="1824"/>
                <a:ext cx="528" cy="0"/>
              </a:xfrm>
              <a:prstGeom prst="line">
                <a:avLst/>
              </a:prstGeom>
              <a:noFill/>
              <a:ln w="38100">
                <a:solidFill>
                  <a:schemeClr val="tx2">
                    <a:lumMod val="50000"/>
                  </a:schemeClr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 b="0">
                  <a:latin typeface="Arial" charset="0"/>
                </a:endParaRPr>
              </a:p>
            </p:txBody>
          </p:sp>
          <p:sp>
            <p:nvSpPr>
              <p:cNvPr id="10252" name="Line 7"/>
              <p:cNvSpPr>
                <a:spLocks noChangeShapeType="1"/>
              </p:cNvSpPr>
              <p:nvPr/>
            </p:nvSpPr>
            <p:spPr bwMode="auto">
              <a:xfrm>
                <a:off x="3360" y="1824"/>
                <a:ext cx="528" cy="0"/>
              </a:xfrm>
              <a:prstGeom prst="line">
                <a:avLst/>
              </a:prstGeom>
              <a:noFill/>
              <a:ln w="38100">
                <a:solidFill>
                  <a:schemeClr val="tx2">
                    <a:lumMod val="50000"/>
                  </a:schemeClr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 b="0">
                  <a:latin typeface="Arial" charset="0"/>
                </a:endParaRPr>
              </a:p>
            </p:txBody>
          </p:sp>
          <p:sp>
            <p:nvSpPr>
              <p:cNvPr id="10253" name="Line 8"/>
              <p:cNvSpPr>
                <a:spLocks noChangeShapeType="1"/>
              </p:cNvSpPr>
              <p:nvPr/>
            </p:nvSpPr>
            <p:spPr bwMode="auto">
              <a:xfrm>
                <a:off x="2544" y="2400"/>
                <a:ext cx="0" cy="480"/>
              </a:xfrm>
              <a:prstGeom prst="line">
                <a:avLst/>
              </a:prstGeom>
              <a:noFill/>
              <a:ln w="38100">
                <a:solidFill>
                  <a:schemeClr val="tx2">
                    <a:lumMod val="50000"/>
                  </a:schemeClr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 b="0">
                  <a:latin typeface="Arial" charset="0"/>
                </a:endParaRPr>
              </a:p>
            </p:txBody>
          </p:sp>
          <p:sp>
            <p:nvSpPr>
              <p:cNvPr id="10254" name="Line 9"/>
              <p:cNvSpPr>
                <a:spLocks noChangeShapeType="1"/>
              </p:cNvSpPr>
              <p:nvPr/>
            </p:nvSpPr>
            <p:spPr bwMode="auto">
              <a:xfrm flipV="1">
                <a:off x="2640" y="2400"/>
                <a:ext cx="0" cy="480"/>
              </a:xfrm>
              <a:prstGeom prst="line">
                <a:avLst/>
              </a:prstGeom>
              <a:noFill/>
              <a:ln w="38100">
                <a:solidFill>
                  <a:schemeClr val="tx2">
                    <a:lumMod val="50000"/>
                  </a:schemeClr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 b="0">
                  <a:latin typeface="Arial" charset="0"/>
                </a:endParaRPr>
              </a:p>
            </p:txBody>
          </p:sp>
          <p:sp>
            <p:nvSpPr>
              <p:cNvPr id="10255" name="AutoShape 10"/>
              <p:cNvSpPr>
                <a:spLocks noChangeArrowheads="1"/>
              </p:cNvSpPr>
              <p:nvPr/>
            </p:nvSpPr>
            <p:spPr bwMode="auto">
              <a:xfrm>
                <a:off x="2064" y="2880"/>
                <a:ext cx="1152" cy="432"/>
              </a:xfrm>
              <a:prstGeom prst="roundRect">
                <a:avLst>
                  <a:gd name="adj" fmla="val 16667"/>
                </a:avLst>
              </a:prstGeom>
              <a:solidFill>
                <a:schemeClr val="accent1">
                  <a:lumMod val="50000"/>
                </a:schemeClr>
              </a:solidFill>
              <a:ln w="9525">
                <a:noFill/>
                <a:round/>
                <a:headEnd/>
                <a:tailEnd/>
              </a:ln>
              <a:effectLst>
                <a:outerShdw blurRad="149987" dist="250190" dir="8460000" algn="ctr">
                  <a:srgbClr val="000000">
                    <a:alpha val="28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contrasting" dir="t">
                  <a:rot lat="0" lon="0" rev="1500000"/>
                </a:lightRig>
              </a:scene3d>
              <a:sp3d prstMaterial="metal">
                <a:bevelT w="88900" h="88900"/>
              </a:sp3d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Arial" charset="0"/>
                  </a:rPr>
                  <a:t>Control</a:t>
                </a:r>
              </a:p>
            </p:txBody>
          </p:sp>
          <p:sp>
            <p:nvSpPr>
              <p:cNvPr id="10256" name="Line 11"/>
              <p:cNvSpPr>
                <a:spLocks noChangeShapeType="1"/>
              </p:cNvSpPr>
              <p:nvPr/>
            </p:nvSpPr>
            <p:spPr bwMode="auto">
              <a:xfrm>
                <a:off x="864" y="3120"/>
                <a:ext cx="1200" cy="0"/>
              </a:xfrm>
              <a:prstGeom prst="line">
                <a:avLst/>
              </a:prstGeom>
              <a:noFill/>
              <a:ln w="38100">
                <a:solidFill>
                  <a:schemeClr val="tx2">
                    <a:lumMod val="50000"/>
                  </a:schemeClr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 b="0">
                  <a:latin typeface="Arial" charset="0"/>
                </a:endParaRPr>
              </a:p>
            </p:txBody>
          </p:sp>
          <p:sp>
            <p:nvSpPr>
              <p:cNvPr id="10257" name="Line 14"/>
              <p:cNvSpPr>
                <a:spLocks noChangeShapeType="1"/>
              </p:cNvSpPr>
              <p:nvPr/>
            </p:nvSpPr>
            <p:spPr bwMode="auto">
              <a:xfrm flipH="1">
                <a:off x="3216" y="3120"/>
                <a:ext cx="1200" cy="0"/>
              </a:xfrm>
              <a:prstGeom prst="line">
                <a:avLst/>
              </a:prstGeom>
              <a:noFill/>
              <a:ln w="38100">
                <a:solidFill>
                  <a:schemeClr val="tx2">
                    <a:lumMod val="50000"/>
                  </a:schemeClr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 b="0">
                  <a:latin typeface="Arial" charset="0"/>
                </a:endParaRPr>
              </a:p>
            </p:txBody>
          </p:sp>
          <p:sp>
            <p:nvSpPr>
              <p:cNvPr id="10258" name="Line 15"/>
              <p:cNvSpPr>
                <a:spLocks noChangeShapeType="1"/>
              </p:cNvSpPr>
              <p:nvPr/>
            </p:nvSpPr>
            <p:spPr bwMode="auto">
              <a:xfrm flipV="1">
                <a:off x="4416" y="2400"/>
                <a:ext cx="0" cy="720"/>
              </a:xfrm>
              <a:prstGeom prst="line">
                <a:avLst/>
              </a:prstGeom>
              <a:noFill/>
              <a:ln w="38100">
                <a:solidFill>
                  <a:schemeClr val="tx2">
                    <a:lumMod val="50000"/>
                  </a:schemeClr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 b="0">
                  <a:latin typeface="Arial" charset="0"/>
                </a:endParaRPr>
              </a:p>
            </p:txBody>
          </p:sp>
          <p:sp>
            <p:nvSpPr>
              <p:cNvPr id="10259" name="Line 16"/>
              <p:cNvSpPr>
                <a:spLocks noChangeShapeType="1"/>
              </p:cNvSpPr>
              <p:nvPr/>
            </p:nvSpPr>
            <p:spPr bwMode="auto">
              <a:xfrm flipV="1">
                <a:off x="864" y="2400"/>
                <a:ext cx="0" cy="720"/>
              </a:xfrm>
              <a:prstGeom prst="line">
                <a:avLst/>
              </a:prstGeom>
              <a:noFill/>
              <a:ln w="38100">
                <a:solidFill>
                  <a:schemeClr val="tx2">
                    <a:lumMod val="50000"/>
                  </a:schemeClr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 b="0">
                  <a:latin typeface="Arial" charset="0"/>
                </a:endParaRPr>
              </a:p>
            </p:txBody>
          </p:sp>
          <p:sp>
            <p:nvSpPr>
              <p:cNvPr id="10260" name="Text Box 17"/>
              <p:cNvSpPr txBox="1">
                <a:spLocks noChangeArrowheads="1"/>
              </p:cNvSpPr>
              <p:nvPr/>
            </p:nvSpPr>
            <p:spPr bwMode="auto">
              <a:xfrm>
                <a:off x="2640" y="2430"/>
                <a:ext cx="977" cy="3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600" dirty="0">
                    <a:solidFill>
                      <a:schemeClr val="tx2">
                        <a:lumMod val="50000"/>
                      </a:schemeClr>
                    </a:solidFill>
                    <a:latin typeface="Arial" charset="0"/>
                  </a:rPr>
                  <a:t>Measurement</a:t>
                </a:r>
              </a:p>
              <a:p>
                <a:pPr>
                  <a:defRPr/>
                </a:pPr>
                <a:r>
                  <a:rPr lang="en-US" sz="1600" dirty="0">
                    <a:solidFill>
                      <a:schemeClr val="tx2">
                        <a:lumMod val="50000"/>
                      </a:schemeClr>
                    </a:solidFill>
                    <a:latin typeface="Arial" charset="0"/>
                  </a:rPr>
                  <a:t>and Feedback</a:t>
                </a:r>
                <a:endParaRPr lang="en-US" dirty="0">
                  <a:solidFill>
                    <a:schemeClr val="tx2">
                      <a:lumMod val="50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10261" name="Text Box 18"/>
              <p:cNvSpPr txBox="1">
                <a:spLocks noChangeArrowheads="1"/>
              </p:cNvSpPr>
              <p:nvPr/>
            </p:nvSpPr>
            <p:spPr bwMode="auto">
              <a:xfrm>
                <a:off x="847" y="2766"/>
                <a:ext cx="977" cy="3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600" dirty="0">
                    <a:solidFill>
                      <a:schemeClr val="tx2">
                        <a:lumMod val="50000"/>
                      </a:schemeClr>
                    </a:solidFill>
                    <a:latin typeface="Arial" charset="0"/>
                  </a:rPr>
                  <a:t>Measurement</a:t>
                </a:r>
              </a:p>
              <a:p>
                <a:pPr>
                  <a:defRPr/>
                </a:pPr>
                <a:r>
                  <a:rPr lang="en-US" sz="1600" dirty="0">
                    <a:solidFill>
                      <a:schemeClr val="tx2">
                        <a:lumMod val="50000"/>
                      </a:schemeClr>
                    </a:solidFill>
                    <a:latin typeface="Arial" charset="0"/>
                  </a:rPr>
                  <a:t>and Feedback</a:t>
                </a:r>
                <a:endParaRPr lang="en-US" dirty="0">
                  <a:solidFill>
                    <a:schemeClr val="tx2">
                      <a:lumMod val="50000"/>
                    </a:schemeClr>
                  </a:solidFill>
                  <a:latin typeface="Arial" charset="0"/>
                </a:endParaRPr>
              </a:p>
            </p:txBody>
          </p:sp>
          <p:sp>
            <p:nvSpPr>
              <p:cNvPr id="10262" name="Text Box 19"/>
              <p:cNvSpPr txBox="1">
                <a:spLocks noChangeArrowheads="1"/>
              </p:cNvSpPr>
              <p:nvPr/>
            </p:nvSpPr>
            <p:spPr bwMode="auto">
              <a:xfrm>
                <a:off x="3456" y="2750"/>
                <a:ext cx="977" cy="3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1600" dirty="0">
                    <a:solidFill>
                      <a:schemeClr val="tx2">
                        <a:lumMod val="50000"/>
                      </a:schemeClr>
                    </a:solidFill>
                    <a:latin typeface="Arial" charset="0"/>
                  </a:rPr>
                  <a:t>Measurement</a:t>
                </a:r>
              </a:p>
              <a:p>
                <a:pPr>
                  <a:defRPr/>
                </a:pPr>
                <a:r>
                  <a:rPr lang="en-US" sz="1600" dirty="0">
                    <a:solidFill>
                      <a:schemeClr val="tx2">
                        <a:lumMod val="50000"/>
                      </a:schemeClr>
                    </a:solidFill>
                    <a:latin typeface="Arial" charset="0"/>
                  </a:rPr>
                  <a:t>and Feedback</a:t>
                </a:r>
                <a:endParaRPr lang="en-US" dirty="0">
                  <a:solidFill>
                    <a:schemeClr val="tx2">
                      <a:lumMod val="50000"/>
                    </a:schemeClr>
                  </a:solidFill>
                  <a:latin typeface="Arial" charset="0"/>
                </a:endParaRPr>
              </a:p>
            </p:txBody>
          </p:sp>
        </p:grpSp>
        <p:sp>
          <p:nvSpPr>
            <p:cNvPr id="10247" name="Text Box 21"/>
            <p:cNvSpPr txBox="1">
              <a:spLocks noChangeArrowheads="1"/>
            </p:cNvSpPr>
            <p:nvPr/>
          </p:nvSpPr>
          <p:spPr bwMode="auto">
            <a:xfrm>
              <a:off x="2315" y="1070"/>
              <a:ext cx="898" cy="21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600" dirty="0">
                  <a:solidFill>
                    <a:schemeClr val="tx2">
                      <a:lumMod val="50000"/>
                    </a:schemeClr>
                  </a:solidFill>
                  <a:latin typeface="Arial" charset="0"/>
                </a:rPr>
                <a:t>Value-Added</a:t>
              </a:r>
              <a:endParaRPr lang="en-US" sz="1400" dirty="0">
                <a:solidFill>
                  <a:schemeClr val="tx2">
                    <a:lumMod val="50000"/>
                  </a:schemeClr>
                </a:solidFill>
                <a:latin typeface="Arial" charset="0"/>
              </a:endParaRPr>
            </a:p>
          </p:txBody>
        </p:sp>
      </p:grpSp>
      <p:sp>
        <p:nvSpPr>
          <p:cNvPr id="24580" name="Text Box 23"/>
          <p:cNvSpPr txBox="1">
            <a:spLocks noChangeArrowheads="1"/>
          </p:cNvSpPr>
          <p:nvPr/>
        </p:nvSpPr>
        <p:spPr bwMode="auto">
          <a:xfrm>
            <a:off x="304801" y="4648200"/>
            <a:ext cx="8686799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303B2C"/>
                </a:solidFill>
              </a:rPr>
              <a:t>Feedback</a:t>
            </a:r>
            <a:r>
              <a:rPr lang="en-US" sz="2000" b="0" dirty="0">
                <a:solidFill>
                  <a:srgbClr val="303B2C"/>
                </a:solidFill>
              </a:rPr>
              <a:t> = measurements taken at various points in the transformation process</a:t>
            </a:r>
            <a:endParaRPr lang="en-US" sz="2000" b="0" dirty="0">
              <a:solidFill>
                <a:schemeClr val="bg2"/>
              </a:solidFill>
            </a:endParaRPr>
          </a:p>
        </p:txBody>
      </p:sp>
      <p:sp>
        <p:nvSpPr>
          <p:cNvPr id="24581" name="Text Box 24"/>
          <p:cNvSpPr txBox="1">
            <a:spLocks noChangeArrowheads="1"/>
          </p:cNvSpPr>
          <p:nvPr/>
        </p:nvSpPr>
        <p:spPr bwMode="auto">
          <a:xfrm>
            <a:off x="304800" y="5409888"/>
            <a:ext cx="76962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303B2C"/>
                </a:solidFill>
              </a:rPr>
              <a:t>Control</a:t>
            </a:r>
            <a:r>
              <a:rPr lang="en-US" sz="2000" b="0" dirty="0">
                <a:solidFill>
                  <a:srgbClr val="303B2C"/>
                </a:solidFill>
              </a:rPr>
              <a:t> = The comparison of feedback against previously established standards to determine if corrective action is needed.</a:t>
            </a:r>
          </a:p>
        </p:txBody>
      </p:sp>
      <p:sp>
        <p:nvSpPr>
          <p:cNvPr id="24583" name="Slide Number Placeholder 4"/>
          <p:cNvSpPr txBox="1">
            <a:spLocks noGrp="1"/>
          </p:cNvSpPr>
          <p:nvPr/>
        </p:nvSpPr>
        <p:spPr bwMode="auto">
          <a:xfrm>
            <a:off x="8534400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/>
            <a:r>
              <a:rPr lang="en-US" sz="1600" b="0" dirty="0">
                <a:solidFill>
                  <a:schemeClr val="tx2"/>
                </a:solidFill>
              </a:rPr>
              <a:t>1-</a:t>
            </a:r>
            <a:fld id="{77B8F7AB-44C8-4E87-A568-B5734B53E33F}" type="slidenum">
              <a:rPr lang="en-US" sz="1600" b="0">
                <a:solidFill>
                  <a:schemeClr val="tx2"/>
                </a:solidFill>
              </a:rPr>
              <a:pPr algn="ctr"/>
              <a:t>12</a:t>
            </a:fld>
            <a:endParaRPr lang="en-US" sz="1600" b="0" dirty="0">
              <a:solidFill>
                <a:schemeClr val="tx2"/>
              </a:solidFill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14425"/>
            <a:ext cx="1981200" cy="6435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0" grpId="0"/>
      <p:bldP spid="2458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0" y="166394"/>
            <a:ext cx="6326556" cy="63832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71" tIns="44442" rIns="90471" bIns="44442">
            <a:spAutoFit/>
          </a:bodyPr>
          <a:lstStyle/>
          <a:p>
            <a:pPr algn="ctr" defTabSz="914011" eaLnBrk="0" hangingPunct="0">
              <a:defRPr/>
            </a:pPr>
            <a:r>
              <a:rPr 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entury Gothic" pitchFamily="34" charset="0"/>
              </a:rPr>
              <a:t>Food Processor (Goods)</a:t>
            </a:r>
          </a:p>
        </p:txBody>
      </p:sp>
      <p:sp>
        <p:nvSpPr>
          <p:cNvPr id="11267" name="Rectangle 6"/>
          <p:cNvSpPr>
            <a:spLocks noChangeArrowheads="1"/>
          </p:cNvSpPr>
          <p:nvPr/>
        </p:nvSpPr>
        <p:spPr bwMode="auto">
          <a:xfrm>
            <a:off x="655205" y="1432994"/>
            <a:ext cx="1410609" cy="58219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71" tIns="44442" rIns="90471" bIns="44442">
            <a:spAutoFit/>
          </a:bodyPr>
          <a:lstStyle/>
          <a:p>
            <a:pPr defTabSz="914011" eaLnBrk="0" hangingPunct="0"/>
            <a:r>
              <a:rPr lang="en-US" sz="3200" dirty="0">
                <a:solidFill>
                  <a:schemeClr val="hlink"/>
                </a:solidFill>
              </a:rPr>
              <a:t>Inputs</a:t>
            </a:r>
          </a:p>
        </p:txBody>
      </p:sp>
      <p:sp>
        <p:nvSpPr>
          <p:cNvPr id="11268" name="Rectangle 8"/>
          <p:cNvSpPr>
            <a:spLocks noChangeArrowheads="1"/>
          </p:cNvSpPr>
          <p:nvPr/>
        </p:nvSpPr>
        <p:spPr bwMode="auto">
          <a:xfrm>
            <a:off x="3671455" y="1461683"/>
            <a:ext cx="2391647" cy="58219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71" tIns="44442" rIns="90471" bIns="44442">
            <a:spAutoFit/>
          </a:bodyPr>
          <a:lstStyle/>
          <a:p>
            <a:pPr defTabSz="914011" eaLnBrk="0" hangingPunct="0"/>
            <a:r>
              <a:rPr lang="en-US" sz="3200" dirty="0">
                <a:solidFill>
                  <a:schemeClr val="hlink"/>
                </a:solidFill>
              </a:rPr>
              <a:t>Processing</a:t>
            </a:r>
          </a:p>
        </p:txBody>
      </p:sp>
      <p:sp>
        <p:nvSpPr>
          <p:cNvPr id="11269" name="Rectangle 10"/>
          <p:cNvSpPr>
            <a:spLocks noChangeArrowheads="1"/>
          </p:cNvSpPr>
          <p:nvPr/>
        </p:nvSpPr>
        <p:spPr bwMode="auto">
          <a:xfrm>
            <a:off x="6505864" y="1447339"/>
            <a:ext cx="1752049" cy="58219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71" tIns="44442" rIns="90471" bIns="44442">
            <a:spAutoFit/>
          </a:bodyPr>
          <a:lstStyle/>
          <a:p>
            <a:pPr defTabSz="914011" eaLnBrk="0" hangingPunct="0"/>
            <a:r>
              <a:rPr lang="en-US" sz="3200" dirty="0">
                <a:solidFill>
                  <a:schemeClr val="hlink"/>
                </a:solidFill>
              </a:rPr>
              <a:t>Outputs</a:t>
            </a:r>
          </a:p>
        </p:txBody>
      </p:sp>
      <p:sp>
        <p:nvSpPr>
          <p:cNvPr id="11270" name="Rectangle 9"/>
          <p:cNvSpPr>
            <a:spLocks noChangeArrowheads="1"/>
          </p:cNvSpPr>
          <p:nvPr/>
        </p:nvSpPr>
        <p:spPr bwMode="auto">
          <a:xfrm>
            <a:off x="6344227" y="2111478"/>
            <a:ext cx="1409989" cy="47623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82909" tIns="41454" rIns="82909" bIns="41454" anchor="ctr"/>
          <a:lstStyle/>
          <a:p>
            <a:endParaRPr lang="en-US"/>
          </a:p>
        </p:txBody>
      </p:sp>
      <p:sp>
        <p:nvSpPr>
          <p:cNvPr id="11271" name="Rectangle 11"/>
          <p:cNvSpPr>
            <a:spLocks noChangeArrowheads="1"/>
          </p:cNvSpPr>
          <p:nvPr/>
        </p:nvSpPr>
        <p:spPr bwMode="auto">
          <a:xfrm>
            <a:off x="1287318" y="2280741"/>
            <a:ext cx="2210955" cy="35430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82909" tIns="41454" rIns="82909" bIns="41454" anchor="ctr"/>
          <a:lstStyle/>
          <a:p>
            <a:endParaRPr lang="en-US"/>
          </a:p>
        </p:txBody>
      </p:sp>
      <p:sp>
        <p:nvSpPr>
          <p:cNvPr id="10252" name="Rectangle 12"/>
          <p:cNvSpPr>
            <a:spLocks noChangeArrowheads="1"/>
          </p:cNvSpPr>
          <p:nvPr/>
        </p:nvSpPr>
        <p:spPr bwMode="auto">
          <a:xfrm>
            <a:off x="484909" y="2211888"/>
            <a:ext cx="2993094" cy="383847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71" tIns="44442" rIns="90471" bIns="44442">
            <a:spAutoFit/>
          </a:bodyPr>
          <a:lstStyle/>
          <a:p>
            <a:pPr defTabSz="914011" eaLnBrk="0" hangingPunct="0">
              <a:lnSpc>
                <a:spcPct val="120000"/>
              </a:lnSpc>
            </a:pPr>
            <a:r>
              <a:rPr lang="en-US" sz="2900" dirty="0"/>
              <a:t>Raw Vegetables</a:t>
            </a:r>
          </a:p>
          <a:p>
            <a:pPr defTabSz="914011" eaLnBrk="0" hangingPunct="0">
              <a:lnSpc>
                <a:spcPct val="120000"/>
              </a:lnSpc>
            </a:pPr>
            <a:r>
              <a:rPr lang="en-US" sz="2900" dirty="0"/>
              <a:t>Metal Sheets</a:t>
            </a:r>
          </a:p>
          <a:p>
            <a:pPr defTabSz="914011" eaLnBrk="0" hangingPunct="0">
              <a:lnSpc>
                <a:spcPct val="120000"/>
              </a:lnSpc>
            </a:pPr>
            <a:r>
              <a:rPr lang="en-US" sz="2900" dirty="0"/>
              <a:t>Water</a:t>
            </a:r>
          </a:p>
          <a:p>
            <a:pPr defTabSz="914011" eaLnBrk="0" hangingPunct="0">
              <a:lnSpc>
                <a:spcPct val="120000"/>
              </a:lnSpc>
            </a:pPr>
            <a:r>
              <a:rPr lang="en-US" sz="2900" dirty="0"/>
              <a:t>Energy</a:t>
            </a:r>
          </a:p>
          <a:p>
            <a:pPr defTabSz="914011" eaLnBrk="0" hangingPunct="0">
              <a:lnSpc>
                <a:spcPct val="120000"/>
              </a:lnSpc>
            </a:pPr>
            <a:r>
              <a:rPr lang="en-US" sz="2900" dirty="0"/>
              <a:t>Labor</a:t>
            </a:r>
          </a:p>
          <a:p>
            <a:pPr defTabSz="914011" eaLnBrk="0" hangingPunct="0">
              <a:lnSpc>
                <a:spcPct val="120000"/>
              </a:lnSpc>
            </a:pPr>
            <a:r>
              <a:rPr lang="en-US" sz="2900" dirty="0"/>
              <a:t>Building</a:t>
            </a:r>
          </a:p>
          <a:p>
            <a:pPr defTabSz="914011" eaLnBrk="0" hangingPunct="0">
              <a:lnSpc>
                <a:spcPct val="120000"/>
              </a:lnSpc>
            </a:pPr>
            <a:r>
              <a:rPr lang="en-US" sz="2900" dirty="0"/>
              <a:t>Equipment</a:t>
            </a:r>
          </a:p>
        </p:txBody>
      </p:sp>
      <p:sp>
        <p:nvSpPr>
          <p:cNvPr id="11273" name="Rectangle 13"/>
          <p:cNvSpPr>
            <a:spLocks noChangeArrowheads="1"/>
          </p:cNvSpPr>
          <p:nvPr/>
        </p:nvSpPr>
        <p:spPr bwMode="auto">
          <a:xfrm>
            <a:off x="3983182" y="2280741"/>
            <a:ext cx="1194955" cy="35430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82909" tIns="41454" rIns="82909" bIns="41454" anchor="ctr"/>
          <a:lstStyle/>
          <a:p>
            <a:endParaRPr lang="en-US"/>
          </a:p>
        </p:txBody>
      </p:sp>
      <p:sp>
        <p:nvSpPr>
          <p:cNvPr id="10254" name="Rectangle 14"/>
          <p:cNvSpPr>
            <a:spLocks noChangeArrowheads="1"/>
          </p:cNvSpPr>
          <p:nvPr/>
        </p:nvSpPr>
        <p:spPr bwMode="auto">
          <a:xfrm>
            <a:off x="3912467" y="2211888"/>
            <a:ext cx="2414089" cy="335833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71" tIns="44442" rIns="90471" bIns="44442">
            <a:spAutoFit/>
          </a:bodyPr>
          <a:lstStyle/>
          <a:p>
            <a:pPr defTabSz="914011" eaLnBrk="0" hangingPunct="0">
              <a:lnSpc>
                <a:spcPct val="120000"/>
              </a:lnSpc>
            </a:pPr>
            <a:r>
              <a:rPr lang="en-US" sz="2900" dirty="0"/>
              <a:t>Cleaning</a:t>
            </a:r>
          </a:p>
          <a:p>
            <a:pPr defTabSz="914011" eaLnBrk="0" hangingPunct="0">
              <a:lnSpc>
                <a:spcPct val="120000"/>
              </a:lnSpc>
            </a:pPr>
            <a:r>
              <a:rPr lang="en-US" sz="2900" dirty="0"/>
              <a:t>Making cans</a:t>
            </a:r>
          </a:p>
          <a:p>
            <a:pPr defTabSz="914011" eaLnBrk="0" hangingPunct="0">
              <a:lnSpc>
                <a:spcPct val="120000"/>
              </a:lnSpc>
            </a:pPr>
            <a:r>
              <a:rPr lang="en-US" sz="2900" dirty="0"/>
              <a:t>Cutting</a:t>
            </a:r>
          </a:p>
          <a:p>
            <a:pPr defTabSz="914011" eaLnBrk="0" hangingPunct="0">
              <a:lnSpc>
                <a:spcPct val="120000"/>
              </a:lnSpc>
            </a:pPr>
            <a:r>
              <a:rPr lang="en-US" sz="2900" dirty="0"/>
              <a:t>Cooking</a:t>
            </a:r>
          </a:p>
          <a:p>
            <a:pPr defTabSz="914011" eaLnBrk="0" hangingPunct="0">
              <a:lnSpc>
                <a:spcPct val="120000"/>
              </a:lnSpc>
            </a:pPr>
            <a:r>
              <a:rPr lang="en-US" sz="2900" dirty="0"/>
              <a:t>Packing</a:t>
            </a:r>
          </a:p>
          <a:p>
            <a:pPr defTabSz="914011" eaLnBrk="0" hangingPunct="0">
              <a:lnSpc>
                <a:spcPct val="120000"/>
              </a:lnSpc>
            </a:pPr>
            <a:r>
              <a:rPr lang="en-US" sz="2900" dirty="0"/>
              <a:t>Labeling</a:t>
            </a:r>
          </a:p>
        </p:txBody>
      </p:sp>
      <p:sp>
        <p:nvSpPr>
          <p:cNvPr id="11275" name="Rectangle 15"/>
          <p:cNvSpPr>
            <a:spLocks noChangeArrowheads="1"/>
          </p:cNvSpPr>
          <p:nvPr/>
        </p:nvSpPr>
        <p:spPr bwMode="auto">
          <a:xfrm>
            <a:off x="6344228" y="2587708"/>
            <a:ext cx="2619375" cy="35430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82909" tIns="41454" rIns="82909" bIns="41454" anchor="ctr"/>
          <a:lstStyle/>
          <a:p>
            <a:endParaRPr lang="en-US"/>
          </a:p>
        </p:txBody>
      </p:sp>
      <p:sp>
        <p:nvSpPr>
          <p:cNvPr id="10256" name="Rectangle 16"/>
          <p:cNvSpPr>
            <a:spLocks noChangeArrowheads="1"/>
          </p:cNvSpPr>
          <p:nvPr/>
        </p:nvSpPr>
        <p:spPr bwMode="auto">
          <a:xfrm>
            <a:off x="6606887" y="2214757"/>
            <a:ext cx="2043796" cy="112388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71" tIns="44442" rIns="90471" bIns="44442">
            <a:spAutoFit/>
          </a:bodyPr>
          <a:lstStyle/>
          <a:p>
            <a:pPr defTabSz="914011" eaLnBrk="0" hangingPunct="0">
              <a:lnSpc>
                <a:spcPct val="120000"/>
              </a:lnSpc>
            </a:pPr>
            <a:r>
              <a:rPr lang="en-US" sz="2800" dirty="0"/>
              <a:t>Canned </a:t>
            </a:r>
            <a:br>
              <a:rPr lang="en-US" sz="2800" dirty="0"/>
            </a:br>
            <a:r>
              <a:rPr lang="en-US" sz="2800" dirty="0"/>
              <a:t>vegetables</a:t>
            </a:r>
          </a:p>
        </p:txBody>
      </p:sp>
      <p:sp>
        <p:nvSpPr>
          <p:cNvPr id="11277" name="Rectangle 17"/>
          <p:cNvSpPr>
            <a:spLocks noChangeArrowheads="1"/>
          </p:cNvSpPr>
          <p:nvPr/>
        </p:nvSpPr>
        <p:spPr bwMode="auto">
          <a:xfrm>
            <a:off x="1287318" y="2673774"/>
            <a:ext cx="1767898" cy="35286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82909" tIns="41454" rIns="82909" bIns="41454" anchor="ctr"/>
          <a:lstStyle/>
          <a:p>
            <a:endParaRPr lang="en-US"/>
          </a:p>
        </p:txBody>
      </p:sp>
      <p:sp>
        <p:nvSpPr>
          <p:cNvPr id="11278" name="Rectangle 29"/>
          <p:cNvSpPr>
            <a:spLocks noChangeArrowheads="1"/>
          </p:cNvSpPr>
          <p:nvPr/>
        </p:nvSpPr>
        <p:spPr bwMode="auto">
          <a:xfrm>
            <a:off x="1287318" y="3850005"/>
            <a:ext cx="769216" cy="35286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82909" tIns="41454" rIns="82909" bIns="41454" anchor="ctr"/>
          <a:lstStyle/>
          <a:p>
            <a:endParaRPr lang="en-US"/>
          </a:p>
        </p:txBody>
      </p:sp>
      <p:sp>
        <p:nvSpPr>
          <p:cNvPr id="11279" name="Line 39"/>
          <p:cNvSpPr>
            <a:spLocks noChangeShapeType="1"/>
          </p:cNvSpPr>
          <p:nvPr/>
        </p:nvSpPr>
        <p:spPr bwMode="auto">
          <a:xfrm flipV="1">
            <a:off x="484909" y="1978076"/>
            <a:ext cx="7697932" cy="57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82909" tIns="41454" rIns="82909" bIns="41454"/>
          <a:lstStyle/>
          <a:p>
            <a:endParaRPr lang="en-US"/>
          </a:p>
        </p:txBody>
      </p:sp>
      <p:sp>
        <p:nvSpPr>
          <p:cNvPr id="11280" name="Text Box 43"/>
          <p:cNvSpPr txBox="1">
            <a:spLocks noChangeArrowheads="1"/>
          </p:cNvSpPr>
          <p:nvPr/>
        </p:nvSpPr>
        <p:spPr bwMode="auto">
          <a:xfrm>
            <a:off x="154421" y="1019879"/>
            <a:ext cx="1477871" cy="46164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1423" tIns="45712" rIns="91423" bIns="45712">
            <a:spAutoFit/>
          </a:bodyPr>
          <a:lstStyle/>
          <a:p>
            <a:pPr defTabSz="914011"/>
            <a:r>
              <a:rPr lang="en-US" sz="2400" dirty="0">
                <a:solidFill>
                  <a:schemeClr val="hlink"/>
                </a:solidFill>
              </a:rPr>
              <a:t>Table 1.2</a:t>
            </a:r>
          </a:p>
        </p:txBody>
      </p:sp>
      <p:sp>
        <p:nvSpPr>
          <p:cNvPr id="17" name="Slide Number Placeholder 4"/>
          <p:cNvSpPr txBox="1">
            <a:spLocks noGrp="1"/>
          </p:cNvSpPr>
          <p:nvPr/>
        </p:nvSpPr>
        <p:spPr bwMode="auto">
          <a:xfrm>
            <a:off x="8534400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/>
            <a:r>
              <a:rPr lang="en-US" sz="1600" b="0" dirty="0">
                <a:solidFill>
                  <a:schemeClr val="tx2"/>
                </a:solidFill>
              </a:rPr>
              <a:t>1-</a:t>
            </a:r>
            <a:fld id="{77B8F7AB-44C8-4E87-A568-B5734B53E33F}" type="slidenum">
              <a:rPr lang="en-US" sz="1600" b="0">
                <a:solidFill>
                  <a:schemeClr val="tx2"/>
                </a:solidFill>
              </a:rPr>
              <a:pPr algn="ctr"/>
              <a:t>13</a:t>
            </a:fld>
            <a:endParaRPr lang="en-US" sz="1600" b="0" dirty="0">
              <a:solidFill>
                <a:schemeClr val="tx2"/>
              </a:solidFill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4425"/>
            <a:ext cx="1981200" cy="64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3418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2" grpId="0"/>
      <p:bldP spid="10254" grpId="0"/>
      <p:bldP spid="1025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0" y="172132"/>
            <a:ext cx="6748318" cy="63975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71" tIns="44442" rIns="90471" bIns="44442">
            <a:spAutoFit/>
          </a:bodyPr>
          <a:lstStyle/>
          <a:p>
            <a:pPr algn="ctr" defTabSz="914011" eaLnBrk="0" hangingPunct="0">
              <a:defRPr/>
            </a:pPr>
            <a:r>
              <a:rPr 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entury Gothic" pitchFamily="34" charset="0"/>
              </a:rPr>
              <a:t>Hospital Process (Service)</a:t>
            </a:r>
          </a:p>
        </p:txBody>
      </p:sp>
      <p:sp>
        <p:nvSpPr>
          <p:cNvPr id="12291" name="Rectangle 6"/>
          <p:cNvSpPr>
            <a:spLocks noChangeArrowheads="1"/>
          </p:cNvSpPr>
          <p:nvPr/>
        </p:nvSpPr>
        <p:spPr bwMode="auto">
          <a:xfrm>
            <a:off x="554182" y="1708404"/>
            <a:ext cx="1410609" cy="58219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71" tIns="44442" rIns="90471" bIns="44442">
            <a:spAutoFit/>
          </a:bodyPr>
          <a:lstStyle/>
          <a:p>
            <a:pPr defTabSz="914011" eaLnBrk="0" hangingPunct="0"/>
            <a:r>
              <a:rPr lang="en-US" sz="3200" dirty="0">
                <a:solidFill>
                  <a:schemeClr val="hlink"/>
                </a:solidFill>
              </a:rPr>
              <a:t>Inputs</a:t>
            </a:r>
          </a:p>
        </p:txBody>
      </p:sp>
      <p:sp>
        <p:nvSpPr>
          <p:cNvPr id="12292" name="Rectangle 8"/>
          <p:cNvSpPr>
            <a:spLocks noChangeArrowheads="1"/>
          </p:cNvSpPr>
          <p:nvPr/>
        </p:nvSpPr>
        <p:spPr bwMode="auto">
          <a:xfrm>
            <a:off x="3835977" y="1708404"/>
            <a:ext cx="2391647" cy="58219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71" tIns="44442" rIns="90471" bIns="44442">
            <a:spAutoFit/>
          </a:bodyPr>
          <a:lstStyle/>
          <a:p>
            <a:pPr defTabSz="914011" eaLnBrk="0" hangingPunct="0"/>
            <a:r>
              <a:rPr lang="en-US" sz="3200" dirty="0">
                <a:solidFill>
                  <a:schemeClr val="hlink"/>
                </a:solidFill>
              </a:rPr>
              <a:t>Processing</a:t>
            </a:r>
          </a:p>
        </p:txBody>
      </p:sp>
      <p:sp>
        <p:nvSpPr>
          <p:cNvPr id="12293" name="Rectangle 10"/>
          <p:cNvSpPr>
            <a:spLocks noChangeArrowheads="1"/>
          </p:cNvSpPr>
          <p:nvPr/>
        </p:nvSpPr>
        <p:spPr bwMode="auto">
          <a:xfrm>
            <a:off x="6601114" y="1708404"/>
            <a:ext cx="1752049" cy="58219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71" tIns="44442" rIns="90471" bIns="44442">
            <a:spAutoFit/>
          </a:bodyPr>
          <a:lstStyle/>
          <a:p>
            <a:pPr defTabSz="914011" eaLnBrk="0" hangingPunct="0"/>
            <a:r>
              <a:rPr lang="en-US" sz="3200" dirty="0">
                <a:solidFill>
                  <a:schemeClr val="hlink"/>
                </a:solidFill>
              </a:rPr>
              <a:t>Outputs</a:t>
            </a:r>
          </a:p>
        </p:txBody>
      </p:sp>
      <p:sp>
        <p:nvSpPr>
          <p:cNvPr id="12294" name="Rectangle 15"/>
          <p:cNvSpPr>
            <a:spLocks noChangeArrowheads="1"/>
          </p:cNvSpPr>
          <p:nvPr/>
        </p:nvSpPr>
        <p:spPr bwMode="auto">
          <a:xfrm>
            <a:off x="6358659" y="2484430"/>
            <a:ext cx="2176318" cy="35430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82909" tIns="41454" rIns="82909" bIns="41454" anchor="ctr"/>
          <a:lstStyle/>
          <a:p>
            <a:endParaRPr lang="en-US"/>
          </a:p>
        </p:txBody>
      </p:sp>
      <p:sp>
        <p:nvSpPr>
          <p:cNvPr id="11280" name="Rectangle 16"/>
          <p:cNvSpPr>
            <a:spLocks noChangeArrowheads="1"/>
          </p:cNvSpPr>
          <p:nvPr/>
        </p:nvSpPr>
        <p:spPr bwMode="auto">
          <a:xfrm>
            <a:off x="6748318" y="2414142"/>
            <a:ext cx="1582131" cy="95152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71" tIns="44442" rIns="90471" bIns="44442">
            <a:spAutoFit/>
          </a:bodyPr>
          <a:lstStyle/>
          <a:p>
            <a:pPr defTabSz="914011" eaLnBrk="0" hangingPunct="0"/>
            <a:r>
              <a:rPr lang="en-US" sz="2800" dirty="0"/>
              <a:t>Healthy </a:t>
            </a:r>
            <a:br>
              <a:rPr lang="en-US" sz="2800" dirty="0"/>
            </a:br>
            <a:r>
              <a:rPr lang="en-US" sz="2800" dirty="0"/>
              <a:t>patients</a:t>
            </a:r>
          </a:p>
        </p:txBody>
      </p:sp>
      <p:grpSp>
        <p:nvGrpSpPr>
          <p:cNvPr id="2" name="Group 38"/>
          <p:cNvGrpSpPr>
            <a:grpSpLocks/>
          </p:cNvGrpSpPr>
          <p:nvPr/>
        </p:nvGrpSpPr>
        <p:grpSpPr bwMode="auto">
          <a:xfrm>
            <a:off x="437285" y="2414143"/>
            <a:ext cx="3117272" cy="2094264"/>
            <a:chOff x="701" y="1683"/>
            <a:chExt cx="2160" cy="1460"/>
          </a:xfrm>
        </p:grpSpPr>
        <p:sp>
          <p:nvSpPr>
            <p:cNvPr id="12310" name="Rectangle 11"/>
            <p:cNvSpPr>
              <a:spLocks noChangeArrowheads="1"/>
            </p:cNvSpPr>
            <p:nvPr/>
          </p:nvSpPr>
          <p:spPr bwMode="auto">
            <a:xfrm>
              <a:off x="975" y="1732"/>
              <a:ext cx="1472" cy="24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1" name="Rectangle 12"/>
            <p:cNvSpPr>
              <a:spLocks noChangeArrowheads="1"/>
            </p:cNvSpPr>
            <p:nvPr/>
          </p:nvSpPr>
          <p:spPr bwMode="auto">
            <a:xfrm>
              <a:off x="701" y="1683"/>
              <a:ext cx="2037" cy="36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9781" tIns="49015" rIns="99781" bIns="49015">
              <a:spAutoFit/>
            </a:bodyPr>
            <a:lstStyle/>
            <a:p>
              <a:pPr defTabSz="914011" eaLnBrk="0" hangingPunct="0"/>
              <a:r>
                <a:rPr lang="en-US" sz="2800" dirty="0"/>
                <a:t>Doctors, nurses</a:t>
              </a:r>
            </a:p>
          </p:txBody>
        </p:sp>
        <p:sp>
          <p:nvSpPr>
            <p:cNvPr id="12312" name="Rectangle 17"/>
            <p:cNvSpPr>
              <a:spLocks noChangeArrowheads="1"/>
            </p:cNvSpPr>
            <p:nvPr/>
          </p:nvSpPr>
          <p:spPr bwMode="auto">
            <a:xfrm>
              <a:off x="975" y="2005"/>
              <a:ext cx="757" cy="24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3" name="Rectangle 18"/>
            <p:cNvSpPr>
              <a:spLocks noChangeArrowheads="1"/>
            </p:cNvSpPr>
            <p:nvPr/>
          </p:nvSpPr>
          <p:spPr bwMode="auto">
            <a:xfrm>
              <a:off x="701" y="1956"/>
              <a:ext cx="1123" cy="36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9781" tIns="49015" rIns="99781" bIns="49015">
              <a:spAutoFit/>
            </a:bodyPr>
            <a:lstStyle/>
            <a:p>
              <a:pPr defTabSz="914011" eaLnBrk="0" hangingPunct="0"/>
              <a:r>
                <a:rPr lang="en-US" sz="2800" dirty="0"/>
                <a:t>Hospital</a:t>
              </a:r>
            </a:p>
          </p:txBody>
        </p:sp>
        <p:sp>
          <p:nvSpPr>
            <p:cNvPr id="12314" name="Rectangle 21"/>
            <p:cNvSpPr>
              <a:spLocks noChangeArrowheads="1"/>
            </p:cNvSpPr>
            <p:nvPr/>
          </p:nvSpPr>
          <p:spPr bwMode="auto">
            <a:xfrm>
              <a:off x="975" y="2278"/>
              <a:ext cx="1592" cy="24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5" name="Rectangle 22"/>
            <p:cNvSpPr>
              <a:spLocks noChangeArrowheads="1"/>
            </p:cNvSpPr>
            <p:nvPr/>
          </p:nvSpPr>
          <p:spPr bwMode="auto">
            <a:xfrm>
              <a:off x="701" y="2230"/>
              <a:ext cx="2160" cy="36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9781" tIns="49015" rIns="99781" bIns="49015">
              <a:spAutoFit/>
            </a:bodyPr>
            <a:lstStyle/>
            <a:p>
              <a:pPr defTabSz="914011" eaLnBrk="0" hangingPunct="0"/>
              <a:r>
                <a:rPr lang="en-US" sz="2800" dirty="0"/>
                <a:t>Medical Supplies</a:t>
              </a:r>
            </a:p>
          </p:txBody>
        </p:sp>
        <p:sp>
          <p:nvSpPr>
            <p:cNvPr id="12316" name="Rectangle 25"/>
            <p:cNvSpPr>
              <a:spLocks noChangeArrowheads="1"/>
            </p:cNvSpPr>
            <p:nvPr/>
          </p:nvSpPr>
          <p:spPr bwMode="auto">
            <a:xfrm>
              <a:off x="975" y="2551"/>
              <a:ext cx="1003" cy="24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7" name="Rectangle 26"/>
            <p:cNvSpPr>
              <a:spLocks noChangeArrowheads="1"/>
            </p:cNvSpPr>
            <p:nvPr/>
          </p:nvSpPr>
          <p:spPr bwMode="auto">
            <a:xfrm>
              <a:off x="701" y="2501"/>
              <a:ext cx="1426" cy="36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9781" tIns="49015" rIns="99781" bIns="49015">
              <a:spAutoFit/>
            </a:bodyPr>
            <a:lstStyle/>
            <a:p>
              <a:pPr defTabSz="914011" eaLnBrk="0" hangingPunct="0"/>
              <a:r>
                <a:rPr lang="en-US" sz="2800" dirty="0"/>
                <a:t>Equipment</a:t>
              </a:r>
            </a:p>
          </p:txBody>
        </p:sp>
        <p:sp>
          <p:nvSpPr>
            <p:cNvPr id="12318" name="Rectangle 29"/>
            <p:cNvSpPr>
              <a:spLocks noChangeArrowheads="1"/>
            </p:cNvSpPr>
            <p:nvPr/>
          </p:nvSpPr>
          <p:spPr bwMode="auto">
            <a:xfrm>
              <a:off x="975" y="2823"/>
              <a:ext cx="1168" cy="24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9" name="Rectangle 30"/>
            <p:cNvSpPr>
              <a:spLocks noChangeArrowheads="1"/>
            </p:cNvSpPr>
            <p:nvPr/>
          </p:nvSpPr>
          <p:spPr bwMode="auto">
            <a:xfrm>
              <a:off x="701" y="2774"/>
              <a:ext cx="1649" cy="36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9781" tIns="49015" rIns="99781" bIns="49015">
              <a:spAutoFit/>
            </a:bodyPr>
            <a:lstStyle/>
            <a:p>
              <a:pPr defTabSz="914011" eaLnBrk="0" hangingPunct="0"/>
              <a:r>
                <a:rPr lang="en-US" sz="2800" dirty="0"/>
                <a:t>Laboratories</a:t>
              </a:r>
            </a:p>
          </p:txBody>
        </p:sp>
      </p:grpSp>
      <p:grpSp>
        <p:nvGrpSpPr>
          <p:cNvPr id="3" name="Group 39"/>
          <p:cNvGrpSpPr>
            <a:grpSpLocks/>
          </p:cNvGrpSpPr>
          <p:nvPr/>
        </p:nvGrpSpPr>
        <p:grpSpPr bwMode="auto">
          <a:xfrm>
            <a:off x="3810001" y="2414143"/>
            <a:ext cx="2337956" cy="2094264"/>
            <a:chOff x="2772" y="1683"/>
            <a:chExt cx="1620" cy="1460"/>
          </a:xfrm>
        </p:grpSpPr>
        <p:sp>
          <p:nvSpPr>
            <p:cNvPr id="12300" name="Rectangle 13"/>
            <p:cNvSpPr>
              <a:spLocks noChangeArrowheads="1"/>
            </p:cNvSpPr>
            <p:nvPr/>
          </p:nvSpPr>
          <p:spPr bwMode="auto">
            <a:xfrm>
              <a:off x="2782" y="1732"/>
              <a:ext cx="1156" cy="24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1" name="Rectangle 14"/>
            <p:cNvSpPr>
              <a:spLocks noChangeArrowheads="1"/>
            </p:cNvSpPr>
            <p:nvPr/>
          </p:nvSpPr>
          <p:spPr bwMode="auto">
            <a:xfrm>
              <a:off x="2772" y="1683"/>
              <a:ext cx="1620" cy="36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9781" tIns="49015" rIns="99781" bIns="49015">
              <a:spAutoFit/>
            </a:bodyPr>
            <a:lstStyle/>
            <a:p>
              <a:pPr defTabSz="914011" eaLnBrk="0" hangingPunct="0"/>
              <a:r>
                <a:rPr lang="en-US" sz="2800" dirty="0"/>
                <a:t>Examination</a:t>
              </a:r>
            </a:p>
          </p:txBody>
        </p:sp>
        <p:sp>
          <p:nvSpPr>
            <p:cNvPr id="12302" name="Rectangle 19"/>
            <p:cNvSpPr>
              <a:spLocks noChangeArrowheads="1"/>
            </p:cNvSpPr>
            <p:nvPr/>
          </p:nvSpPr>
          <p:spPr bwMode="auto">
            <a:xfrm>
              <a:off x="2782" y="2005"/>
              <a:ext cx="733" cy="24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3" name="Rectangle 20"/>
            <p:cNvSpPr>
              <a:spLocks noChangeArrowheads="1"/>
            </p:cNvSpPr>
            <p:nvPr/>
          </p:nvSpPr>
          <p:spPr bwMode="auto">
            <a:xfrm>
              <a:off x="2772" y="1956"/>
              <a:ext cx="1080" cy="36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9781" tIns="49015" rIns="99781" bIns="49015">
              <a:spAutoFit/>
            </a:bodyPr>
            <a:lstStyle/>
            <a:p>
              <a:pPr defTabSz="914011" eaLnBrk="0" hangingPunct="0"/>
              <a:r>
                <a:rPr lang="en-US" sz="2800" dirty="0"/>
                <a:t>Surgery</a:t>
              </a:r>
            </a:p>
          </p:txBody>
        </p:sp>
        <p:sp>
          <p:nvSpPr>
            <p:cNvPr id="12304" name="Rectangle 23"/>
            <p:cNvSpPr>
              <a:spLocks noChangeArrowheads="1"/>
            </p:cNvSpPr>
            <p:nvPr/>
          </p:nvSpPr>
          <p:spPr bwMode="auto">
            <a:xfrm>
              <a:off x="2782" y="2278"/>
              <a:ext cx="980" cy="24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5" name="Rectangle 24"/>
            <p:cNvSpPr>
              <a:spLocks noChangeArrowheads="1"/>
            </p:cNvSpPr>
            <p:nvPr/>
          </p:nvSpPr>
          <p:spPr bwMode="auto">
            <a:xfrm>
              <a:off x="2772" y="2230"/>
              <a:ext cx="1426" cy="36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9781" tIns="49015" rIns="99781" bIns="49015">
              <a:spAutoFit/>
            </a:bodyPr>
            <a:lstStyle/>
            <a:p>
              <a:pPr defTabSz="914011" eaLnBrk="0" hangingPunct="0"/>
              <a:r>
                <a:rPr lang="en-US" sz="2800" dirty="0"/>
                <a:t>Monitoring</a:t>
              </a:r>
            </a:p>
          </p:txBody>
        </p:sp>
        <p:sp>
          <p:nvSpPr>
            <p:cNvPr id="12306" name="Rectangle 27"/>
            <p:cNvSpPr>
              <a:spLocks noChangeArrowheads="1"/>
            </p:cNvSpPr>
            <p:nvPr/>
          </p:nvSpPr>
          <p:spPr bwMode="auto">
            <a:xfrm>
              <a:off x="2782" y="2551"/>
              <a:ext cx="1016" cy="24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7" name="Rectangle 28"/>
            <p:cNvSpPr>
              <a:spLocks noChangeArrowheads="1"/>
            </p:cNvSpPr>
            <p:nvPr/>
          </p:nvSpPr>
          <p:spPr bwMode="auto">
            <a:xfrm>
              <a:off x="2772" y="2501"/>
              <a:ext cx="1441" cy="36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9781" tIns="49015" rIns="99781" bIns="49015">
              <a:spAutoFit/>
            </a:bodyPr>
            <a:lstStyle/>
            <a:p>
              <a:pPr defTabSz="914011" eaLnBrk="0" hangingPunct="0"/>
              <a:r>
                <a:rPr lang="en-US" sz="2800" dirty="0"/>
                <a:t>Medication</a:t>
              </a:r>
            </a:p>
          </p:txBody>
        </p:sp>
        <p:sp>
          <p:nvSpPr>
            <p:cNvPr id="12308" name="Rectangle 31"/>
            <p:cNvSpPr>
              <a:spLocks noChangeArrowheads="1"/>
            </p:cNvSpPr>
            <p:nvPr/>
          </p:nvSpPr>
          <p:spPr bwMode="auto">
            <a:xfrm>
              <a:off x="2782" y="2823"/>
              <a:ext cx="768" cy="24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9" name="Rectangle 32"/>
            <p:cNvSpPr>
              <a:spLocks noChangeArrowheads="1"/>
            </p:cNvSpPr>
            <p:nvPr/>
          </p:nvSpPr>
          <p:spPr bwMode="auto">
            <a:xfrm>
              <a:off x="2772" y="2774"/>
              <a:ext cx="1109" cy="36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9781" tIns="49015" rIns="99781" bIns="49015">
              <a:spAutoFit/>
            </a:bodyPr>
            <a:lstStyle/>
            <a:p>
              <a:pPr defTabSz="914011" eaLnBrk="0" hangingPunct="0"/>
              <a:r>
                <a:rPr lang="en-US" sz="2800" dirty="0"/>
                <a:t>Therapy</a:t>
              </a:r>
            </a:p>
          </p:txBody>
        </p:sp>
      </p:grpSp>
      <p:sp>
        <p:nvSpPr>
          <p:cNvPr id="12298" name="Line 33"/>
          <p:cNvSpPr>
            <a:spLocks noChangeShapeType="1"/>
          </p:cNvSpPr>
          <p:nvPr/>
        </p:nvSpPr>
        <p:spPr bwMode="auto">
          <a:xfrm>
            <a:off x="415637" y="2259224"/>
            <a:ext cx="784802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82909" tIns="41454" rIns="82909" bIns="41454"/>
          <a:lstStyle/>
          <a:p>
            <a:endParaRPr lang="en-US"/>
          </a:p>
        </p:txBody>
      </p:sp>
      <p:sp>
        <p:nvSpPr>
          <p:cNvPr id="12299" name="Text Box 37"/>
          <p:cNvSpPr txBox="1">
            <a:spLocks noChangeArrowheads="1"/>
          </p:cNvSpPr>
          <p:nvPr/>
        </p:nvSpPr>
        <p:spPr bwMode="auto">
          <a:xfrm>
            <a:off x="154421" y="1120289"/>
            <a:ext cx="1477871" cy="46164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1423" tIns="45712" rIns="91423" bIns="45712">
            <a:spAutoFit/>
          </a:bodyPr>
          <a:lstStyle/>
          <a:p>
            <a:pPr defTabSz="914011"/>
            <a:r>
              <a:rPr lang="en-US" sz="2400" dirty="0">
                <a:solidFill>
                  <a:schemeClr val="hlink"/>
                </a:solidFill>
              </a:rPr>
              <a:t>Table 1.2</a:t>
            </a:r>
          </a:p>
        </p:txBody>
      </p:sp>
      <p:sp>
        <p:nvSpPr>
          <p:cNvPr id="32" name="Slide Number Placeholder 4"/>
          <p:cNvSpPr txBox="1">
            <a:spLocks noGrp="1"/>
          </p:cNvSpPr>
          <p:nvPr/>
        </p:nvSpPr>
        <p:spPr bwMode="auto">
          <a:xfrm>
            <a:off x="8534400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/>
            <a:r>
              <a:rPr lang="en-US" sz="1600" b="0" dirty="0">
                <a:solidFill>
                  <a:schemeClr val="tx2"/>
                </a:solidFill>
              </a:rPr>
              <a:t>1-</a:t>
            </a:r>
            <a:fld id="{77B8F7AB-44C8-4E87-A568-B5734B53E33F}" type="slidenum">
              <a:rPr lang="en-US" sz="1600" b="0">
                <a:solidFill>
                  <a:schemeClr val="tx2"/>
                </a:solidFill>
              </a:rPr>
              <a:pPr algn="ctr"/>
              <a:t>14</a:t>
            </a:fld>
            <a:endParaRPr lang="en-US" sz="1600" b="0" dirty="0">
              <a:solidFill>
                <a:schemeClr val="tx2"/>
              </a:solidFill>
            </a:endParaRP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4425"/>
            <a:ext cx="1981200" cy="64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2770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8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4" name="Line 15"/>
          <p:cNvSpPr>
            <a:spLocks noChangeShapeType="1"/>
          </p:cNvSpPr>
          <p:nvPr/>
        </p:nvSpPr>
        <p:spPr bwMode="auto">
          <a:xfrm>
            <a:off x="4953000" y="2438400"/>
            <a:ext cx="0" cy="2895600"/>
          </a:xfrm>
          <a:prstGeom prst="line">
            <a:avLst/>
          </a:prstGeom>
          <a:noFill/>
          <a:ln w="28575">
            <a:solidFill>
              <a:schemeClr val="tx2">
                <a:lumMod val="75000"/>
              </a:schemeClr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en-US" b="0">
              <a:latin typeface="Arial" charset="0"/>
            </a:endParaRPr>
          </a:p>
        </p:txBody>
      </p:sp>
      <p:sp>
        <p:nvSpPr>
          <p:cNvPr id="52227" name="Text Box 3"/>
          <p:cNvSpPr txBox="1">
            <a:spLocks noChangeArrowheads="1"/>
          </p:cNvSpPr>
          <p:nvPr/>
        </p:nvSpPr>
        <p:spPr bwMode="auto">
          <a:xfrm>
            <a:off x="1066800" y="4606925"/>
            <a:ext cx="4724400" cy="366767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lIns="90488" tIns="44450" rIns="90488" bIns="44450">
            <a:spAutoFit/>
          </a:bodyPr>
          <a:lstStyle/>
          <a:p>
            <a:pPr algn="ctr" eaLnBrk="0" hangingPunct="0">
              <a:defRPr/>
            </a:pPr>
            <a:r>
              <a:rPr lang="en-US">
                <a:solidFill>
                  <a:schemeClr val="accent1">
                    <a:lumMod val="40000"/>
                    <a:lumOff val="60000"/>
                  </a:schemeClr>
                </a:solidFill>
                <a:latin typeface="Arial Narrow" pitchFamily="28" charset="0"/>
              </a:rPr>
              <a:t>Automobile Assembly, Steelmaking</a:t>
            </a:r>
          </a:p>
        </p:txBody>
      </p:sp>
      <p:sp>
        <p:nvSpPr>
          <p:cNvPr id="25606" name="Text Box 22"/>
          <p:cNvSpPr txBox="1">
            <a:spLocks noChangeArrowheads="1"/>
          </p:cNvSpPr>
          <p:nvPr/>
        </p:nvSpPr>
        <p:spPr bwMode="auto">
          <a:xfrm>
            <a:off x="457200" y="1447800"/>
            <a:ext cx="8534400" cy="8223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0">
                <a:solidFill>
                  <a:srgbClr val="303B2C"/>
                </a:solidFill>
              </a:rPr>
              <a:t>Products are typically neither purely service- or purely goods-based.</a:t>
            </a:r>
          </a:p>
        </p:txBody>
      </p:sp>
      <p:sp>
        <p:nvSpPr>
          <p:cNvPr id="11268" name="Rectangle 14"/>
          <p:cNvSpPr>
            <a:spLocks noChangeArrowheads="1"/>
          </p:cNvSpPr>
          <p:nvPr/>
        </p:nvSpPr>
        <p:spPr bwMode="auto">
          <a:xfrm>
            <a:off x="914400" y="2438400"/>
            <a:ext cx="8077200" cy="3048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 anchor="ctr"/>
          <a:lstStyle/>
          <a:p>
            <a:pPr algn="ctr">
              <a:defRPr/>
            </a:pP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charset="0"/>
              </a:rPr>
              <a:t>Goods	</a:t>
            </a:r>
            <a:r>
              <a:rPr lang="en-US" b="0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charset="0"/>
              </a:rPr>
              <a:t>					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charset="0"/>
              </a:rPr>
              <a:t>Services</a:t>
            </a:r>
          </a:p>
        </p:txBody>
      </p:sp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1828800" y="4149725"/>
            <a:ext cx="4724400" cy="366767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lIns="90488" tIns="44450" rIns="90488" bIns="44450">
            <a:spAutoFit/>
          </a:bodyPr>
          <a:lstStyle/>
          <a:p>
            <a:pPr algn="ctr" eaLnBrk="0" hangingPunct="0">
              <a:defRPr/>
            </a:pPr>
            <a:r>
              <a:rPr lang="en-US">
                <a:solidFill>
                  <a:schemeClr val="accent1">
                    <a:lumMod val="40000"/>
                    <a:lumOff val="60000"/>
                  </a:schemeClr>
                </a:solidFill>
                <a:latin typeface="Arial Narrow" pitchFamily="28" charset="0"/>
              </a:rPr>
              <a:t>Home Remodeling, Retail Sales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2590800" y="3692525"/>
            <a:ext cx="4724400" cy="366767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lIns="90488" tIns="44450" rIns="90488" bIns="44450">
            <a:spAutoFit/>
          </a:bodyPr>
          <a:lstStyle/>
          <a:p>
            <a:pPr algn="ctr" eaLnBrk="0" hangingPunct="0">
              <a:defRPr/>
            </a:pP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 Narrow" pitchFamily="28" charset="0"/>
              </a:rPr>
              <a:t>Computer Repair, Restaurant Meal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3429000" y="3276600"/>
            <a:ext cx="4724400" cy="366767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lIns="90488" tIns="44450" rIns="90488" bIns="44450">
            <a:spAutoFit/>
          </a:bodyPr>
          <a:lstStyle/>
          <a:p>
            <a:pPr algn="ctr" eaLnBrk="0" hangingPunct="0">
              <a:defRPr/>
            </a:pPr>
            <a:r>
              <a:rPr lang="en-US">
                <a:solidFill>
                  <a:schemeClr val="accent1">
                    <a:lumMod val="40000"/>
                    <a:lumOff val="60000"/>
                  </a:schemeClr>
                </a:solidFill>
                <a:latin typeface="Arial Narrow" pitchFamily="28" charset="0"/>
              </a:rPr>
              <a:t>Songwriting, Software Development 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4267200" y="2854325"/>
            <a:ext cx="4724400" cy="366767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lIns="90488" tIns="44450" rIns="90488" bIns="44450">
            <a:spAutoFit/>
          </a:bodyPr>
          <a:lstStyle/>
          <a:p>
            <a:pPr algn="ctr" eaLnBrk="0" hangingPunct="0">
              <a:defRPr/>
            </a:pP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 Narrow" pitchFamily="28" charset="0"/>
              </a:rPr>
              <a:t>Surgery, Teaching</a:t>
            </a:r>
          </a:p>
        </p:txBody>
      </p:sp>
      <p:sp>
        <p:nvSpPr>
          <p:cNvPr id="11273" name="Rectangle 23"/>
          <p:cNvSpPr>
            <a:spLocks noGrp="1" noChangeArrowheads="1"/>
          </p:cNvSpPr>
          <p:nvPr>
            <p:ph type="title"/>
          </p:nvPr>
        </p:nvSpPr>
        <p:spPr>
          <a:xfrm>
            <a:off x="304800" y="76200"/>
            <a:ext cx="8229600" cy="6096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Goods-service Continuum</a:t>
            </a:r>
          </a:p>
        </p:txBody>
      </p:sp>
      <p:sp>
        <p:nvSpPr>
          <p:cNvPr id="25624" name="Slide Number Placeholder 4"/>
          <p:cNvSpPr txBox="1">
            <a:spLocks noGrp="1"/>
          </p:cNvSpPr>
          <p:nvPr/>
        </p:nvSpPr>
        <p:spPr bwMode="auto">
          <a:xfrm>
            <a:off x="8534400" y="6477000"/>
            <a:ext cx="609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/>
            <a:r>
              <a:rPr lang="en-US" sz="1600" b="0" dirty="0">
                <a:solidFill>
                  <a:schemeClr val="tx2"/>
                </a:solidFill>
              </a:rPr>
              <a:t>1-</a:t>
            </a:r>
            <a:fld id="{639DD30B-7A26-4309-8C63-246EF7536AA8}" type="slidenum">
              <a:rPr lang="en-US" sz="1600" b="0">
                <a:solidFill>
                  <a:schemeClr val="tx2"/>
                </a:solidFill>
              </a:rPr>
              <a:pPr algn="ctr"/>
              <a:t>15</a:t>
            </a:fld>
            <a:endParaRPr lang="en-US" sz="1600" b="0" dirty="0">
              <a:solidFill>
                <a:schemeClr val="tx2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14425"/>
            <a:ext cx="1981200" cy="6435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13" descr="C:\Documents and Settings\Administrator\Local Settings\Temporary Internet Files\Content.IE5\U90LILML\MPj04092680000[1]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4600" y="2667000"/>
            <a:ext cx="3960813" cy="3960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6627" name="Group 17"/>
          <p:cNvGrpSpPr>
            <a:grpSpLocks/>
          </p:cNvGrpSpPr>
          <p:nvPr/>
        </p:nvGrpSpPr>
        <p:grpSpPr bwMode="auto">
          <a:xfrm>
            <a:off x="2667000" y="3048000"/>
            <a:ext cx="3733800" cy="2963863"/>
            <a:chOff x="1740" y="1680"/>
            <a:chExt cx="2352" cy="1867"/>
          </a:xfrm>
        </p:grpSpPr>
        <p:sp>
          <p:nvSpPr>
            <p:cNvPr id="26636" name="Picture 11"/>
            <p:cNvSpPr>
              <a:spLocks noChangeAspect="1" noChangeArrowheads="1"/>
            </p:cNvSpPr>
            <p:nvPr/>
          </p:nvSpPr>
          <p:spPr bwMode="auto">
            <a:xfrm>
              <a:off x="1824" y="1680"/>
              <a:ext cx="1838" cy="18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b="0"/>
            </a:p>
          </p:txBody>
        </p:sp>
        <p:sp>
          <p:nvSpPr>
            <p:cNvPr id="26637" name="Text Box 12"/>
            <p:cNvSpPr txBox="1">
              <a:spLocks noChangeArrowheads="1"/>
            </p:cNvSpPr>
            <p:nvPr/>
          </p:nvSpPr>
          <p:spPr bwMode="auto">
            <a:xfrm>
              <a:off x="1740" y="3225"/>
              <a:ext cx="70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303B2C"/>
                  </a:solidFill>
                </a:rPr>
                <a:t>Tangible</a:t>
              </a:r>
            </a:p>
          </p:txBody>
        </p:sp>
        <p:sp>
          <p:nvSpPr>
            <p:cNvPr id="26638" name="Text Box 14"/>
            <p:cNvSpPr txBox="1">
              <a:spLocks noChangeArrowheads="1"/>
            </p:cNvSpPr>
            <p:nvPr/>
          </p:nvSpPr>
          <p:spPr bwMode="auto">
            <a:xfrm>
              <a:off x="3095" y="3216"/>
              <a:ext cx="99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303B2C"/>
                  </a:solidFill>
                </a:rPr>
                <a:t>Act-Oriented</a:t>
              </a:r>
            </a:p>
          </p:txBody>
        </p:sp>
        <p:sp>
          <p:nvSpPr>
            <p:cNvPr id="12299" name="Text Box 15"/>
            <p:cNvSpPr txBox="1">
              <a:spLocks noChangeArrowheads="1"/>
            </p:cNvSpPr>
            <p:nvPr/>
          </p:nvSpPr>
          <p:spPr bwMode="auto">
            <a:xfrm>
              <a:off x="1740" y="2016"/>
              <a:ext cx="672" cy="24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9525">
              <a:noFill/>
              <a:miter lim="800000"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b="0" dirty="0">
                  <a:solidFill>
                    <a:schemeClr val="tx2">
                      <a:lumMod val="20000"/>
                      <a:lumOff val="80000"/>
                    </a:schemeClr>
                  </a:solidFill>
                  <a:latin typeface="Arial" charset="0"/>
                </a:rPr>
                <a:t>Goods</a:t>
              </a:r>
            </a:p>
          </p:txBody>
        </p:sp>
        <p:sp>
          <p:nvSpPr>
            <p:cNvPr id="12300" name="Text Box 16"/>
            <p:cNvSpPr txBox="1">
              <a:spLocks noChangeArrowheads="1"/>
            </p:cNvSpPr>
            <p:nvPr/>
          </p:nvSpPr>
          <p:spPr bwMode="auto">
            <a:xfrm>
              <a:off x="3424" y="2025"/>
              <a:ext cx="668" cy="23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9525">
              <a:noFill/>
              <a:miter lim="800000"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0" dirty="0">
                  <a:solidFill>
                    <a:schemeClr val="tx2">
                      <a:lumMod val="20000"/>
                      <a:lumOff val="80000"/>
                    </a:schemeClr>
                  </a:solidFill>
                  <a:latin typeface="Arial" charset="0"/>
                </a:rPr>
                <a:t>Services</a:t>
              </a:r>
            </a:p>
          </p:txBody>
        </p:sp>
      </p:grpSp>
      <p:sp>
        <p:nvSpPr>
          <p:cNvPr id="26628" name="Rectangle 2"/>
          <p:cNvSpPr>
            <a:spLocks noChangeArrowheads="1"/>
          </p:cNvSpPr>
          <p:nvPr/>
        </p:nvSpPr>
        <p:spPr bwMode="auto">
          <a:xfrm>
            <a:off x="7032625" y="5951538"/>
            <a:ext cx="1893888" cy="4460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6629" name="Rectangle 3"/>
          <p:cNvSpPr>
            <a:spLocks noChangeArrowheads="1"/>
          </p:cNvSpPr>
          <p:nvPr/>
        </p:nvSpPr>
        <p:spPr bwMode="auto">
          <a:xfrm>
            <a:off x="3175" y="1089025"/>
            <a:ext cx="9132888" cy="5127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2294" name="Text Box 7"/>
          <p:cNvSpPr txBox="1">
            <a:spLocks noChangeArrowheads="1"/>
          </p:cNvSpPr>
          <p:nvPr/>
        </p:nvSpPr>
        <p:spPr bwMode="auto">
          <a:xfrm>
            <a:off x="381000" y="1371600"/>
            <a:ext cx="8458200" cy="120032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Arial" charset="0"/>
              </a:rPr>
              <a:t>Manufacturing </a:t>
            </a:r>
            <a:r>
              <a:rPr lang="en-US" sz="2400" b="0" dirty="0">
                <a:solidFill>
                  <a:schemeClr val="tx2">
                    <a:lumMod val="75000"/>
                  </a:schemeClr>
                </a:solidFill>
                <a:latin typeface="Arial" charset="0"/>
              </a:rPr>
              <a:t>and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Arial" charset="0"/>
              </a:rPr>
              <a:t> Service </a:t>
            </a:r>
            <a:r>
              <a:rPr lang="en-US" sz="2400" dirty="0" smtClean="0">
                <a:solidFill>
                  <a:schemeClr val="tx2">
                    <a:lumMod val="75000"/>
                  </a:schemeClr>
                </a:solidFill>
                <a:latin typeface="Arial" charset="0"/>
              </a:rPr>
              <a:t>Organizations </a:t>
            </a:r>
            <a:r>
              <a:rPr lang="en-US" sz="2400" b="0" dirty="0">
                <a:solidFill>
                  <a:schemeClr val="tx2">
                    <a:lumMod val="75000"/>
                  </a:schemeClr>
                </a:solidFill>
                <a:latin typeface="Arial" charset="0"/>
              </a:rPr>
              <a:t>differ </a:t>
            </a:r>
            <a:r>
              <a:rPr lang="en-US" sz="2400" b="0" dirty="0" smtClean="0">
                <a:solidFill>
                  <a:schemeClr val="tx2">
                    <a:lumMod val="75000"/>
                  </a:schemeClr>
                </a:solidFill>
                <a:latin typeface="Arial" charset="0"/>
              </a:rPr>
              <a:t>chiefly because </a:t>
            </a:r>
            <a:r>
              <a:rPr lang="en-US" sz="2400" b="0" dirty="0">
                <a:solidFill>
                  <a:schemeClr val="tx2">
                    <a:lumMod val="75000"/>
                  </a:schemeClr>
                </a:solidFill>
                <a:latin typeface="Arial" charset="0"/>
              </a:rPr>
              <a:t>manufacturing is goods-oriented and service is act-oriented.</a:t>
            </a:r>
          </a:p>
        </p:txBody>
      </p:sp>
      <p:sp>
        <p:nvSpPr>
          <p:cNvPr id="12295" name="Rectangle 18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229600" cy="6858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Manufacturing vs. Service?</a:t>
            </a:r>
          </a:p>
        </p:txBody>
      </p:sp>
      <p:sp>
        <p:nvSpPr>
          <p:cNvPr id="26635" name="Slide Number Placeholder 4"/>
          <p:cNvSpPr txBox="1">
            <a:spLocks noGrp="1"/>
          </p:cNvSpPr>
          <p:nvPr/>
        </p:nvSpPr>
        <p:spPr bwMode="auto">
          <a:xfrm>
            <a:off x="8534400" y="6542442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/>
            <a:r>
              <a:rPr lang="en-US" sz="1600" b="0" dirty="0">
                <a:solidFill>
                  <a:schemeClr val="tx2"/>
                </a:solidFill>
              </a:rPr>
              <a:t>1-</a:t>
            </a:r>
            <a:fld id="{8AD20B05-5AF6-4995-B8E1-E131E79F4B89}" type="slidenum">
              <a:rPr lang="en-US" sz="1600" b="0">
                <a:solidFill>
                  <a:schemeClr val="tx2"/>
                </a:solidFill>
              </a:rPr>
              <a:pPr algn="ctr"/>
              <a:t>16</a:t>
            </a:fld>
            <a:endParaRPr lang="en-US" sz="1600" b="0" dirty="0">
              <a:solidFill>
                <a:schemeClr val="tx2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48400"/>
            <a:ext cx="1981200" cy="643575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1652"/>
            <a:ext cx="8229600" cy="6858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Manufacturing vs. Service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4" y="1285536"/>
            <a:ext cx="9067800" cy="5257800"/>
          </a:xfrm>
        </p:spPr>
        <p:txBody>
          <a:bodyPr>
            <a:noAutofit/>
          </a:bodyPr>
          <a:lstStyle/>
          <a:p>
            <a:pPr marL="282575" indent="-282575" eaLnBrk="1" fontAlgn="auto" hangingPunct="1">
              <a:spcAft>
                <a:spcPts val="0"/>
              </a:spcAft>
              <a:buNone/>
              <a:defRPr/>
            </a:pPr>
            <a:r>
              <a:rPr lang="en-US" sz="2400" b="0" dirty="0" smtClean="0"/>
              <a:t>Output				Tangible	Intangible</a:t>
            </a:r>
          </a:p>
          <a:p>
            <a:pPr marL="282575" indent="-282575" eaLnBrk="1" fontAlgn="auto" hangingPunct="1">
              <a:spcAft>
                <a:spcPts val="0"/>
              </a:spcAft>
              <a:buNone/>
              <a:defRPr/>
            </a:pPr>
            <a:r>
              <a:rPr lang="en-US" sz="2400" b="0" dirty="0" smtClean="0"/>
              <a:t>Customer contact			Low		High</a:t>
            </a:r>
          </a:p>
          <a:p>
            <a:pPr marL="282575" indent="-282575" eaLnBrk="1" fontAlgn="auto" hangingPunct="1">
              <a:spcAft>
                <a:spcPts val="0"/>
              </a:spcAft>
              <a:buNone/>
              <a:defRPr/>
            </a:pPr>
            <a:r>
              <a:rPr lang="en-US" sz="2400" b="0" dirty="0" smtClean="0"/>
              <a:t>Labor content of jobs 		Low		High</a:t>
            </a:r>
          </a:p>
          <a:p>
            <a:pPr marL="282575" indent="-282575" eaLnBrk="1" fontAlgn="auto" hangingPunct="1">
              <a:spcAft>
                <a:spcPts val="0"/>
              </a:spcAft>
              <a:buNone/>
              <a:defRPr/>
            </a:pPr>
            <a:r>
              <a:rPr lang="en-US" sz="2400" b="0" dirty="0" smtClean="0"/>
              <a:t>Uniformity of input &amp; output	High		Low</a:t>
            </a:r>
          </a:p>
          <a:p>
            <a:pPr marL="282575" indent="-282575" eaLnBrk="1" fontAlgn="auto" hangingPunct="1">
              <a:spcAft>
                <a:spcPts val="0"/>
              </a:spcAft>
              <a:buNone/>
              <a:defRPr/>
            </a:pPr>
            <a:r>
              <a:rPr lang="en-US" sz="2400" b="0" dirty="0" smtClean="0"/>
              <a:t>Measurement of productivity	Easy		Difficult</a:t>
            </a:r>
          </a:p>
          <a:p>
            <a:pPr marL="282575" indent="-282575" eaLnBrk="1" fontAlgn="auto" hangingPunct="1">
              <a:spcAft>
                <a:spcPts val="0"/>
              </a:spcAft>
              <a:buNone/>
              <a:defRPr/>
            </a:pPr>
            <a:r>
              <a:rPr lang="en-US" sz="2400" b="0" dirty="0" smtClean="0"/>
              <a:t>Production and delivery	      Different time	Same time</a:t>
            </a:r>
          </a:p>
          <a:p>
            <a:pPr marL="282575" indent="-282575" eaLnBrk="1" fontAlgn="auto" hangingPunct="1">
              <a:spcAft>
                <a:spcPts val="0"/>
              </a:spcAft>
              <a:buNone/>
              <a:defRPr/>
            </a:pPr>
            <a:r>
              <a:rPr lang="en-US" sz="2400" b="0" dirty="0" smtClean="0"/>
              <a:t>Opportunity to correct problems	High		Low</a:t>
            </a:r>
          </a:p>
          <a:p>
            <a:pPr marL="282575" indent="-282575" eaLnBrk="1" fontAlgn="auto" hangingPunct="1">
              <a:spcAft>
                <a:spcPts val="0"/>
              </a:spcAft>
              <a:buNone/>
              <a:defRPr/>
            </a:pPr>
            <a:r>
              <a:rPr lang="en-US" sz="2400" b="0" dirty="0" smtClean="0"/>
              <a:t>Quality assurance			Easy		Difficult</a:t>
            </a:r>
          </a:p>
          <a:p>
            <a:pPr marL="282575" indent="-282575" eaLnBrk="1" fontAlgn="auto" hangingPunct="1">
              <a:spcAft>
                <a:spcPts val="0"/>
              </a:spcAft>
              <a:buNone/>
              <a:defRPr/>
            </a:pPr>
            <a:r>
              <a:rPr lang="en-US" sz="2400" b="0" dirty="0" smtClean="0"/>
              <a:t>Amount of inventory		Large		Small</a:t>
            </a:r>
          </a:p>
          <a:p>
            <a:pPr marL="282575" indent="-282575" eaLnBrk="1" fontAlgn="auto" hangingPunct="1">
              <a:spcAft>
                <a:spcPts val="0"/>
              </a:spcAft>
              <a:buNone/>
              <a:defRPr/>
            </a:pPr>
            <a:r>
              <a:rPr lang="en-US" sz="2400" b="0" dirty="0" smtClean="0"/>
              <a:t>Evaluation of work			Easy		Difficult</a:t>
            </a:r>
          </a:p>
          <a:p>
            <a:pPr marL="282575" indent="-282575" eaLnBrk="1" fontAlgn="auto" hangingPunct="1">
              <a:spcAft>
                <a:spcPts val="0"/>
              </a:spcAft>
              <a:buNone/>
              <a:defRPr/>
            </a:pPr>
            <a:r>
              <a:rPr lang="en-US" sz="2400" b="0" dirty="0" smtClean="0"/>
              <a:t>Wages					Narrow range	Wide range</a:t>
            </a:r>
          </a:p>
          <a:p>
            <a:pPr marL="282575" indent="-282575" eaLnBrk="1" fontAlgn="auto" hangingPunct="1">
              <a:spcAft>
                <a:spcPts val="0"/>
              </a:spcAft>
              <a:buNone/>
              <a:defRPr/>
            </a:pPr>
            <a:r>
              <a:rPr lang="en-US" sz="2400" b="0" dirty="0" smtClean="0"/>
              <a:t>Ability to patent design		Usually	Not usually</a:t>
            </a:r>
            <a:endParaRPr lang="en-US" sz="2400" b="0" dirty="0"/>
          </a:p>
        </p:txBody>
      </p:sp>
      <p:sp>
        <p:nvSpPr>
          <p:cNvPr id="27653" name="Slide Number Placeholder 4"/>
          <p:cNvSpPr txBox="1">
            <a:spLocks noGrp="1"/>
          </p:cNvSpPr>
          <p:nvPr/>
        </p:nvSpPr>
        <p:spPr bwMode="auto">
          <a:xfrm>
            <a:off x="8523642" y="6542442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/>
            <a:r>
              <a:rPr lang="en-US" sz="1600" b="0" dirty="0">
                <a:solidFill>
                  <a:schemeClr val="tx2"/>
                </a:solidFill>
              </a:rPr>
              <a:t>1-</a:t>
            </a:r>
            <a:fld id="{89B5FCA2-1DAE-4479-BD00-6981FDDB262D}" type="slidenum">
              <a:rPr lang="en-US" sz="1600" b="0">
                <a:solidFill>
                  <a:schemeClr val="tx2"/>
                </a:solidFill>
              </a:rPr>
              <a:pPr algn="ctr"/>
              <a:t>17</a:t>
            </a:fld>
            <a:endParaRPr lang="en-US" sz="1600" b="0" dirty="0">
              <a:solidFill>
                <a:schemeClr val="tx2"/>
              </a:solidFill>
            </a:endParaRPr>
          </a:p>
        </p:txBody>
      </p:sp>
      <p:sp>
        <p:nvSpPr>
          <p:cNvPr id="6" name="Rectangle 2069"/>
          <p:cNvSpPr>
            <a:spLocks noChangeArrowheads="1"/>
          </p:cNvSpPr>
          <p:nvPr/>
        </p:nvSpPr>
        <p:spPr bwMode="auto">
          <a:xfrm>
            <a:off x="4540466" y="979481"/>
            <a:ext cx="1174534" cy="46831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9781" tIns="49015" rIns="99781" bIns="49015">
            <a:spAutoFit/>
          </a:bodyPr>
          <a:lstStyle/>
          <a:p>
            <a:pPr defTabSz="1008063" eaLnBrk="0" hangingPunct="0"/>
            <a:r>
              <a:rPr lang="en-US" sz="2400" dirty="0">
                <a:solidFill>
                  <a:schemeClr val="hlink"/>
                </a:solidFill>
              </a:rPr>
              <a:t>Goods</a:t>
            </a:r>
          </a:p>
        </p:txBody>
      </p:sp>
      <p:sp>
        <p:nvSpPr>
          <p:cNvPr id="7" name="Rectangle 2086"/>
          <p:cNvSpPr>
            <a:spLocks noChangeArrowheads="1"/>
          </p:cNvSpPr>
          <p:nvPr/>
        </p:nvSpPr>
        <p:spPr bwMode="auto">
          <a:xfrm>
            <a:off x="6400800" y="952595"/>
            <a:ext cx="1297965" cy="46831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9781" tIns="49015" rIns="99781" bIns="49015">
            <a:spAutoFit/>
          </a:bodyPr>
          <a:lstStyle/>
          <a:p>
            <a:pPr defTabSz="1008063" eaLnBrk="0" hangingPunct="0"/>
            <a:r>
              <a:rPr lang="en-US" sz="2400" dirty="0">
                <a:solidFill>
                  <a:schemeClr val="hlink"/>
                </a:solidFill>
              </a:rPr>
              <a:t>Service</a:t>
            </a:r>
          </a:p>
        </p:txBody>
      </p:sp>
    </p:spTree>
    <p:extLst>
      <p:ext uri="{BB962C8B-B14F-4D97-AF65-F5344CB8AC3E}">
        <p14:creationId xmlns:p14="http://schemas.microsoft.com/office/powerpoint/2010/main" val="3729004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685800"/>
            <a:ext cx="8534400" cy="6096000"/>
          </a:xfrm>
        </p:spPr>
        <p:txBody>
          <a:bodyPr/>
          <a:lstStyle/>
          <a:p>
            <a:pPr marL="282575" indent="-282575" eaLnBrk="1" hangingPunct="1">
              <a:spcBef>
                <a:spcPts val="0"/>
              </a:spcBef>
              <a:buFontTx/>
              <a:buAutoNum type="arabicPeriod"/>
            </a:pPr>
            <a:r>
              <a:rPr lang="en-US" sz="2400" b="0" dirty="0" smtClean="0">
                <a:solidFill>
                  <a:srgbClr val="303B2C"/>
                </a:solidFill>
              </a:rPr>
              <a:t>Jobs in services are often less structured than in manufacturing</a:t>
            </a:r>
          </a:p>
          <a:p>
            <a:pPr marL="282575" indent="-282575" eaLnBrk="1" hangingPunct="1">
              <a:spcBef>
                <a:spcPts val="0"/>
              </a:spcBef>
              <a:buFontTx/>
              <a:buAutoNum type="arabicPeriod"/>
            </a:pPr>
            <a:r>
              <a:rPr lang="en-US" sz="2400" b="0" dirty="0" smtClean="0">
                <a:solidFill>
                  <a:srgbClr val="303B2C"/>
                </a:solidFill>
              </a:rPr>
              <a:t>Customer contact is generally much higher in services compared to manufacturing</a:t>
            </a:r>
          </a:p>
          <a:p>
            <a:pPr marL="282575" indent="-282575" eaLnBrk="1" hangingPunct="1">
              <a:spcBef>
                <a:spcPts val="0"/>
              </a:spcBef>
              <a:buFontTx/>
              <a:buAutoNum type="arabicPeriod"/>
            </a:pPr>
            <a:r>
              <a:rPr lang="en-US" sz="2400" b="0" dirty="0" smtClean="0">
                <a:solidFill>
                  <a:srgbClr val="303B2C"/>
                </a:solidFill>
              </a:rPr>
              <a:t>In many services, worker skill levels are low compared to those of manufacturing employees</a:t>
            </a:r>
          </a:p>
          <a:p>
            <a:pPr marL="282575" indent="-282575" eaLnBrk="1" hangingPunct="1">
              <a:spcBef>
                <a:spcPts val="0"/>
              </a:spcBef>
              <a:buFontTx/>
              <a:buAutoNum type="arabicPeriod"/>
            </a:pPr>
            <a:r>
              <a:rPr lang="en-US" sz="2400" b="0" dirty="0" smtClean="0">
                <a:solidFill>
                  <a:srgbClr val="303B2C"/>
                </a:solidFill>
              </a:rPr>
              <a:t>Services are adding many new workers in low-skill, entry-level positions</a:t>
            </a:r>
          </a:p>
          <a:p>
            <a:pPr marL="282575" indent="-282575" eaLnBrk="1" hangingPunct="1">
              <a:spcBef>
                <a:spcPts val="0"/>
              </a:spcBef>
              <a:buFontTx/>
              <a:buAutoNum type="arabicPeriod"/>
            </a:pPr>
            <a:r>
              <a:rPr lang="en-US" sz="2400" b="0" dirty="0" smtClean="0">
                <a:solidFill>
                  <a:srgbClr val="303B2C"/>
                </a:solidFill>
              </a:rPr>
              <a:t>Employee turnover is high in services, especially in low-skill jobs</a:t>
            </a:r>
          </a:p>
          <a:p>
            <a:pPr marL="282575" indent="-282575" eaLnBrk="1" hangingPunct="1">
              <a:spcBef>
                <a:spcPts val="0"/>
              </a:spcBef>
              <a:buFontTx/>
              <a:buAutoNum type="arabicPeriod"/>
            </a:pPr>
            <a:r>
              <a:rPr lang="en-US" sz="2400" b="0" dirty="0" smtClean="0">
                <a:solidFill>
                  <a:srgbClr val="303B2C"/>
                </a:solidFill>
              </a:rPr>
              <a:t>Input variability tends to be higher in many service environments than in manufacturing</a:t>
            </a:r>
          </a:p>
          <a:p>
            <a:pPr marL="282575" indent="-282575" eaLnBrk="1" hangingPunct="1">
              <a:spcBef>
                <a:spcPts val="0"/>
              </a:spcBef>
              <a:buFontTx/>
              <a:buAutoNum type="arabicPeriod"/>
            </a:pPr>
            <a:r>
              <a:rPr lang="en-US" sz="2400" b="0" dirty="0" smtClean="0">
                <a:solidFill>
                  <a:srgbClr val="303B2C"/>
                </a:solidFill>
              </a:rPr>
              <a:t>Service performance can be adversely affected by many factors outside of the manager’s control (e.g., employee and customer attitudes)</a:t>
            </a:r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76200"/>
            <a:ext cx="8229600" cy="6096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Managing Services is Challenging</a:t>
            </a:r>
          </a:p>
        </p:txBody>
      </p:sp>
      <p:sp>
        <p:nvSpPr>
          <p:cNvPr id="28677" name="Slide Number Placeholder 4"/>
          <p:cNvSpPr txBox="1">
            <a:spLocks noGrp="1"/>
          </p:cNvSpPr>
          <p:nvPr/>
        </p:nvSpPr>
        <p:spPr bwMode="auto">
          <a:xfrm>
            <a:off x="8523642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/>
            <a:r>
              <a:rPr lang="en-US" sz="1600" b="0">
                <a:solidFill>
                  <a:schemeClr val="tx2"/>
                </a:solidFill>
              </a:rPr>
              <a:t>1-</a:t>
            </a:r>
            <a:fld id="{1B4E0329-78E0-4636-98F9-4536BB7BDB4C}" type="slidenum">
              <a:rPr lang="en-US" sz="1600" b="0">
                <a:solidFill>
                  <a:schemeClr val="tx2"/>
                </a:solidFill>
              </a:rPr>
              <a:pPr algn="ctr"/>
              <a:t>18</a:t>
            </a:fld>
            <a:endParaRPr lang="en-US" sz="1600" b="0">
              <a:solidFill>
                <a:schemeClr val="tx2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14425"/>
            <a:ext cx="1981200" cy="6435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6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6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6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6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4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229600" cy="533400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Scope of Operations Management</a:t>
            </a:r>
          </a:p>
        </p:txBody>
      </p:sp>
      <p:sp>
        <p:nvSpPr>
          <p:cNvPr id="61444" name="Rectangle 4100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828800"/>
            <a:ext cx="8305800" cy="4730226"/>
          </a:xfrm>
        </p:spPr>
        <p:txBody>
          <a:bodyPr>
            <a:normAutofit lnSpcReduction="10000"/>
          </a:bodyPr>
          <a:lstStyle/>
          <a:p>
            <a:pPr marL="0" indent="0" eaLnBrk="1" fontAlgn="auto" hangingPunct="1">
              <a:lnSpc>
                <a:spcPct val="124000"/>
              </a:lnSpc>
              <a:spcAft>
                <a:spcPts val="0"/>
              </a:spcAft>
              <a:buFontTx/>
              <a:buNone/>
              <a:defRPr/>
            </a:pPr>
            <a:r>
              <a:rPr lang="en-US" sz="2400" dirty="0" smtClean="0"/>
              <a:t>The operations function includes many interrelated activities such as:</a:t>
            </a:r>
          </a:p>
          <a:p>
            <a:pPr marL="640080" lvl="1" indent="-274320" eaLnBrk="1" fontAlgn="auto" hangingPunct="1">
              <a:lnSpc>
                <a:spcPct val="124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 smtClean="0"/>
              <a:t>Forecasting</a:t>
            </a:r>
          </a:p>
          <a:p>
            <a:pPr marL="640080" lvl="1" indent="-274320" eaLnBrk="1" fontAlgn="auto" hangingPunct="1">
              <a:lnSpc>
                <a:spcPct val="124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 smtClean="0"/>
              <a:t>Capacity planning</a:t>
            </a:r>
          </a:p>
          <a:p>
            <a:pPr marL="640080" lvl="1" indent="-274320" eaLnBrk="1" fontAlgn="auto" hangingPunct="1">
              <a:lnSpc>
                <a:spcPct val="124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 smtClean="0"/>
              <a:t>Facilities and layout</a:t>
            </a:r>
          </a:p>
          <a:p>
            <a:pPr marL="640080" lvl="1" indent="-274320" eaLnBrk="1" fontAlgn="auto" hangingPunct="1">
              <a:lnSpc>
                <a:spcPct val="124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 smtClean="0"/>
              <a:t>Scheduling</a:t>
            </a:r>
          </a:p>
          <a:p>
            <a:pPr marL="640080" lvl="1" indent="-274320" eaLnBrk="1" fontAlgn="auto" hangingPunct="1">
              <a:lnSpc>
                <a:spcPct val="124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 smtClean="0"/>
              <a:t>Managing inventories</a:t>
            </a:r>
          </a:p>
          <a:p>
            <a:pPr marL="640080" lvl="1" indent="-274320" eaLnBrk="1" fontAlgn="auto" hangingPunct="1">
              <a:lnSpc>
                <a:spcPct val="124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 smtClean="0"/>
              <a:t>Assuring quality</a:t>
            </a:r>
          </a:p>
          <a:p>
            <a:pPr marL="640080" lvl="1" indent="-274320" eaLnBrk="1" fontAlgn="auto" hangingPunct="1">
              <a:lnSpc>
                <a:spcPct val="124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 smtClean="0"/>
              <a:t>Motivating employees</a:t>
            </a:r>
          </a:p>
          <a:p>
            <a:pPr marL="640080" lvl="1" indent="-274320" eaLnBrk="1" fontAlgn="auto" hangingPunct="1">
              <a:lnSpc>
                <a:spcPct val="124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 smtClean="0"/>
              <a:t>Deciding where to locate facilities</a:t>
            </a:r>
          </a:p>
          <a:p>
            <a:pPr marL="640080" lvl="1" indent="-274320" eaLnBrk="1" fontAlgn="auto" hangingPunct="1">
              <a:lnSpc>
                <a:spcPct val="124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 smtClean="0"/>
              <a:t>And more . . .</a:t>
            </a:r>
          </a:p>
        </p:txBody>
      </p:sp>
      <p:sp>
        <p:nvSpPr>
          <p:cNvPr id="16388" name="Text Box 5"/>
          <p:cNvSpPr txBox="1">
            <a:spLocks noChangeArrowheads="1"/>
          </p:cNvSpPr>
          <p:nvPr/>
        </p:nvSpPr>
        <p:spPr bwMode="auto">
          <a:xfrm>
            <a:off x="381000" y="914400"/>
            <a:ext cx="6553200" cy="830997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0" dirty="0">
                <a:solidFill>
                  <a:schemeClr val="tx2">
                    <a:lumMod val="20000"/>
                    <a:lumOff val="80000"/>
                  </a:schemeClr>
                </a:solidFill>
                <a:latin typeface="Arial" charset="0"/>
              </a:rPr>
              <a:t>The scope of operations management ranges across the organization.</a:t>
            </a:r>
          </a:p>
        </p:txBody>
      </p:sp>
      <p:sp>
        <p:nvSpPr>
          <p:cNvPr id="32776" name="Slide Number Placeholder 4"/>
          <p:cNvSpPr txBox="1">
            <a:spLocks noGrp="1"/>
          </p:cNvSpPr>
          <p:nvPr/>
        </p:nvSpPr>
        <p:spPr bwMode="auto">
          <a:xfrm>
            <a:off x="8523642" y="6597126"/>
            <a:ext cx="609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/>
            <a:r>
              <a:rPr lang="en-US" sz="1600" b="0">
                <a:solidFill>
                  <a:schemeClr val="tx2"/>
                </a:solidFill>
              </a:rPr>
              <a:t>1-</a:t>
            </a:r>
            <a:fld id="{668A9EE1-A9C1-4F3F-80D7-4FBB36F2D673}" type="slidenum">
              <a:rPr lang="en-US" sz="1600" b="0">
                <a:solidFill>
                  <a:schemeClr val="tx2"/>
                </a:solidFill>
              </a:rPr>
              <a:pPr algn="ctr"/>
              <a:t>19</a:t>
            </a:fld>
            <a:endParaRPr lang="en-US" sz="1600" b="0">
              <a:solidFill>
                <a:schemeClr val="tx2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14425"/>
            <a:ext cx="1981200" cy="6435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1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14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14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14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614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14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614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614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614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614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4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4"/>
          <p:cNvSpPr>
            <a:spLocks noGrp="1" noChangeArrowheads="1"/>
          </p:cNvSpPr>
          <p:nvPr>
            <p:ph type="title"/>
          </p:nvPr>
        </p:nvSpPr>
        <p:spPr>
          <a:xfrm>
            <a:off x="304800" y="-76200"/>
            <a:ext cx="8229600" cy="8382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Role of the Operations Manager</a:t>
            </a:r>
          </a:p>
        </p:txBody>
      </p:sp>
      <p:sp>
        <p:nvSpPr>
          <p:cNvPr id="103426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7315200" cy="4572000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sz="2400" dirty="0" smtClean="0">
                <a:solidFill>
                  <a:srgbClr val="303B2C"/>
                </a:solidFill>
              </a:rPr>
              <a:t>The Operations Function consists of all activities </a:t>
            </a:r>
            <a:r>
              <a:rPr lang="en-US" sz="2400" i="1" dirty="0" smtClean="0">
                <a:solidFill>
                  <a:srgbClr val="303B2C"/>
                </a:solidFill>
              </a:rPr>
              <a:t>directly</a:t>
            </a:r>
            <a:r>
              <a:rPr lang="en-US" sz="2400" dirty="0" smtClean="0">
                <a:solidFill>
                  <a:srgbClr val="303B2C"/>
                </a:solidFill>
              </a:rPr>
              <a:t> related to producing goods or providing services.</a:t>
            </a:r>
          </a:p>
          <a:p>
            <a:pPr marL="0" indent="0" eaLnBrk="1" hangingPunct="1">
              <a:buFontTx/>
              <a:buNone/>
            </a:pPr>
            <a:endParaRPr lang="en-US" sz="2400" dirty="0" smtClean="0">
              <a:solidFill>
                <a:srgbClr val="303B2C"/>
              </a:solidFill>
            </a:endParaRPr>
          </a:p>
          <a:p>
            <a:pPr marL="0" indent="0" eaLnBrk="1" hangingPunct="1">
              <a:buFontTx/>
              <a:buNone/>
            </a:pPr>
            <a:r>
              <a:rPr lang="en-US" sz="2400" dirty="0" smtClean="0">
                <a:solidFill>
                  <a:srgbClr val="303B2C"/>
                </a:solidFill>
              </a:rPr>
              <a:t>A primary function of the operations manager is to guide the system by decision making.</a:t>
            </a:r>
          </a:p>
          <a:p>
            <a:pPr lvl="1" eaLnBrk="1" hangingPunct="1"/>
            <a:r>
              <a:rPr lang="en-US" dirty="0" smtClean="0">
                <a:solidFill>
                  <a:srgbClr val="303B2C"/>
                </a:solidFill>
              </a:rPr>
              <a:t>System Design Decisions</a:t>
            </a:r>
          </a:p>
          <a:p>
            <a:pPr lvl="1" eaLnBrk="1" hangingPunct="1"/>
            <a:r>
              <a:rPr lang="en-US" dirty="0" smtClean="0">
                <a:solidFill>
                  <a:srgbClr val="303B2C"/>
                </a:solidFill>
              </a:rPr>
              <a:t>System Operation Decisions</a:t>
            </a:r>
          </a:p>
        </p:txBody>
      </p:sp>
      <p:sp>
        <p:nvSpPr>
          <p:cNvPr id="33797" name="Slide Number Placeholder 4"/>
          <p:cNvSpPr txBox="1">
            <a:spLocks noGrp="1"/>
          </p:cNvSpPr>
          <p:nvPr/>
        </p:nvSpPr>
        <p:spPr bwMode="auto">
          <a:xfrm>
            <a:off x="8523642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/>
            <a:r>
              <a:rPr lang="en-US" sz="1600" b="0" dirty="0">
                <a:solidFill>
                  <a:schemeClr val="tx2"/>
                </a:solidFill>
              </a:rPr>
              <a:t>1-</a:t>
            </a:r>
            <a:fld id="{D93245BD-2F18-4BB8-8AC3-F7B66364212C}" type="slidenum">
              <a:rPr lang="en-US" sz="1600" b="0">
                <a:solidFill>
                  <a:schemeClr val="tx2"/>
                </a:solidFill>
              </a:rPr>
              <a:pPr algn="ctr"/>
              <a:t>20</a:t>
            </a:fld>
            <a:endParaRPr lang="en-US" sz="1600" b="0" dirty="0">
              <a:solidFill>
                <a:schemeClr val="tx2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14425"/>
            <a:ext cx="1981200" cy="6435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3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34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34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034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6" grpId="0" uiExpand="1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0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29600" cy="6096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System Design Decisions</a:t>
            </a:r>
          </a:p>
        </p:txBody>
      </p:sp>
      <p:sp>
        <p:nvSpPr>
          <p:cNvPr id="34819" name="Text Box 24"/>
          <p:cNvSpPr txBox="1">
            <a:spLocks noChangeArrowheads="1"/>
          </p:cNvSpPr>
          <p:nvPr/>
        </p:nvSpPr>
        <p:spPr bwMode="auto">
          <a:xfrm>
            <a:off x="152400" y="762000"/>
            <a:ext cx="8839200" cy="550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31775" indent="-231775">
              <a:lnSpc>
                <a:spcPct val="150000"/>
              </a:lnSpc>
              <a:spcAft>
                <a:spcPct val="10000"/>
              </a:spcAft>
              <a:buFont typeface="Arial" pitchFamily="34" charset="0"/>
              <a:buChar char="•"/>
            </a:pPr>
            <a:r>
              <a:rPr lang="en-US" sz="2800" dirty="0">
                <a:solidFill>
                  <a:srgbClr val="303B2C"/>
                </a:solidFill>
              </a:rPr>
              <a:t>System Design</a:t>
            </a:r>
            <a:endParaRPr lang="en-US" sz="2800" b="0" dirty="0">
              <a:solidFill>
                <a:srgbClr val="303B2C"/>
              </a:solidFill>
            </a:endParaRPr>
          </a:p>
          <a:p>
            <a:pPr marL="231775" indent="-231775">
              <a:lnSpc>
                <a:spcPct val="150000"/>
              </a:lnSpc>
              <a:spcAft>
                <a:spcPct val="10000"/>
              </a:spcAft>
              <a:buFont typeface="Arial" pitchFamily="34" charset="0"/>
              <a:buChar char="•"/>
            </a:pPr>
            <a:r>
              <a:rPr lang="en-US" sz="2800" b="0" dirty="0" smtClean="0">
                <a:solidFill>
                  <a:srgbClr val="303B2C"/>
                </a:solidFill>
              </a:rPr>
              <a:t>These are typically </a:t>
            </a:r>
            <a:r>
              <a:rPr lang="en-US" sz="2800" dirty="0" smtClean="0">
                <a:solidFill>
                  <a:srgbClr val="CC3300"/>
                </a:solidFill>
              </a:rPr>
              <a:t>strategic decisions </a:t>
            </a:r>
            <a:r>
              <a:rPr lang="en-US" sz="2800" b="0" dirty="0" smtClean="0">
                <a:solidFill>
                  <a:srgbClr val="303B2C"/>
                </a:solidFill>
              </a:rPr>
              <a:t>that:</a:t>
            </a:r>
          </a:p>
          <a:p>
            <a:pPr marL="569913" lvl="1" indent="-231775">
              <a:lnSpc>
                <a:spcPct val="150000"/>
              </a:lnSpc>
              <a:spcAft>
                <a:spcPct val="10000"/>
              </a:spcAft>
              <a:buFont typeface="Arial" pitchFamily="34" charset="0"/>
              <a:buChar char="•"/>
            </a:pPr>
            <a:r>
              <a:rPr lang="en-US" sz="2400" b="0" dirty="0" smtClean="0">
                <a:solidFill>
                  <a:srgbClr val="303B2C"/>
                </a:solidFill>
              </a:rPr>
              <a:t>usually require long-term commitment of resources</a:t>
            </a:r>
          </a:p>
          <a:p>
            <a:pPr marL="569913" lvl="1" indent="-231775">
              <a:lnSpc>
                <a:spcPct val="150000"/>
              </a:lnSpc>
              <a:spcAft>
                <a:spcPct val="10000"/>
              </a:spcAft>
              <a:buFont typeface="Arial" pitchFamily="34" charset="0"/>
              <a:buChar char="•"/>
            </a:pPr>
            <a:r>
              <a:rPr lang="en-US" sz="2400" b="0" dirty="0" smtClean="0">
                <a:solidFill>
                  <a:srgbClr val="303B2C"/>
                </a:solidFill>
              </a:rPr>
              <a:t>determine parameters of system operation</a:t>
            </a:r>
            <a:endParaRPr lang="ar-EG" sz="2400" b="0" dirty="0" smtClean="0">
              <a:solidFill>
                <a:srgbClr val="303B2C"/>
              </a:solidFill>
            </a:endParaRPr>
          </a:p>
          <a:p>
            <a:pPr marL="917575" lvl="1" indent="-296863">
              <a:lnSpc>
                <a:spcPct val="150000"/>
              </a:lnSpc>
              <a:spcAft>
                <a:spcPct val="10000"/>
              </a:spcAft>
              <a:buFontTx/>
              <a:buChar char="–"/>
            </a:pPr>
            <a:r>
              <a:rPr lang="en-US" sz="2400" b="0" dirty="0" smtClean="0">
                <a:solidFill>
                  <a:srgbClr val="303B2C"/>
                </a:solidFill>
              </a:rPr>
              <a:t>Capacity</a:t>
            </a:r>
            <a:endParaRPr lang="en-US" sz="2400" b="0" dirty="0">
              <a:solidFill>
                <a:srgbClr val="303B2C"/>
              </a:solidFill>
            </a:endParaRPr>
          </a:p>
          <a:p>
            <a:pPr marL="917575" lvl="1" indent="-296863">
              <a:lnSpc>
                <a:spcPct val="150000"/>
              </a:lnSpc>
              <a:spcAft>
                <a:spcPct val="10000"/>
              </a:spcAft>
              <a:buFontTx/>
              <a:buChar char="–"/>
            </a:pPr>
            <a:r>
              <a:rPr lang="en-US" sz="2400" b="0" dirty="0">
                <a:solidFill>
                  <a:srgbClr val="303B2C"/>
                </a:solidFill>
              </a:rPr>
              <a:t>Facility location</a:t>
            </a:r>
          </a:p>
          <a:p>
            <a:pPr marL="917575" lvl="1" indent="-296863">
              <a:lnSpc>
                <a:spcPct val="150000"/>
              </a:lnSpc>
              <a:spcAft>
                <a:spcPct val="10000"/>
              </a:spcAft>
              <a:buFontTx/>
              <a:buChar char="–"/>
            </a:pPr>
            <a:r>
              <a:rPr lang="en-US" sz="2400" b="0" dirty="0">
                <a:solidFill>
                  <a:srgbClr val="303B2C"/>
                </a:solidFill>
              </a:rPr>
              <a:t>Facility layout</a:t>
            </a:r>
          </a:p>
          <a:p>
            <a:pPr marL="917575" lvl="1" indent="-296863">
              <a:lnSpc>
                <a:spcPct val="150000"/>
              </a:lnSpc>
              <a:spcAft>
                <a:spcPct val="10000"/>
              </a:spcAft>
              <a:buFontTx/>
              <a:buChar char="–"/>
            </a:pPr>
            <a:r>
              <a:rPr lang="en-US" sz="2400" b="0" dirty="0">
                <a:solidFill>
                  <a:srgbClr val="303B2C"/>
                </a:solidFill>
              </a:rPr>
              <a:t>Product and service planning</a:t>
            </a:r>
          </a:p>
          <a:p>
            <a:pPr marL="917575" lvl="1" indent="-296863">
              <a:lnSpc>
                <a:spcPct val="150000"/>
              </a:lnSpc>
              <a:spcAft>
                <a:spcPct val="10000"/>
              </a:spcAft>
              <a:buFontTx/>
              <a:buChar char="–"/>
            </a:pPr>
            <a:r>
              <a:rPr lang="en-US" sz="2400" b="0" dirty="0">
                <a:solidFill>
                  <a:srgbClr val="303B2C"/>
                </a:solidFill>
              </a:rPr>
              <a:t>Acquisition and placement of </a:t>
            </a:r>
            <a:r>
              <a:rPr lang="en-US" sz="2400" b="0" dirty="0" smtClean="0">
                <a:solidFill>
                  <a:srgbClr val="303B2C"/>
                </a:solidFill>
              </a:rPr>
              <a:t>equipment</a:t>
            </a:r>
            <a:endParaRPr lang="en-US" sz="2400" b="0" dirty="0">
              <a:solidFill>
                <a:srgbClr val="303B2C"/>
              </a:solidFill>
            </a:endParaRPr>
          </a:p>
        </p:txBody>
      </p:sp>
      <p:sp>
        <p:nvSpPr>
          <p:cNvPr id="34821" name="Slide Number Placeholder 4"/>
          <p:cNvSpPr txBox="1">
            <a:spLocks noGrp="1"/>
          </p:cNvSpPr>
          <p:nvPr/>
        </p:nvSpPr>
        <p:spPr bwMode="auto">
          <a:xfrm>
            <a:off x="8522748" y="6597126"/>
            <a:ext cx="609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/>
            <a:r>
              <a:rPr lang="en-US" sz="1600" b="0">
                <a:solidFill>
                  <a:schemeClr val="tx2"/>
                </a:solidFill>
              </a:rPr>
              <a:t>1-</a:t>
            </a:r>
            <a:fld id="{AFD04B05-D2BA-4356-A888-61D327792B16}" type="slidenum">
              <a:rPr lang="en-US" sz="1600" b="0">
                <a:solidFill>
                  <a:schemeClr val="tx2"/>
                </a:solidFill>
              </a:rPr>
              <a:pPr algn="ctr"/>
              <a:t>21</a:t>
            </a:fld>
            <a:endParaRPr lang="en-US" sz="1600" b="0">
              <a:solidFill>
                <a:schemeClr val="tx2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14425"/>
            <a:ext cx="1981200" cy="64357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48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9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229600" cy="533400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System Operation Decisions</a:t>
            </a:r>
          </a:p>
        </p:txBody>
      </p:sp>
      <p:sp>
        <p:nvSpPr>
          <p:cNvPr id="35843" name="Text Box 20"/>
          <p:cNvSpPr txBox="1">
            <a:spLocks noChangeArrowheads="1"/>
          </p:cNvSpPr>
          <p:nvPr/>
        </p:nvSpPr>
        <p:spPr bwMode="auto">
          <a:xfrm>
            <a:off x="152400" y="795040"/>
            <a:ext cx="8763000" cy="4462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31775" indent="-231775">
              <a:spcAft>
                <a:spcPts val="600"/>
              </a:spcAft>
              <a:buFont typeface="Arial" pitchFamily="34" charset="0"/>
              <a:buChar char="•"/>
            </a:pPr>
            <a:r>
              <a:rPr lang="en-US" sz="2800" dirty="0">
                <a:solidFill>
                  <a:srgbClr val="303B2C"/>
                </a:solidFill>
              </a:rPr>
              <a:t>System Operation</a:t>
            </a:r>
          </a:p>
          <a:p>
            <a:pPr marL="688975" lvl="1" indent="-231775">
              <a:spcAft>
                <a:spcPts val="600"/>
              </a:spcAft>
              <a:buFont typeface="Arial" pitchFamily="34" charset="0"/>
              <a:buChar char="•"/>
            </a:pPr>
            <a:r>
              <a:rPr lang="en-US" sz="2400" b="0" dirty="0">
                <a:solidFill>
                  <a:srgbClr val="303B2C"/>
                </a:solidFill>
              </a:rPr>
              <a:t>These are generally </a:t>
            </a:r>
            <a:r>
              <a:rPr lang="en-US" sz="2400" dirty="0">
                <a:solidFill>
                  <a:srgbClr val="CC3300"/>
                </a:solidFill>
              </a:rPr>
              <a:t>tactical and operational </a:t>
            </a:r>
            <a:r>
              <a:rPr lang="en-US" sz="2400" dirty="0" smtClean="0">
                <a:solidFill>
                  <a:srgbClr val="CC3300"/>
                </a:solidFill>
              </a:rPr>
              <a:t>decisions</a:t>
            </a:r>
            <a:r>
              <a:rPr lang="en-US" sz="2400" b="0" dirty="0" smtClean="0">
                <a:solidFill>
                  <a:srgbClr val="303B2C"/>
                </a:solidFill>
              </a:rPr>
              <a:t>:</a:t>
            </a:r>
            <a:endParaRPr lang="en-US" sz="2400" b="0" dirty="0">
              <a:solidFill>
                <a:srgbClr val="303B2C"/>
              </a:solidFill>
            </a:endParaRPr>
          </a:p>
          <a:p>
            <a:pPr marL="1146175" lvl="2" indent="-231775">
              <a:spcAft>
                <a:spcPts val="600"/>
              </a:spcAft>
              <a:buFontTx/>
              <a:buChar char="–"/>
            </a:pPr>
            <a:r>
              <a:rPr lang="en-US" sz="2400" b="0" dirty="0">
                <a:solidFill>
                  <a:srgbClr val="303B2C"/>
                </a:solidFill>
              </a:rPr>
              <a:t>Management of personnel</a:t>
            </a:r>
          </a:p>
          <a:p>
            <a:pPr marL="1146175" lvl="2" indent="-231775">
              <a:spcAft>
                <a:spcPts val="600"/>
              </a:spcAft>
              <a:buFontTx/>
              <a:buChar char="–"/>
            </a:pPr>
            <a:r>
              <a:rPr lang="en-US" sz="2400" b="0" dirty="0">
                <a:solidFill>
                  <a:srgbClr val="303B2C"/>
                </a:solidFill>
              </a:rPr>
              <a:t>Inventory management and control</a:t>
            </a:r>
          </a:p>
          <a:p>
            <a:pPr marL="1146175" lvl="2" indent="-231775">
              <a:spcAft>
                <a:spcPts val="600"/>
              </a:spcAft>
              <a:buFontTx/>
              <a:buChar char="–"/>
            </a:pPr>
            <a:r>
              <a:rPr lang="en-US" sz="2400" b="0" dirty="0">
                <a:solidFill>
                  <a:srgbClr val="303B2C"/>
                </a:solidFill>
              </a:rPr>
              <a:t>Scheduling</a:t>
            </a:r>
          </a:p>
          <a:p>
            <a:pPr marL="1146175" lvl="2" indent="-231775">
              <a:spcAft>
                <a:spcPts val="600"/>
              </a:spcAft>
              <a:buFontTx/>
              <a:buChar char="–"/>
            </a:pPr>
            <a:r>
              <a:rPr lang="en-US" sz="2400" b="0" dirty="0">
                <a:solidFill>
                  <a:srgbClr val="303B2C"/>
                </a:solidFill>
              </a:rPr>
              <a:t>Project management</a:t>
            </a:r>
          </a:p>
          <a:p>
            <a:pPr marL="1146175" lvl="2" indent="-231775">
              <a:spcAft>
                <a:spcPts val="600"/>
              </a:spcAft>
              <a:buFontTx/>
              <a:buChar char="–"/>
            </a:pPr>
            <a:r>
              <a:rPr lang="en-US" sz="2400" b="0" dirty="0">
                <a:solidFill>
                  <a:srgbClr val="303B2C"/>
                </a:solidFill>
              </a:rPr>
              <a:t>Quality assurance</a:t>
            </a:r>
          </a:p>
          <a:p>
            <a:pPr marL="231775" indent="-231775">
              <a:spcAft>
                <a:spcPts val="600"/>
              </a:spcAft>
              <a:buFont typeface="Arial" pitchFamily="34" charset="0"/>
              <a:buChar char="•"/>
            </a:pPr>
            <a:r>
              <a:rPr lang="en-US" sz="2400" b="0" dirty="0">
                <a:solidFill>
                  <a:srgbClr val="303B2C"/>
                </a:solidFill>
              </a:rPr>
              <a:t>Operations managers spend more time on system operation decision than any other decision area</a:t>
            </a:r>
          </a:p>
          <a:p>
            <a:pPr marL="688975" lvl="1" indent="-231775">
              <a:spcAft>
                <a:spcPts val="600"/>
              </a:spcAft>
              <a:buFont typeface="Arial" pitchFamily="34" charset="0"/>
              <a:buChar char="•"/>
            </a:pPr>
            <a:r>
              <a:rPr lang="en-US" sz="2400" b="0" dirty="0">
                <a:solidFill>
                  <a:srgbClr val="303B2C"/>
                </a:solidFill>
              </a:rPr>
              <a:t>They still have a vital stake in system </a:t>
            </a:r>
            <a:r>
              <a:rPr lang="en-US" sz="2400" b="0" dirty="0" smtClean="0">
                <a:solidFill>
                  <a:srgbClr val="303B2C"/>
                </a:solidFill>
              </a:rPr>
              <a:t>design</a:t>
            </a:r>
            <a:endParaRPr lang="en-US" sz="2400" b="0" dirty="0">
              <a:solidFill>
                <a:srgbClr val="303B2C"/>
              </a:solidFill>
            </a:endParaRPr>
          </a:p>
        </p:txBody>
      </p:sp>
      <p:sp>
        <p:nvSpPr>
          <p:cNvPr id="35846" name="Slide Number Placeholder 4"/>
          <p:cNvSpPr txBox="1">
            <a:spLocks noGrp="1"/>
          </p:cNvSpPr>
          <p:nvPr/>
        </p:nvSpPr>
        <p:spPr bwMode="auto">
          <a:xfrm>
            <a:off x="8523642" y="6607884"/>
            <a:ext cx="609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/>
            <a:r>
              <a:rPr lang="en-US" sz="1600" b="0" dirty="0">
                <a:solidFill>
                  <a:schemeClr val="tx2"/>
                </a:solidFill>
              </a:rPr>
              <a:t>1-</a:t>
            </a:r>
            <a:fld id="{B7BA8FBC-88A2-42D8-9263-0296F73A8D54}" type="slidenum">
              <a:rPr lang="en-US" sz="1600" b="0">
                <a:solidFill>
                  <a:schemeClr val="tx2"/>
                </a:solidFill>
              </a:rPr>
              <a:pPr algn="ctr"/>
              <a:t>22</a:t>
            </a:fld>
            <a:endParaRPr lang="en-US" sz="1600" b="0" dirty="0">
              <a:solidFill>
                <a:schemeClr val="tx2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14425"/>
            <a:ext cx="1981200" cy="64357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5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762000"/>
            <a:ext cx="8153400" cy="5486400"/>
          </a:xfrm>
        </p:spPr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sz="2800" b="0" dirty="0" smtClean="0"/>
              <a:t>Every aspect of business affects or is affected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sz="2800" b="0" dirty="0"/>
              <a:t> </a:t>
            </a:r>
            <a:r>
              <a:rPr lang="en-US" sz="2800" b="0" dirty="0" smtClean="0"/>
              <a:t>  by operations.</a:t>
            </a:r>
          </a:p>
          <a:p>
            <a:pPr eaLnBrk="1" hangingPunct="1">
              <a:spcBef>
                <a:spcPts val="0"/>
              </a:spcBef>
              <a:buNone/>
            </a:pPr>
            <a:endParaRPr lang="en-US" sz="2000" b="0" dirty="0" smtClean="0"/>
          </a:p>
          <a:p>
            <a:pPr eaLnBrk="1" hangingPunct="1">
              <a:spcBef>
                <a:spcPts val="0"/>
              </a:spcBef>
            </a:pPr>
            <a:r>
              <a:rPr lang="en-US" sz="2800" b="0" dirty="0" smtClean="0"/>
              <a:t>Many service jobs are closely related to operations:</a:t>
            </a:r>
          </a:p>
          <a:p>
            <a:pPr lvl="1" eaLnBrk="1" hangingPunct="1">
              <a:spcBef>
                <a:spcPts val="0"/>
              </a:spcBef>
            </a:pPr>
            <a:r>
              <a:rPr lang="en-US" dirty="0" smtClean="0"/>
              <a:t>Financial services</a:t>
            </a:r>
          </a:p>
          <a:p>
            <a:pPr lvl="1" eaLnBrk="1" hangingPunct="1">
              <a:spcBef>
                <a:spcPts val="0"/>
              </a:spcBef>
            </a:pPr>
            <a:r>
              <a:rPr lang="en-US" dirty="0" smtClean="0"/>
              <a:t>Marketing services</a:t>
            </a:r>
          </a:p>
          <a:p>
            <a:pPr lvl="1" eaLnBrk="1" hangingPunct="1">
              <a:spcBef>
                <a:spcPts val="0"/>
              </a:spcBef>
            </a:pPr>
            <a:r>
              <a:rPr lang="en-US" dirty="0" smtClean="0"/>
              <a:t>Accounting services</a:t>
            </a:r>
          </a:p>
          <a:p>
            <a:pPr lvl="1" eaLnBrk="1" hangingPunct="1">
              <a:spcBef>
                <a:spcPts val="0"/>
              </a:spcBef>
            </a:pPr>
            <a:r>
              <a:rPr lang="en-US" dirty="0" smtClean="0"/>
              <a:t>Information services</a:t>
            </a:r>
          </a:p>
          <a:p>
            <a:pPr lvl="1" eaLnBrk="1" hangingPunct="1">
              <a:spcBef>
                <a:spcPts val="0"/>
              </a:spcBef>
              <a:buNone/>
            </a:pPr>
            <a:endParaRPr lang="en-US" sz="1800" dirty="0" smtClean="0"/>
          </a:p>
          <a:p>
            <a:pPr eaLnBrk="1" hangingPunct="1">
              <a:spcBef>
                <a:spcPts val="0"/>
              </a:spcBef>
            </a:pPr>
            <a:r>
              <a:rPr lang="en-US" sz="2800" b="0" dirty="0" smtClean="0"/>
              <a:t>There is a significant amount of interaction and collaboration amongst the functional areas.</a:t>
            </a:r>
          </a:p>
          <a:p>
            <a:pPr eaLnBrk="1" hangingPunct="1">
              <a:spcBef>
                <a:spcPts val="0"/>
              </a:spcBef>
              <a:buNone/>
            </a:pPr>
            <a:endParaRPr lang="en-US" sz="2000" b="0" dirty="0" smtClean="0"/>
          </a:p>
          <a:p>
            <a:pPr eaLnBrk="1" hangingPunct="1">
              <a:spcBef>
                <a:spcPts val="0"/>
              </a:spcBef>
            </a:pPr>
            <a:r>
              <a:rPr lang="en-US" sz="2800" b="0" dirty="0" smtClean="0"/>
              <a:t>It provides an excellent vehicle for understanding the world in which we live.</a:t>
            </a:r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95432"/>
            <a:ext cx="8229600" cy="533400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Why Study OM?</a:t>
            </a:r>
          </a:p>
        </p:txBody>
      </p:sp>
      <p:sp>
        <p:nvSpPr>
          <p:cNvPr id="37893" name="Slide Number Placeholder 4"/>
          <p:cNvSpPr txBox="1">
            <a:spLocks noGrp="1"/>
          </p:cNvSpPr>
          <p:nvPr/>
        </p:nvSpPr>
        <p:spPr bwMode="auto">
          <a:xfrm>
            <a:off x="8523642" y="6618642"/>
            <a:ext cx="609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/>
            <a:r>
              <a:rPr lang="en-US" sz="1600" b="0">
                <a:solidFill>
                  <a:schemeClr val="tx2"/>
                </a:solidFill>
              </a:rPr>
              <a:t>1-</a:t>
            </a:r>
            <a:fld id="{C78115F9-C3A2-42FE-B1D9-7A60C52684E4}" type="slidenum">
              <a:rPr lang="en-US" sz="1600" b="0">
                <a:solidFill>
                  <a:schemeClr val="tx2"/>
                </a:solidFill>
              </a:rPr>
              <a:pPr algn="ctr"/>
              <a:t>23</a:t>
            </a:fld>
            <a:endParaRPr lang="en-US" sz="1600" b="0">
              <a:solidFill>
                <a:schemeClr val="tx2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14425"/>
            <a:ext cx="1981200" cy="6435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78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7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78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8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78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78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78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78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76200"/>
            <a:ext cx="8229600" cy="6096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Decision Making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609600"/>
            <a:ext cx="8458200" cy="5867400"/>
          </a:xfrm>
        </p:spPr>
        <p:txBody>
          <a:bodyPr>
            <a:noAutofit/>
          </a:bodyPr>
          <a:lstStyle/>
          <a:p>
            <a:pPr marL="274320" indent="-27432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sz="2800" dirty="0" smtClean="0"/>
              <a:t>Most operations decisions involve many alternatives that can have quite different impacts on costs or profits.</a:t>
            </a:r>
          </a:p>
          <a:p>
            <a:pPr marL="274320" indent="-27432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1050" dirty="0" smtClean="0"/>
          </a:p>
          <a:p>
            <a:pPr marL="274320" indent="-27432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sz="2800" dirty="0" smtClean="0"/>
              <a:t>Typical operations decisions include:</a:t>
            </a:r>
          </a:p>
          <a:p>
            <a:pPr marL="640080" lvl="1" indent="-274320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b="1" i="1" dirty="0" smtClean="0"/>
              <a:t>What:</a:t>
            </a:r>
            <a:r>
              <a:rPr lang="en-US" dirty="0" smtClean="0"/>
              <a:t> What resources are needed, and in what amounts?</a:t>
            </a:r>
          </a:p>
          <a:p>
            <a:pPr marL="640080" lvl="1" indent="-274320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b="1" i="1" dirty="0" smtClean="0"/>
              <a:t>When:</a:t>
            </a:r>
            <a:r>
              <a:rPr lang="en-US" dirty="0" smtClean="0"/>
              <a:t>  When will each resource be needed? When should the work be scheduled?  When should materials and other supplies be ordered?</a:t>
            </a:r>
          </a:p>
          <a:p>
            <a:pPr marL="640080" lvl="1" indent="-274320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b="1" i="1" dirty="0" smtClean="0"/>
              <a:t>Where:</a:t>
            </a:r>
            <a:r>
              <a:rPr lang="en-US" dirty="0" smtClean="0"/>
              <a:t>  Where will the work be done?</a:t>
            </a:r>
          </a:p>
          <a:p>
            <a:pPr marL="640080" lvl="1" indent="-274320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b="1" i="1" dirty="0" smtClean="0"/>
              <a:t>How:</a:t>
            </a:r>
            <a:r>
              <a:rPr lang="en-US" dirty="0" smtClean="0"/>
              <a:t>  How will the product or service be designed?  How will the work be done?  How will resources be allocated?</a:t>
            </a:r>
          </a:p>
          <a:p>
            <a:pPr marL="640080" lvl="1" indent="-274320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b="1" i="1" dirty="0" smtClean="0"/>
              <a:t>Who:</a:t>
            </a:r>
            <a:r>
              <a:rPr lang="en-US" dirty="0" smtClean="0"/>
              <a:t>  Who will do the work?</a:t>
            </a:r>
          </a:p>
        </p:txBody>
      </p:sp>
      <p:sp>
        <p:nvSpPr>
          <p:cNvPr id="38917" name="Slide Number Placeholder 4"/>
          <p:cNvSpPr txBox="1">
            <a:spLocks noGrp="1"/>
          </p:cNvSpPr>
          <p:nvPr/>
        </p:nvSpPr>
        <p:spPr bwMode="auto">
          <a:xfrm>
            <a:off x="8523642" y="6455484"/>
            <a:ext cx="609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/>
            <a:r>
              <a:rPr lang="en-US" sz="1600" b="0" dirty="0">
                <a:solidFill>
                  <a:schemeClr val="tx2"/>
                </a:solidFill>
              </a:rPr>
              <a:t>1-</a:t>
            </a:r>
            <a:fld id="{19648F53-E23F-489E-B664-1FDBCFFAE619}" type="slidenum">
              <a:rPr lang="en-US" sz="1600" b="0">
                <a:solidFill>
                  <a:schemeClr val="tx2"/>
                </a:solidFill>
              </a:rPr>
              <a:pPr algn="ctr"/>
              <a:t>24</a:t>
            </a:fld>
            <a:endParaRPr lang="en-US" sz="1600" b="0" dirty="0">
              <a:solidFill>
                <a:schemeClr val="tx2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905000" y="2362200"/>
            <a:ext cx="6629400" cy="4572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905000" y="2895600"/>
            <a:ext cx="6629400" cy="4572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38200" y="3411070"/>
            <a:ext cx="7467600" cy="8382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057400" y="4325470"/>
            <a:ext cx="4114800" cy="4572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791533" y="4781134"/>
            <a:ext cx="6629400" cy="4572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14400" y="5257800"/>
            <a:ext cx="7391400" cy="4572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774116" y="5715000"/>
            <a:ext cx="4419600" cy="4572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18910"/>
            <a:ext cx="1981200" cy="6435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xit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vertical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8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5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xit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vertical)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3" presetClass="exit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vertical)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8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out)">
                                      <p:cBhvr>
                                        <p:cTn id="6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272526" y="228600"/>
            <a:ext cx="7315200" cy="533400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General Approach to Decision Making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219200"/>
            <a:ext cx="8458200" cy="4953000"/>
          </a:xfrm>
        </p:spPr>
        <p:txBody>
          <a:bodyPr/>
          <a:lstStyle/>
          <a:p>
            <a:pPr eaLnBrk="1" hangingPunct="1"/>
            <a:r>
              <a:rPr lang="en-US" sz="2800" dirty="0" smtClean="0"/>
              <a:t>Modeling is a key tool used by all decision makers.</a:t>
            </a:r>
          </a:p>
          <a:p>
            <a:pPr eaLnBrk="1" hangingPunct="1"/>
            <a:endParaRPr lang="en-US" sz="1400" dirty="0" smtClean="0"/>
          </a:p>
          <a:p>
            <a:pPr lvl="1" eaLnBrk="1" hangingPunct="1"/>
            <a:r>
              <a:rPr lang="en-US" b="1" i="1" dirty="0" smtClean="0"/>
              <a:t>Model</a:t>
            </a:r>
            <a:r>
              <a:rPr lang="en-US" dirty="0" smtClean="0"/>
              <a:t>: An abstraction of reality; a simplification of something.</a:t>
            </a:r>
          </a:p>
          <a:p>
            <a:pPr lvl="1" eaLnBrk="1" hangingPunct="1"/>
            <a:endParaRPr lang="en-US" sz="1600" dirty="0" smtClean="0"/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dirty="0" smtClean="0"/>
              <a:t>Common features of models:</a:t>
            </a:r>
          </a:p>
          <a:p>
            <a:pPr lvl="2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/>
              <a:t>They are simplifications of real-life phenomena</a:t>
            </a:r>
          </a:p>
          <a:p>
            <a:pPr lvl="2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/>
              <a:t>They omit unimportant details of the real-life systems they mimic so that attention can be focused on the most important aspects of the real-life system</a:t>
            </a:r>
          </a:p>
        </p:txBody>
      </p:sp>
      <p:sp>
        <p:nvSpPr>
          <p:cNvPr id="39941" name="Slide Number Placeholder 4"/>
          <p:cNvSpPr txBox="1">
            <a:spLocks noGrp="1"/>
          </p:cNvSpPr>
          <p:nvPr/>
        </p:nvSpPr>
        <p:spPr bwMode="auto">
          <a:xfrm>
            <a:off x="8523642" y="6629400"/>
            <a:ext cx="609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/>
            <a:r>
              <a:rPr lang="en-US" sz="1600" b="0">
                <a:solidFill>
                  <a:schemeClr val="tx2"/>
                </a:solidFill>
              </a:rPr>
              <a:t>1-</a:t>
            </a:r>
            <a:fld id="{216DC2D7-F364-4DF6-AA20-906DFBFC2A9C}" type="slidenum">
              <a:rPr lang="en-US" sz="1600" b="0">
                <a:solidFill>
                  <a:schemeClr val="tx2"/>
                </a:solidFill>
              </a:rPr>
              <a:pPr algn="ctr"/>
              <a:t>25</a:t>
            </a:fld>
            <a:endParaRPr lang="en-US" sz="1600" b="0">
              <a:solidFill>
                <a:schemeClr val="tx2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14425"/>
            <a:ext cx="1981200" cy="6435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62600" y="4927600"/>
            <a:ext cx="3532632" cy="193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635000"/>
          </a:effectLst>
        </p:spPr>
      </p:pic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838200"/>
            <a:ext cx="8763000" cy="4038600"/>
          </a:xfrm>
        </p:spPr>
        <p:txBody>
          <a:bodyPr/>
          <a:lstStyle/>
          <a:p>
            <a:pPr eaLnBrk="1" hangingPunct="1"/>
            <a:r>
              <a:rPr lang="en-US" sz="2800" dirty="0" smtClean="0"/>
              <a:t>Types of Models:</a:t>
            </a:r>
          </a:p>
          <a:p>
            <a:pPr lvl="1" eaLnBrk="1" hangingPunct="1"/>
            <a:r>
              <a:rPr lang="en-US" sz="2800" dirty="0" smtClean="0">
                <a:solidFill>
                  <a:srgbClr val="CC3300"/>
                </a:solidFill>
              </a:rPr>
              <a:t>Physical Models</a:t>
            </a:r>
          </a:p>
          <a:p>
            <a:pPr lvl="2" eaLnBrk="1" hangingPunct="1"/>
            <a:r>
              <a:rPr lang="en-US" sz="2800" dirty="0" smtClean="0"/>
              <a:t>Look like their real-life counterparts</a:t>
            </a:r>
          </a:p>
          <a:p>
            <a:pPr lvl="1" eaLnBrk="1" hangingPunct="1"/>
            <a:r>
              <a:rPr lang="en-US" sz="2800" dirty="0" smtClean="0">
                <a:solidFill>
                  <a:srgbClr val="CC3300"/>
                </a:solidFill>
              </a:rPr>
              <a:t>Schematic Models</a:t>
            </a:r>
          </a:p>
          <a:p>
            <a:pPr lvl="2" eaLnBrk="1" hangingPunct="1"/>
            <a:r>
              <a:rPr lang="en-US" sz="2800" dirty="0" smtClean="0"/>
              <a:t>Look less like their real-life counterparts than physical models</a:t>
            </a:r>
          </a:p>
          <a:p>
            <a:pPr lvl="1" eaLnBrk="1" hangingPunct="1"/>
            <a:r>
              <a:rPr lang="en-US" sz="2800" dirty="0" smtClean="0">
                <a:solidFill>
                  <a:srgbClr val="CC3300"/>
                </a:solidFill>
              </a:rPr>
              <a:t>Mathematical Models</a:t>
            </a:r>
          </a:p>
          <a:p>
            <a:pPr lvl="2" eaLnBrk="1" hangingPunct="1"/>
            <a:r>
              <a:rPr lang="en-US" sz="2800" dirty="0" smtClean="0"/>
              <a:t>Do not look at all like their real-life counterparts</a:t>
            </a: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76200"/>
            <a:ext cx="8229600" cy="6858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Models</a:t>
            </a:r>
          </a:p>
        </p:txBody>
      </p:sp>
      <p:pic>
        <p:nvPicPr>
          <p:cNvPr id="29703" name="Picture 7" descr="C:\Documents and Settings\Administrator\Local Settings\Temporary Internet Files\Content.IE5\8ZYP65WF\MPj04030790000[1]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16682" y="76200"/>
            <a:ext cx="2900220" cy="1752600"/>
          </a:xfrm>
          <a:prstGeom prst="rect">
            <a:avLst/>
          </a:prstGeom>
          <a:noFill/>
          <a:effectLst>
            <a:softEdge rad="635000"/>
          </a:effectLst>
        </p:spPr>
      </p:pic>
      <p:sp>
        <p:nvSpPr>
          <p:cNvPr id="40967" name="Slide Number Placeholder 4"/>
          <p:cNvSpPr txBox="1">
            <a:spLocks noGrp="1"/>
          </p:cNvSpPr>
          <p:nvPr/>
        </p:nvSpPr>
        <p:spPr bwMode="auto">
          <a:xfrm>
            <a:off x="8523642" y="6607884"/>
            <a:ext cx="609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/>
            <a:r>
              <a:rPr lang="en-US" sz="1600" b="0" dirty="0">
                <a:solidFill>
                  <a:schemeClr val="tx2"/>
                </a:solidFill>
              </a:rPr>
              <a:t>1-</a:t>
            </a:r>
            <a:fld id="{B7AB6339-6FD1-4F19-897B-1075B6879359}" type="slidenum">
              <a:rPr lang="en-US" sz="1600" b="0">
                <a:solidFill>
                  <a:schemeClr val="tx2"/>
                </a:solidFill>
              </a:rPr>
              <a:pPr algn="ctr"/>
              <a:t>26</a:t>
            </a:fld>
            <a:endParaRPr lang="en-US" sz="1600" b="0" dirty="0">
              <a:solidFill>
                <a:schemeClr val="tx2"/>
              </a:solidFill>
            </a:endParaRPr>
          </a:p>
        </p:txBody>
      </p:sp>
      <p:pic>
        <p:nvPicPr>
          <p:cNvPr id="35842" name="Picture 2" descr="http://graphics8.nytimes.com/images/2010/01/10/business/10ford_CA1/popup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-2463" y="4743957"/>
            <a:ext cx="3175969" cy="2115684"/>
          </a:xfrm>
          <a:prstGeom prst="rect">
            <a:avLst/>
          </a:prstGeom>
          <a:noFill/>
        </p:spPr>
      </p:pic>
      <p:pic>
        <p:nvPicPr>
          <p:cNvPr id="35844" name="Picture 4" descr="http://www.harrison-design.ca/images/wgc_media/photos/Timothy%20Lake%20Timber%20Frame%20Sketch%20Design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048000" y="4739114"/>
            <a:ext cx="2743200" cy="211888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22141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9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685800"/>
            <a:ext cx="8382000" cy="5638800"/>
          </a:xfrm>
        </p:spPr>
        <p:txBody>
          <a:bodyPr/>
          <a:lstStyle/>
          <a:p>
            <a:pPr marL="282575" indent="-365760" eaLnBrk="1" hangingPunct="1">
              <a:spcBef>
                <a:spcPts val="0"/>
              </a:spcBef>
              <a:spcAft>
                <a:spcPts val="600"/>
              </a:spcAft>
              <a:buFont typeface="Constantia" pitchFamily="18" charset="0"/>
              <a:buAutoNum type="arabicPeriod"/>
            </a:pPr>
            <a:r>
              <a:rPr lang="en-US" sz="2800" b="0" dirty="0" smtClean="0"/>
              <a:t>Models are generally easier to use and less expensive than dealing with the real system.</a:t>
            </a:r>
          </a:p>
          <a:p>
            <a:pPr marL="282575" indent="-365760" eaLnBrk="1" hangingPunct="1">
              <a:spcBef>
                <a:spcPts val="0"/>
              </a:spcBef>
              <a:spcAft>
                <a:spcPts val="600"/>
              </a:spcAft>
              <a:buFont typeface="Constantia" pitchFamily="18" charset="0"/>
              <a:buAutoNum type="arabicPeriod"/>
            </a:pPr>
            <a:r>
              <a:rPr lang="en-US" sz="2800" b="0" dirty="0" smtClean="0"/>
              <a:t>Require users to organize and sometimes quantify information.</a:t>
            </a:r>
          </a:p>
          <a:p>
            <a:pPr marL="282575" indent="-365760" eaLnBrk="1" hangingPunct="1">
              <a:spcBef>
                <a:spcPts val="0"/>
              </a:spcBef>
              <a:spcAft>
                <a:spcPts val="600"/>
              </a:spcAft>
              <a:buFont typeface="Constantia" pitchFamily="18" charset="0"/>
              <a:buAutoNum type="arabicPeriod"/>
            </a:pPr>
            <a:r>
              <a:rPr lang="en-US" sz="2800" b="0" dirty="0" smtClean="0"/>
              <a:t>Increase understanding of the problem.</a:t>
            </a:r>
          </a:p>
          <a:p>
            <a:pPr marL="282575" indent="-365760" eaLnBrk="1" hangingPunct="1">
              <a:spcBef>
                <a:spcPts val="0"/>
              </a:spcBef>
              <a:spcAft>
                <a:spcPts val="600"/>
              </a:spcAft>
              <a:buFont typeface="Constantia" pitchFamily="18" charset="0"/>
              <a:buAutoNum type="arabicPeriod"/>
            </a:pPr>
            <a:r>
              <a:rPr lang="en-US" sz="2800" b="0" dirty="0" smtClean="0"/>
              <a:t>Enable managers to analyze “What if?” questions.</a:t>
            </a:r>
          </a:p>
          <a:p>
            <a:pPr marL="282575" indent="-365760" eaLnBrk="1" hangingPunct="1">
              <a:spcBef>
                <a:spcPts val="0"/>
              </a:spcBef>
              <a:spcAft>
                <a:spcPts val="600"/>
              </a:spcAft>
              <a:buFont typeface="Constantia" pitchFamily="18" charset="0"/>
              <a:buAutoNum type="arabicPeriod"/>
            </a:pPr>
            <a:r>
              <a:rPr lang="en-US" sz="2800" b="0" dirty="0" smtClean="0"/>
              <a:t>Serve as a consistent tool for evaluation and provide a standardized format for analyzing a problem.</a:t>
            </a:r>
          </a:p>
          <a:p>
            <a:pPr marL="282575" indent="-365760" eaLnBrk="1" hangingPunct="1">
              <a:spcBef>
                <a:spcPts val="0"/>
              </a:spcBef>
              <a:spcAft>
                <a:spcPts val="600"/>
              </a:spcAft>
              <a:buFont typeface="Constantia" pitchFamily="18" charset="0"/>
              <a:buAutoNum type="arabicPeriod"/>
            </a:pPr>
            <a:r>
              <a:rPr lang="en-US" sz="2800" b="0" dirty="0" smtClean="0"/>
              <a:t>Enable users to bring the power of mathematics to bear on a problem.</a:t>
            </a:r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229600" cy="6096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Benefits of Models</a:t>
            </a:r>
          </a:p>
        </p:txBody>
      </p:sp>
      <p:sp>
        <p:nvSpPr>
          <p:cNvPr id="41990" name="Slide Number Placeholder 4"/>
          <p:cNvSpPr txBox="1">
            <a:spLocks noGrp="1"/>
          </p:cNvSpPr>
          <p:nvPr/>
        </p:nvSpPr>
        <p:spPr bwMode="auto">
          <a:xfrm>
            <a:off x="8523642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/>
            <a:r>
              <a:rPr lang="en-US" sz="1600" b="0" dirty="0">
                <a:solidFill>
                  <a:schemeClr val="tx2"/>
                </a:solidFill>
              </a:rPr>
              <a:t>1-</a:t>
            </a:r>
            <a:fld id="{2BFF2600-D2D0-4283-A694-5225D93ADE5D}" type="slidenum">
              <a:rPr lang="en-US" sz="1600" b="0">
                <a:solidFill>
                  <a:schemeClr val="tx2"/>
                </a:solidFill>
              </a:rPr>
              <a:pPr algn="ctr"/>
              <a:t>27</a:t>
            </a:fld>
            <a:endParaRPr lang="en-US" sz="1600" b="0" dirty="0">
              <a:solidFill>
                <a:schemeClr val="tx2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14425"/>
            <a:ext cx="1981200" cy="6435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219200"/>
            <a:ext cx="7696200" cy="4419600"/>
          </a:xfrm>
        </p:spPr>
        <p:txBody>
          <a:bodyPr/>
          <a:lstStyle/>
          <a:p>
            <a:pPr marL="339725" indent="-339725">
              <a:spcAft>
                <a:spcPts val="1200"/>
              </a:spcAft>
              <a:buFont typeface="+mj-lt"/>
              <a:buAutoNum type="arabicPeriod"/>
            </a:pPr>
            <a:r>
              <a:rPr lang="en-US" sz="2800" b="0" dirty="0" smtClean="0"/>
              <a:t>Quantitative information may be emphasized at the expense of qualitative information</a:t>
            </a:r>
          </a:p>
          <a:p>
            <a:pPr marL="339725" indent="-339725">
              <a:spcAft>
                <a:spcPts val="1200"/>
              </a:spcAft>
              <a:buFont typeface="+mj-lt"/>
              <a:buAutoNum type="arabicPeriod"/>
            </a:pPr>
            <a:r>
              <a:rPr lang="en-US" sz="2800" b="0" dirty="0" smtClean="0"/>
              <a:t>Models may be incorrectly applied and the results misinterpreted </a:t>
            </a:r>
          </a:p>
          <a:p>
            <a:pPr marL="339725" indent="-339725">
              <a:spcAft>
                <a:spcPts val="1200"/>
              </a:spcAft>
              <a:buFont typeface="+mj-lt"/>
              <a:buAutoNum type="arabicPeriod"/>
            </a:pPr>
            <a:r>
              <a:rPr lang="en-US" sz="2800" b="0" dirty="0" smtClean="0"/>
              <a:t>The use of models does not guarantee good decisions.</a:t>
            </a:r>
            <a:endParaRPr lang="en-US" sz="2800" b="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" y="76200"/>
            <a:ext cx="8229600" cy="685800"/>
          </a:xfrm>
        </p:spPr>
        <p:txBody>
          <a:bodyPr/>
          <a:lstStyle/>
          <a:p>
            <a:r>
              <a:rPr lang="en-US" dirty="0" smtClean="0"/>
              <a:t>Limitations of Models</a:t>
            </a:r>
            <a:endParaRPr lang="en-US" dirty="0"/>
          </a:p>
        </p:txBody>
      </p:sp>
      <p:sp>
        <p:nvSpPr>
          <p:cNvPr id="6" name="Slide Number Placeholder 4"/>
          <p:cNvSpPr txBox="1">
            <a:spLocks noGrp="1"/>
          </p:cNvSpPr>
          <p:nvPr/>
        </p:nvSpPr>
        <p:spPr bwMode="auto">
          <a:xfrm>
            <a:off x="8523642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/>
            <a:r>
              <a:rPr lang="en-US" sz="1600" b="0" dirty="0">
                <a:solidFill>
                  <a:schemeClr val="tx2"/>
                </a:solidFill>
              </a:rPr>
              <a:t>1-</a:t>
            </a:r>
            <a:fld id="{2BFF2600-D2D0-4283-A694-5225D93ADE5D}" type="slidenum">
              <a:rPr lang="en-US" sz="1600" b="0">
                <a:solidFill>
                  <a:schemeClr val="tx2"/>
                </a:solidFill>
              </a:rPr>
              <a:pPr algn="ctr"/>
              <a:t>28</a:t>
            </a:fld>
            <a:endParaRPr lang="en-US" sz="1600" b="0" dirty="0">
              <a:solidFill>
                <a:schemeClr val="tx2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4425"/>
            <a:ext cx="1981200" cy="64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61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76200"/>
            <a:ext cx="8229600" cy="6858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Quantitative Methods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066800"/>
            <a:ext cx="8077200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3200" b="0" dirty="0" smtClean="0"/>
              <a:t>A decision making approach that frequently seeks to obtain a mathematically optimal solution.</a:t>
            </a:r>
            <a:endParaRPr lang="en-US" sz="2000" b="0" dirty="0" smtClean="0"/>
          </a:p>
          <a:p>
            <a:pPr lvl="1" eaLnBrk="1" hangingPunct="1">
              <a:lnSpc>
                <a:spcPct val="90000"/>
              </a:lnSpc>
              <a:spcBef>
                <a:spcPts val="1200"/>
              </a:spcBef>
            </a:pPr>
            <a:r>
              <a:rPr lang="en-US" sz="3200" dirty="0" smtClean="0"/>
              <a:t>Linear programming</a:t>
            </a:r>
          </a:p>
          <a:p>
            <a:pPr lvl="1" eaLnBrk="1" hangingPunct="1">
              <a:lnSpc>
                <a:spcPct val="90000"/>
              </a:lnSpc>
              <a:spcBef>
                <a:spcPts val="1200"/>
              </a:spcBef>
            </a:pPr>
            <a:r>
              <a:rPr lang="en-US" sz="3200" dirty="0" smtClean="0"/>
              <a:t>Queuing techniques</a:t>
            </a:r>
          </a:p>
          <a:p>
            <a:pPr lvl="1" eaLnBrk="1" hangingPunct="1">
              <a:lnSpc>
                <a:spcPct val="90000"/>
              </a:lnSpc>
              <a:spcBef>
                <a:spcPts val="1200"/>
              </a:spcBef>
            </a:pPr>
            <a:r>
              <a:rPr lang="en-US" sz="3200" dirty="0" smtClean="0"/>
              <a:t>Inventory models</a:t>
            </a:r>
          </a:p>
          <a:p>
            <a:pPr lvl="1" eaLnBrk="1" hangingPunct="1">
              <a:lnSpc>
                <a:spcPct val="90000"/>
              </a:lnSpc>
              <a:spcBef>
                <a:spcPts val="1200"/>
              </a:spcBef>
            </a:pPr>
            <a:r>
              <a:rPr lang="en-US" sz="3200" dirty="0" smtClean="0"/>
              <a:t>Project models</a:t>
            </a:r>
          </a:p>
          <a:p>
            <a:pPr lvl="1" eaLnBrk="1" hangingPunct="1">
              <a:lnSpc>
                <a:spcPct val="90000"/>
              </a:lnSpc>
              <a:spcBef>
                <a:spcPts val="1200"/>
              </a:spcBef>
            </a:pPr>
            <a:r>
              <a:rPr lang="en-US" sz="3200" dirty="0" smtClean="0"/>
              <a:t>Forecasting techniques</a:t>
            </a:r>
          </a:p>
          <a:p>
            <a:pPr lvl="1" eaLnBrk="1" hangingPunct="1">
              <a:lnSpc>
                <a:spcPct val="90000"/>
              </a:lnSpc>
              <a:spcBef>
                <a:spcPts val="1200"/>
              </a:spcBef>
            </a:pPr>
            <a:r>
              <a:rPr lang="en-US" sz="3200" dirty="0" smtClean="0"/>
              <a:t>Statistical models</a:t>
            </a:r>
          </a:p>
        </p:txBody>
      </p:sp>
      <p:sp>
        <p:nvSpPr>
          <p:cNvPr id="43013" name="Slide Number Placeholder 4"/>
          <p:cNvSpPr txBox="1">
            <a:spLocks noGrp="1"/>
          </p:cNvSpPr>
          <p:nvPr/>
        </p:nvSpPr>
        <p:spPr bwMode="auto">
          <a:xfrm>
            <a:off x="8523642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/>
            <a:r>
              <a:rPr lang="en-US" sz="1600" b="0">
                <a:solidFill>
                  <a:schemeClr val="tx2"/>
                </a:solidFill>
              </a:rPr>
              <a:t>1-</a:t>
            </a:r>
            <a:fld id="{13372579-61F8-469B-9055-B88E94C491F0}" type="slidenum">
              <a:rPr lang="en-US" sz="1600" b="0">
                <a:solidFill>
                  <a:schemeClr val="tx2"/>
                </a:solidFill>
              </a:rPr>
              <a:pPr algn="ctr"/>
              <a:t>29</a:t>
            </a:fld>
            <a:endParaRPr lang="en-US" sz="1600" b="0">
              <a:solidFill>
                <a:schemeClr val="tx2"/>
              </a:solidFill>
            </a:endParaRPr>
          </a:p>
        </p:txBody>
      </p:sp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7400" y="2228850"/>
            <a:ext cx="2573338" cy="185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3" descr="http://www.theleanmachine.com/wp-content/uploads/2012/10/Inventory-Management2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24600" y="4210050"/>
            <a:ext cx="1648691" cy="2266950"/>
          </a:xfrm>
          <a:prstGeom prst="rect">
            <a:avLst/>
          </a:prstGeom>
          <a:noFill/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214425"/>
            <a:ext cx="1981200" cy="6435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229600" cy="6096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Systems Approach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200" y="533400"/>
            <a:ext cx="8686800" cy="5791200"/>
          </a:xfrm>
        </p:spPr>
        <p:txBody>
          <a:bodyPr>
            <a:noAutofit/>
          </a:bodyPr>
          <a:lstStyle/>
          <a:p>
            <a:pPr marL="274320" indent="-274320" eaLnBrk="1" fontAlgn="auto" hangingPunct="1"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sz="2800" i="1" dirty="0" smtClean="0"/>
              <a:t>System</a:t>
            </a:r>
            <a:r>
              <a:rPr lang="en-US" sz="2800" dirty="0" smtClean="0"/>
              <a:t> - a set of interrelated parts that</a:t>
            </a:r>
          </a:p>
          <a:p>
            <a:pPr marL="0" indent="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800" dirty="0"/>
              <a:t> </a:t>
            </a:r>
            <a:r>
              <a:rPr lang="en-US" sz="2800" dirty="0" smtClean="0"/>
              <a:t>  must work together</a:t>
            </a:r>
          </a:p>
          <a:p>
            <a:pPr marL="640080" lvl="1" indent="-274320" eaLnBrk="1" fontAlgn="auto" hangingPunct="1">
              <a:lnSpc>
                <a:spcPct val="11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The business organization is a system composed of subsystems</a:t>
            </a:r>
          </a:p>
          <a:p>
            <a:pPr marL="1005840" lvl="2" eaLnBrk="1" fontAlgn="auto" hangingPunct="1">
              <a:lnSpc>
                <a:spcPct val="11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sz="2800" dirty="0" smtClean="0"/>
              <a:t>marketing subsystem</a:t>
            </a:r>
          </a:p>
          <a:p>
            <a:pPr marL="1005840" lvl="2" eaLnBrk="1" fontAlgn="auto" hangingPunct="1">
              <a:lnSpc>
                <a:spcPct val="11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sz="2800" dirty="0" smtClean="0"/>
              <a:t>operations subsystem</a:t>
            </a:r>
          </a:p>
          <a:p>
            <a:pPr marL="1005840" lvl="2" eaLnBrk="1" fontAlgn="auto" hangingPunct="1">
              <a:lnSpc>
                <a:spcPct val="11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sz="2800" dirty="0" smtClean="0"/>
              <a:t>finance subsystem</a:t>
            </a:r>
          </a:p>
          <a:p>
            <a:pPr marL="274320" indent="-274320" eaLnBrk="1" fontAlgn="auto" hangingPunct="1">
              <a:lnSpc>
                <a:spcPct val="11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sz="2800" dirty="0" smtClean="0"/>
              <a:t>The systems approach</a:t>
            </a:r>
            <a:r>
              <a:rPr lang="en-US" sz="3200" dirty="0" smtClean="0"/>
              <a:t> </a:t>
            </a:r>
          </a:p>
          <a:p>
            <a:pPr marL="640080" lvl="1" indent="-274320" eaLnBrk="1" fontAlgn="auto" hangingPunct="1">
              <a:lnSpc>
                <a:spcPct val="11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Emphasizes </a:t>
            </a:r>
            <a:r>
              <a:rPr lang="en-US" i="1" dirty="0" smtClean="0"/>
              <a:t>interrelationships among subsystems</a:t>
            </a:r>
            <a:endParaRPr lang="en-US" dirty="0" smtClean="0"/>
          </a:p>
          <a:p>
            <a:pPr marL="640080" lvl="1" indent="-274320" eaLnBrk="1" fontAlgn="auto" hangingPunct="1">
              <a:lnSpc>
                <a:spcPct val="11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Main theme: </a:t>
            </a:r>
            <a:r>
              <a:rPr lang="en-US" i="1" dirty="0" smtClean="0"/>
              <a:t>the whole is greater than the sum of its parts</a:t>
            </a:r>
          </a:p>
          <a:p>
            <a:pPr marL="640080" lvl="1" indent="-274320" eaLnBrk="1" fontAlgn="auto" hangingPunct="1">
              <a:lnSpc>
                <a:spcPct val="11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The output and objectives of the organization take precedence over those of any one subsystem</a:t>
            </a:r>
          </a:p>
        </p:txBody>
      </p:sp>
      <p:sp>
        <p:nvSpPr>
          <p:cNvPr id="44037" name="Slide Number Placeholder 4"/>
          <p:cNvSpPr txBox="1">
            <a:spLocks noGrp="1"/>
          </p:cNvSpPr>
          <p:nvPr/>
        </p:nvSpPr>
        <p:spPr bwMode="auto">
          <a:xfrm>
            <a:off x="8523642" y="6596232"/>
            <a:ext cx="609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/>
            <a:r>
              <a:rPr lang="en-US" sz="1600" b="0" dirty="0">
                <a:solidFill>
                  <a:schemeClr val="tx2"/>
                </a:solidFill>
              </a:rPr>
              <a:t>1-</a:t>
            </a:r>
            <a:fld id="{ED57F6A3-8A10-40EE-AB84-0EE5E9969868}" type="slidenum">
              <a:rPr lang="en-US" sz="1600" b="0">
                <a:solidFill>
                  <a:schemeClr val="tx2"/>
                </a:solidFill>
              </a:rPr>
              <a:pPr algn="ctr"/>
              <a:t>30</a:t>
            </a:fld>
            <a:endParaRPr lang="en-US" sz="1600" b="0" dirty="0">
              <a:solidFill>
                <a:schemeClr val="tx2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328863"/>
            <a:ext cx="2895600" cy="2700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14425"/>
            <a:ext cx="1981200" cy="6435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2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229600" cy="12192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Key Issues for Operations Managers </a:t>
            </a:r>
            <a:br>
              <a:rPr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Today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600200"/>
            <a:ext cx="8077200" cy="3657600"/>
          </a:xfrm>
        </p:spPr>
        <p:txBody>
          <a:bodyPr/>
          <a:lstStyle/>
          <a:p>
            <a:pPr eaLnBrk="1" hangingPunct="1">
              <a:spcBef>
                <a:spcPts val="0"/>
              </a:spcBef>
              <a:spcAft>
                <a:spcPts val="1200"/>
              </a:spcAft>
            </a:pPr>
            <a:r>
              <a:rPr lang="en-US" sz="2800" b="0" dirty="0" smtClean="0"/>
              <a:t>Economic conditions</a:t>
            </a:r>
          </a:p>
          <a:p>
            <a:pPr eaLnBrk="1" hangingPunct="1">
              <a:spcBef>
                <a:spcPts val="0"/>
              </a:spcBef>
              <a:spcAft>
                <a:spcPts val="1200"/>
              </a:spcAft>
            </a:pPr>
            <a:r>
              <a:rPr lang="en-US" sz="2800" b="0" dirty="0" smtClean="0"/>
              <a:t>Innovating</a:t>
            </a:r>
          </a:p>
          <a:p>
            <a:pPr eaLnBrk="1" hangingPunct="1">
              <a:spcBef>
                <a:spcPts val="0"/>
              </a:spcBef>
              <a:spcAft>
                <a:spcPts val="1200"/>
              </a:spcAft>
            </a:pPr>
            <a:r>
              <a:rPr lang="en-US" sz="2800" b="0" dirty="0" smtClean="0"/>
              <a:t>Quality problems</a:t>
            </a:r>
          </a:p>
          <a:p>
            <a:pPr eaLnBrk="1" hangingPunct="1">
              <a:spcBef>
                <a:spcPts val="0"/>
              </a:spcBef>
              <a:spcAft>
                <a:spcPts val="1200"/>
              </a:spcAft>
            </a:pPr>
            <a:r>
              <a:rPr lang="en-US" sz="2800" b="0" dirty="0" smtClean="0"/>
              <a:t>Risk management</a:t>
            </a:r>
          </a:p>
          <a:p>
            <a:pPr eaLnBrk="1" hangingPunct="1">
              <a:spcBef>
                <a:spcPts val="0"/>
              </a:spcBef>
              <a:spcAft>
                <a:spcPts val="1200"/>
              </a:spcAft>
            </a:pPr>
            <a:r>
              <a:rPr lang="en-US" sz="2800" b="0" dirty="0" smtClean="0"/>
              <a:t>Competing in a global economy</a:t>
            </a:r>
          </a:p>
          <a:p>
            <a:pPr eaLnBrk="1" hangingPunct="1">
              <a:spcBef>
                <a:spcPts val="0"/>
              </a:spcBef>
              <a:spcAft>
                <a:spcPts val="1200"/>
              </a:spcAft>
            </a:pPr>
            <a:endParaRPr lang="en-US" sz="2800" b="0" dirty="0" smtClean="0"/>
          </a:p>
        </p:txBody>
      </p:sp>
      <p:sp>
        <p:nvSpPr>
          <p:cNvPr id="52229" name="Slide Number Placeholder 4"/>
          <p:cNvSpPr txBox="1">
            <a:spLocks noGrp="1"/>
          </p:cNvSpPr>
          <p:nvPr/>
        </p:nvSpPr>
        <p:spPr bwMode="auto">
          <a:xfrm>
            <a:off x="8523642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/>
            <a:r>
              <a:rPr lang="en-US" sz="1600" b="0">
                <a:solidFill>
                  <a:schemeClr val="tx2"/>
                </a:solidFill>
              </a:rPr>
              <a:t>1-</a:t>
            </a:r>
            <a:fld id="{1E8B3C5A-ECF5-4BBB-A017-8245C36F8EF8}" type="slidenum">
              <a:rPr lang="en-US" sz="1600" b="0">
                <a:solidFill>
                  <a:schemeClr val="tx2"/>
                </a:solidFill>
              </a:rPr>
              <a:pPr algn="ctr"/>
              <a:t>31</a:t>
            </a:fld>
            <a:endParaRPr lang="en-US" sz="1600" b="0">
              <a:solidFill>
                <a:schemeClr val="tx2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4425"/>
            <a:ext cx="1981200" cy="6435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229600" cy="7620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Environmental Concerns</a:t>
            </a:r>
          </a:p>
        </p:txBody>
      </p:sp>
      <p:sp>
        <p:nvSpPr>
          <p:cNvPr id="53251" name="Content Placeholder 3"/>
          <p:cNvSpPr>
            <a:spLocks noGrp="1"/>
          </p:cNvSpPr>
          <p:nvPr>
            <p:ph idx="1"/>
          </p:nvPr>
        </p:nvSpPr>
        <p:spPr>
          <a:xfrm>
            <a:off x="152400" y="990600"/>
            <a:ext cx="8458200" cy="5486400"/>
          </a:xfrm>
        </p:spPr>
        <p:txBody>
          <a:bodyPr/>
          <a:lstStyle/>
          <a:p>
            <a:pPr eaLnBrk="1" hangingPunct="1"/>
            <a:r>
              <a:rPr lang="en-US" sz="2800" dirty="0" smtClean="0"/>
              <a:t>Sustainability</a:t>
            </a:r>
          </a:p>
          <a:p>
            <a:pPr lvl="1" eaLnBrk="1" hangingPunct="1"/>
            <a:r>
              <a:rPr lang="en-US" sz="2800" dirty="0" smtClean="0"/>
              <a:t>Using resources in ways that do not harm ecological systems that support human existence</a:t>
            </a:r>
          </a:p>
          <a:p>
            <a:pPr lvl="2" eaLnBrk="1" hangingPunct="1"/>
            <a:r>
              <a:rPr lang="en-US" sz="2400" dirty="0" smtClean="0"/>
              <a:t>Sustainability measures often go beyond traditional environmental and economic measures to include measures that incorporate social criteria in decision making</a:t>
            </a:r>
          </a:p>
          <a:p>
            <a:pPr lvl="2" eaLnBrk="1" hangingPunct="1"/>
            <a:r>
              <a:rPr lang="en-US" sz="2400" dirty="0" smtClean="0"/>
              <a:t>All areas of business will be affected.</a:t>
            </a:r>
          </a:p>
          <a:p>
            <a:pPr lvl="3" eaLnBrk="1" hangingPunct="1"/>
            <a:r>
              <a:rPr lang="en-US" sz="2000" dirty="0" smtClean="0"/>
              <a:t>Product and service design</a:t>
            </a:r>
          </a:p>
          <a:p>
            <a:pPr lvl="3" eaLnBrk="1" hangingPunct="1"/>
            <a:r>
              <a:rPr lang="en-US" sz="2000" dirty="0" smtClean="0"/>
              <a:t>Consumer education programs</a:t>
            </a:r>
          </a:p>
          <a:p>
            <a:pPr lvl="3" eaLnBrk="1" hangingPunct="1"/>
            <a:r>
              <a:rPr lang="en-US" sz="2000" dirty="0" smtClean="0"/>
              <a:t>Disaster preparation and response</a:t>
            </a:r>
          </a:p>
          <a:p>
            <a:pPr lvl="3" eaLnBrk="1" hangingPunct="1"/>
            <a:r>
              <a:rPr lang="en-US" sz="2000" dirty="0" smtClean="0"/>
              <a:t>Supply chain waste management</a:t>
            </a:r>
          </a:p>
          <a:p>
            <a:pPr lvl="3" eaLnBrk="1" hangingPunct="1"/>
            <a:r>
              <a:rPr lang="en-US" sz="2000" dirty="0" smtClean="0"/>
              <a:t>Outsourcing decisions</a:t>
            </a:r>
          </a:p>
        </p:txBody>
      </p:sp>
      <p:sp>
        <p:nvSpPr>
          <p:cNvPr id="53253" name="Slide Number Placeholder 4"/>
          <p:cNvSpPr txBox="1">
            <a:spLocks noGrp="1"/>
          </p:cNvSpPr>
          <p:nvPr/>
        </p:nvSpPr>
        <p:spPr bwMode="auto">
          <a:xfrm>
            <a:off x="8523642" y="6553200"/>
            <a:ext cx="609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/>
            <a:r>
              <a:rPr lang="en-US" sz="1600" b="0">
                <a:solidFill>
                  <a:schemeClr val="tx2"/>
                </a:solidFill>
              </a:rPr>
              <a:t>1-</a:t>
            </a:r>
            <a:fld id="{90CFBCA0-A72B-442A-A700-3BC7719526D9}" type="slidenum">
              <a:rPr lang="en-US" sz="1600" b="0">
                <a:solidFill>
                  <a:schemeClr val="tx2"/>
                </a:solidFill>
              </a:rPr>
              <a:pPr algn="ctr"/>
              <a:t>32</a:t>
            </a:fld>
            <a:endParaRPr lang="en-US" sz="1600" b="0">
              <a:solidFill>
                <a:schemeClr val="tx2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3581400"/>
            <a:ext cx="3124200" cy="293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14425"/>
            <a:ext cx="1981200" cy="6435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0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3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3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3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3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1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229600" cy="6096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Ethical Issues in Operations</a:t>
            </a:r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838200" y="2057400"/>
            <a:ext cx="7772400" cy="4191000"/>
          </a:xfrm>
        </p:spPr>
        <p:txBody>
          <a:bodyPr>
            <a:noAutofit/>
          </a:bodyPr>
          <a:lstStyle/>
          <a:p>
            <a:pPr marL="274320" indent="-274320" eaLnBrk="1" fontAlgn="auto" hangingPunct="1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en-US" sz="2800" dirty="0" smtClean="0"/>
              <a:t>*</a:t>
            </a:r>
            <a:r>
              <a:rPr lang="en-US" sz="2400" b="0" dirty="0" smtClean="0"/>
              <a:t> Financial statements		</a:t>
            </a:r>
            <a:r>
              <a:rPr lang="en-US" sz="2800" dirty="0" smtClean="0"/>
              <a:t>*</a:t>
            </a:r>
            <a:r>
              <a:rPr lang="en-US" sz="2400" b="0" dirty="0" smtClean="0"/>
              <a:t> Worker safety</a:t>
            </a:r>
          </a:p>
          <a:p>
            <a:pPr marL="274320" indent="-274320" eaLnBrk="1" fontAlgn="auto" hangingPunct="1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en-US" sz="2800" dirty="0" smtClean="0"/>
              <a:t>*</a:t>
            </a:r>
            <a:r>
              <a:rPr lang="en-US" sz="2400" b="0" dirty="0" smtClean="0"/>
              <a:t> Product safety			</a:t>
            </a:r>
            <a:r>
              <a:rPr lang="en-US" sz="2800" dirty="0" smtClean="0"/>
              <a:t>*</a:t>
            </a:r>
            <a:r>
              <a:rPr lang="en-US" sz="2400" b="0" dirty="0" smtClean="0"/>
              <a:t> Quality</a:t>
            </a:r>
          </a:p>
          <a:p>
            <a:pPr marL="274320" indent="-274320" eaLnBrk="1" fontAlgn="auto" hangingPunct="1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en-US" sz="2800" dirty="0" smtClean="0"/>
              <a:t>*</a:t>
            </a:r>
            <a:r>
              <a:rPr lang="en-US" sz="2400" b="0" dirty="0" smtClean="0"/>
              <a:t> The environment			</a:t>
            </a:r>
            <a:r>
              <a:rPr lang="en-US" sz="2800" dirty="0" smtClean="0"/>
              <a:t>*</a:t>
            </a:r>
            <a:r>
              <a:rPr lang="en-US" sz="2400" b="0" dirty="0" smtClean="0"/>
              <a:t> The community</a:t>
            </a:r>
          </a:p>
          <a:p>
            <a:pPr marL="274320" indent="-274320" eaLnBrk="1" fontAlgn="auto" hangingPunct="1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en-US" sz="2800" dirty="0" smtClean="0"/>
              <a:t>*</a:t>
            </a:r>
            <a:r>
              <a:rPr lang="en-US" sz="2400" b="0" dirty="0" smtClean="0"/>
              <a:t> Hiring and firing workers		</a:t>
            </a:r>
            <a:r>
              <a:rPr lang="en-US" sz="2800" dirty="0" smtClean="0"/>
              <a:t>*</a:t>
            </a:r>
            <a:r>
              <a:rPr lang="en-US" sz="2400" b="0" dirty="0" smtClean="0"/>
              <a:t> Closing facilities</a:t>
            </a:r>
          </a:p>
          <a:p>
            <a:pPr marL="274320" indent="-274320" eaLnBrk="1" fontAlgn="auto" hangingPunct="1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en-US" sz="2800" dirty="0" smtClean="0"/>
              <a:t>*</a:t>
            </a:r>
            <a:r>
              <a:rPr lang="en-US" sz="2400" b="0" dirty="0" smtClean="0"/>
              <a:t> Workers rights</a:t>
            </a:r>
          </a:p>
        </p:txBody>
      </p:sp>
      <p:sp>
        <p:nvSpPr>
          <p:cNvPr id="54276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81000" y="1066800"/>
            <a:ext cx="5867400" cy="10668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sz="2800" b="0" dirty="0" smtClean="0"/>
              <a:t>Ethical issues arise in many aspects of operations management:</a:t>
            </a:r>
          </a:p>
        </p:txBody>
      </p:sp>
      <p:sp>
        <p:nvSpPr>
          <p:cNvPr id="54278" name="Slide Number Placeholder 4"/>
          <p:cNvSpPr txBox="1">
            <a:spLocks noGrp="1"/>
          </p:cNvSpPr>
          <p:nvPr/>
        </p:nvSpPr>
        <p:spPr bwMode="auto">
          <a:xfrm>
            <a:off x="8523642" y="6607884"/>
            <a:ext cx="609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/>
            <a:r>
              <a:rPr lang="en-US" sz="1600" b="0">
                <a:solidFill>
                  <a:schemeClr val="tx2"/>
                </a:solidFill>
              </a:rPr>
              <a:t>1-</a:t>
            </a:r>
            <a:fld id="{9DB7E71B-180C-4247-A4F5-5A05887C62E0}" type="slidenum">
              <a:rPr lang="en-US" sz="1600" b="0">
                <a:solidFill>
                  <a:schemeClr val="tx2"/>
                </a:solidFill>
              </a:rPr>
              <a:pPr algn="ctr"/>
              <a:t>33</a:t>
            </a:fld>
            <a:endParaRPr lang="en-US" sz="1600" b="0">
              <a:solidFill>
                <a:schemeClr val="tx2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0693" y="9009"/>
            <a:ext cx="1990725" cy="22007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14425"/>
            <a:ext cx="1981200" cy="6435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37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37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37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37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6" grpId="0" uiExpand="1" build="p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tevenson 11th Theme - Student Slides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Paper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32706995</TotalTime>
  <Pages>22</Pages>
  <Words>1634</Words>
  <Application>Microsoft Office PowerPoint</Application>
  <PresentationFormat>On-screen Show (4:3)</PresentationFormat>
  <Paragraphs>340</Paragraphs>
  <Slides>33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MS PGothic</vt:lpstr>
      <vt:lpstr>Arial</vt:lpstr>
      <vt:lpstr>Arial Narrow</vt:lpstr>
      <vt:lpstr>Century Gothic</vt:lpstr>
      <vt:lpstr>Constantia</vt:lpstr>
      <vt:lpstr>Times New Roman</vt:lpstr>
      <vt:lpstr>Wingdings 2</vt:lpstr>
      <vt:lpstr>Stevenson 11th Theme - Student Slides</vt:lpstr>
      <vt:lpstr>Chapter 1</vt:lpstr>
      <vt:lpstr>Chapter 1: Learning Objectives</vt:lpstr>
      <vt:lpstr>Operations Management</vt:lpstr>
      <vt:lpstr>Good or Service?</vt:lpstr>
      <vt:lpstr>Supply Chain</vt:lpstr>
      <vt:lpstr>Supply Chain for Bread</vt:lpstr>
      <vt:lpstr>The Need for Supply Chain Management</vt:lpstr>
      <vt:lpstr>Supply Chain Issues</vt:lpstr>
      <vt:lpstr>Elements of Supply Chain Management</vt:lpstr>
      <vt:lpstr>Basic Functions of the Business Organization</vt:lpstr>
      <vt:lpstr>Basic Functions of the Business Organization</vt:lpstr>
      <vt:lpstr>The Transformation Process</vt:lpstr>
      <vt:lpstr>PowerPoint Presentation</vt:lpstr>
      <vt:lpstr>PowerPoint Presentation</vt:lpstr>
      <vt:lpstr>Goods-service Continuum</vt:lpstr>
      <vt:lpstr>Manufacturing vs. Service?</vt:lpstr>
      <vt:lpstr>Manufacturing vs. Service</vt:lpstr>
      <vt:lpstr>Managing Services is Challenging</vt:lpstr>
      <vt:lpstr>Scope of Operations Management</vt:lpstr>
      <vt:lpstr>Role of the Operations Manager</vt:lpstr>
      <vt:lpstr>System Design Decisions</vt:lpstr>
      <vt:lpstr>System Operation Decisions</vt:lpstr>
      <vt:lpstr>Why Study OM?</vt:lpstr>
      <vt:lpstr>Decision Making</vt:lpstr>
      <vt:lpstr>General Approach to Decision Making</vt:lpstr>
      <vt:lpstr>Models</vt:lpstr>
      <vt:lpstr>Benefits of Models</vt:lpstr>
      <vt:lpstr>Limitations of Models</vt:lpstr>
      <vt:lpstr>Quantitative Methods</vt:lpstr>
      <vt:lpstr>Systems Approach</vt:lpstr>
      <vt:lpstr>Key Issues for Operations Managers  Today</vt:lpstr>
      <vt:lpstr>Environmental Concerns</vt:lpstr>
      <vt:lpstr>Ethical Issues in Operations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Stevenppt</dc:title>
  <dc:creator>Ralph Butler</dc:creator>
  <cp:lastModifiedBy>Ehab Ahmed Yaseen</cp:lastModifiedBy>
  <cp:revision>224</cp:revision>
  <cp:lastPrinted>1998-04-07T20:32:20Z</cp:lastPrinted>
  <dcterms:created xsi:type="dcterms:W3CDTF">1998-05-07T22:15:52Z</dcterms:created>
  <dcterms:modified xsi:type="dcterms:W3CDTF">2022-09-24T11:08:37Z</dcterms:modified>
</cp:coreProperties>
</file>